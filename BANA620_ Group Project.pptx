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Lst>
  <p:sldSz cy="5143500" cx="9144000"/>
  <p:notesSz cx="6858000" cy="9144000"/>
  <p:embeddedFontLst>
    <p:embeddedFont>
      <p:font typeface="Didact Gothic"/>
      <p:regular r:id="rId34"/>
    </p:embeddedFont>
    <p:embeddedFont>
      <p:font typeface="Arapey"/>
      <p:regular r:id="rId35"/>
      <p: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4B2A4E12-AF26-4A6D-92E8-1941F74E98CE}">
  <a:tblStyle styleId="{4B2A4E12-AF26-4A6D-92E8-1941F74E98CE}"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slide" Target="slides/slide24.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11" Type="http://schemas.openxmlformats.org/officeDocument/2006/relationships/slide" Target="slides/slide6.xml"/><Relationship Id="rId33" Type="http://schemas.openxmlformats.org/officeDocument/2006/relationships/slide" Target="slides/slide28.xml"/><Relationship Id="rId10" Type="http://schemas.openxmlformats.org/officeDocument/2006/relationships/slide" Target="slides/slide5.xml"/><Relationship Id="rId32" Type="http://schemas.openxmlformats.org/officeDocument/2006/relationships/slide" Target="slides/slide27.xml"/><Relationship Id="rId13" Type="http://schemas.openxmlformats.org/officeDocument/2006/relationships/slide" Target="slides/slide8.xml"/><Relationship Id="rId35" Type="http://schemas.openxmlformats.org/officeDocument/2006/relationships/font" Target="fonts/Arapey-regular.fntdata"/><Relationship Id="rId12" Type="http://schemas.openxmlformats.org/officeDocument/2006/relationships/slide" Target="slides/slide7.xml"/><Relationship Id="rId34" Type="http://schemas.openxmlformats.org/officeDocument/2006/relationships/font" Target="fonts/DidactGothic-regular.fntdata"/><Relationship Id="rId15" Type="http://schemas.openxmlformats.org/officeDocument/2006/relationships/slide" Target="slides/slide10.xml"/><Relationship Id="rId14" Type="http://schemas.openxmlformats.org/officeDocument/2006/relationships/slide" Target="slides/slide9.xml"/><Relationship Id="rId36" Type="http://schemas.openxmlformats.org/officeDocument/2006/relationships/font" Target="fonts/Arapey-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1386a6665c4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1386a6665c4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1386a6665c4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1386a6665c4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1386a6665c4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4" name="Google Shape;254;g1386a6665c4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1386a6665c4_0_1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1386a6665c4_0_1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g35361d3828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7" name="Google Shape;267;g35361d3828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g35361d3828a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4" name="Google Shape;274;g35361d3828a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e21fa792ab_0_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e21fa792ab_0_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1386a6665c4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8" name="Google Shape;298;g1386a6665c4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1386a6665c4_0_1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1386a6665c4_0_1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353649e648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353649e648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g35363679b4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8" name="Google Shape;318;g35363679b4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536691a2c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536691a2c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35363679b48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35363679b48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g35363679b48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9" name="Google Shape;339;g35363679b48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35363679b48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6" name="Google Shape;346;g35363679b48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35363679b48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3" name="Google Shape;353;g35363679b48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35363679b48_0_1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1" name="Google Shape;361;g35363679b48_0_1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1386a6665c4_0_2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9" name="Google Shape;369;g1386a6665c4_0_2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536691a2ca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536691a2ca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5363679b4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6" name="Google Shape;386;g35363679b4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5363679b48_0_1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5363679b48_0_1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3" name="Shape 403"/>
        <p:cNvGrpSpPr/>
        <p:nvPr/>
      </p:nvGrpSpPr>
      <p:grpSpPr>
        <a:xfrm>
          <a:off x="0" y="0"/>
          <a:ext cx="0" cy="0"/>
          <a:chOff x="0" y="0"/>
          <a:chExt cx="0" cy="0"/>
        </a:xfrm>
      </p:grpSpPr>
      <p:sp>
        <p:nvSpPr>
          <p:cNvPr id="404" name="Google Shape;404;g35363679b48_0_1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5" name="Google Shape;405;g35363679b48_0_1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3" name="Shape 413"/>
        <p:cNvGrpSpPr/>
        <p:nvPr/>
      </p:nvGrpSpPr>
      <p:grpSpPr>
        <a:xfrm>
          <a:off x="0" y="0"/>
          <a:ext cx="0" cy="0"/>
          <a:chOff x="0" y="0"/>
          <a:chExt cx="0" cy="0"/>
        </a:xfrm>
      </p:grpSpPr>
      <p:sp>
        <p:nvSpPr>
          <p:cNvPr id="414" name="Google Shape;414;g353649e648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5" name="Google Shape;415;g353649e648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9" name="Shape 419"/>
        <p:cNvGrpSpPr/>
        <p:nvPr/>
      </p:nvGrpSpPr>
      <p:grpSpPr>
        <a:xfrm>
          <a:off x="0" y="0"/>
          <a:ext cx="0" cy="0"/>
          <a:chOff x="0" y="0"/>
          <a:chExt cx="0" cy="0"/>
        </a:xfrm>
      </p:grpSpPr>
      <p:sp>
        <p:nvSpPr>
          <p:cNvPr id="420" name="Google Shape;420;g3536691a2ca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1" name="Google Shape;421;g3536691a2ca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1386a6665c4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1386a6665c4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g1386a6665c4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5" name="Google Shape;435;g1386a6665c4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1386a6665c4_0_2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1386a6665c4_0_2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bit.ly/2Tynxth" TargetMode="External"/><Relationship Id="rId3" Type="http://schemas.openxmlformats.org/officeDocument/2006/relationships/hyperlink" Target="http://bit.ly/2TyoMsr" TargetMode="External"/><Relationship Id="rId4" Type="http://schemas.openxmlformats.org/officeDocument/2006/relationships/hyperlink" Target="http://bit.ly/2TtBDfr" TargetMode="Externa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txBox="1"/>
          <p:nvPr>
            <p:ph idx="1" type="subTitle"/>
          </p:nvPr>
        </p:nvSpPr>
        <p:spPr>
          <a:xfrm rot="-546">
            <a:off x="2683650" y="3617028"/>
            <a:ext cx="3776700" cy="5013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a:solidFill>
                  <a:schemeClr val="lt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sp>
        <p:nvSpPr>
          <p:cNvPr id="12" name="Google Shape;12;p2"/>
          <p:cNvSpPr txBox="1"/>
          <p:nvPr>
            <p:ph type="ctrTitle"/>
          </p:nvPr>
        </p:nvSpPr>
        <p:spPr>
          <a:xfrm>
            <a:off x="1061475" y="916950"/>
            <a:ext cx="7021200" cy="2244300"/>
          </a:xfrm>
          <a:prstGeom prst="rect">
            <a:avLst/>
          </a:prstGeom>
        </p:spPr>
        <p:txBody>
          <a:bodyPr anchorCtr="0" anchor="ctr" bIns="91425" lIns="91425" spcFirstLastPara="1" rIns="91425" wrap="square" tIns="91425">
            <a:noAutofit/>
          </a:bodyPr>
          <a:lstStyle>
            <a:lvl1pPr lvl="0" rtl="0" algn="ctr">
              <a:lnSpc>
                <a:spcPct val="90000"/>
              </a:lnSpc>
              <a:spcBef>
                <a:spcPts val="0"/>
              </a:spcBef>
              <a:spcAft>
                <a:spcPts val="0"/>
              </a:spcAft>
              <a:buClr>
                <a:srgbClr val="191919"/>
              </a:buClr>
              <a:buSzPts val="5200"/>
              <a:buNone/>
              <a:defRPr sz="6500">
                <a:solidFill>
                  <a:schemeClr val="lt1"/>
                </a:solidFill>
                <a:latin typeface="Arapey"/>
                <a:ea typeface="Arapey"/>
                <a:cs typeface="Arapey"/>
                <a:sym typeface="Arapey"/>
              </a:defRPr>
            </a:lvl1pPr>
            <a:lvl2pPr lvl="1" rtl="0" algn="ctr">
              <a:spcBef>
                <a:spcPts val="0"/>
              </a:spcBef>
              <a:spcAft>
                <a:spcPts val="0"/>
              </a:spcAft>
              <a:buClr>
                <a:srgbClr val="191919"/>
              </a:buClr>
              <a:buSzPts val="5200"/>
              <a:buNone/>
              <a:defRPr sz="5200">
                <a:solidFill>
                  <a:srgbClr val="191919"/>
                </a:solidFill>
              </a:defRPr>
            </a:lvl2pPr>
            <a:lvl3pPr lvl="2" rtl="0" algn="ctr">
              <a:spcBef>
                <a:spcPts val="0"/>
              </a:spcBef>
              <a:spcAft>
                <a:spcPts val="0"/>
              </a:spcAft>
              <a:buClr>
                <a:srgbClr val="191919"/>
              </a:buClr>
              <a:buSzPts val="5200"/>
              <a:buNone/>
              <a:defRPr sz="5200">
                <a:solidFill>
                  <a:srgbClr val="191919"/>
                </a:solidFill>
              </a:defRPr>
            </a:lvl3pPr>
            <a:lvl4pPr lvl="3" rtl="0" algn="ctr">
              <a:spcBef>
                <a:spcPts val="0"/>
              </a:spcBef>
              <a:spcAft>
                <a:spcPts val="0"/>
              </a:spcAft>
              <a:buClr>
                <a:srgbClr val="191919"/>
              </a:buClr>
              <a:buSzPts val="5200"/>
              <a:buNone/>
              <a:defRPr sz="5200">
                <a:solidFill>
                  <a:srgbClr val="191919"/>
                </a:solidFill>
              </a:defRPr>
            </a:lvl4pPr>
            <a:lvl5pPr lvl="4" rtl="0" algn="ctr">
              <a:spcBef>
                <a:spcPts val="0"/>
              </a:spcBef>
              <a:spcAft>
                <a:spcPts val="0"/>
              </a:spcAft>
              <a:buClr>
                <a:srgbClr val="191919"/>
              </a:buClr>
              <a:buSzPts val="5200"/>
              <a:buNone/>
              <a:defRPr sz="5200">
                <a:solidFill>
                  <a:srgbClr val="191919"/>
                </a:solidFill>
              </a:defRPr>
            </a:lvl5pPr>
            <a:lvl6pPr lvl="5" rtl="0" algn="ctr">
              <a:spcBef>
                <a:spcPts val="0"/>
              </a:spcBef>
              <a:spcAft>
                <a:spcPts val="0"/>
              </a:spcAft>
              <a:buClr>
                <a:srgbClr val="191919"/>
              </a:buClr>
              <a:buSzPts val="5200"/>
              <a:buNone/>
              <a:defRPr sz="5200">
                <a:solidFill>
                  <a:srgbClr val="191919"/>
                </a:solidFill>
              </a:defRPr>
            </a:lvl6pPr>
            <a:lvl7pPr lvl="6" rtl="0" algn="ctr">
              <a:spcBef>
                <a:spcPts val="0"/>
              </a:spcBef>
              <a:spcAft>
                <a:spcPts val="0"/>
              </a:spcAft>
              <a:buClr>
                <a:srgbClr val="191919"/>
              </a:buClr>
              <a:buSzPts val="5200"/>
              <a:buNone/>
              <a:defRPr sz="5200">
                <a:solidFill>
                  <a:srgbClr val="191919"/>
                </a:solidFill>
              </a:defRPr>
            </a:lvl7pPr>
            <a:lvl8pPr lvl="7" rtl="0" algn="ctr">
              <a:spcBef>
                <a:spcPts val="0"/>
              </a:spcBef>
              <a:spcAft>
                <a:spcPts val="0"/>
              </a:spcAft>
              <a:buClr>
                <a:srgbClr val="191919"/>
              </a:buClr>
              <a:buSzPts val="5200"/>
              <a:buNone/>
              <a:defRPr sz="5200">
                <a:solidFill>
                  <a:srgbClr val="191919"/>
                </a:solidFill>
              </a:defRPr>
            </a:lvl8pPr>
            <a:lvl9pPr lvl="8" rtl="0" algn="ctr">
              <a:spcBef>
                <a:spcPts val="0"/>
              </a:spcBef>
              <a:spcAft>
                <a:spcPts val="0"/>
              </a:spcAft>
              <a:buClr>
                <a:srgbClr val="191919"/>
              </a:buClr>
              <a:buSzPts val="5200"/>
              <a:buNone/>
              <a:defRPr sz="5200">
                <a:solidFill>
                  <a:srgbClr val="191919"/>
                </a:solidFill>
              </a:defRPr>
            </a:lvl9pPr>
          </a:lstStyle>
          <a:p/>
        </p:txBody>
      </p:sp>
      <p:cxnSp>
        <p:nvCxnSpPr>
          <p:cNvPr id="13" name="Google Shape;13;p2"/>
          <p:cNvCxnSpPr/>
          <p:nvPr/>
        </p:nvCxnSpPr>
        <p:spPr>
          <a:xfrm>
            <a:off x="745025" y="4603500"/>
            <a:ext cx="3173400" cy="0"/>
          </a:xfrm>
          <a:prstGeom prst="straightConnector1">
            <a:avLst/>
          </a:prstGeom>
          <a:noFill/>
          <a:ln cap="flat" cmpd="sng" w="9525">
            <a:solidFill>
              <a:schemeClr val="dk2"/>
            </a:solidFill>
            <a:prstDash val="solid"/>
            <a:round/>
            <a:headEnd len="med" w="med" type="none"/>
            <a:tailEnd len="med" w="med" type="none"/>
          </a:ln>
        </p:spPr>
      </p:cxnSp>
      <p:cxnSp>
        <p:nvCxnSpPr>
          <p:cNvPr id="14" name="Google Shape;14;p2"/>
          <p:cNvCxnSpPr/>
          <p:nvPr/>
        </p:nvCxnSpPr>
        <p:spPr>
          <a:xfrm>
            <a:off x="5250600" y="4603500"/>
            <a:ext cx="3173400" cy="0"/>
          </a:xfrm>
          <a:prstGeom prst="straightConnector1">
            <a:avLst/>
          </a:prstGeom>
          <a:noFill/>
          <a:ln cap="flat" cmpd="sng" w="9525">
            <a:solidFill>
              <a:schemeClr val="dk2"/>
            </a:solidFill>
            <a:prstDash val="solid"/>
            <a:round/>
            <a:headEnd len="med" w="med" type="none"/>
            <a:tailEnd len="med" w="med" type="none"/>
          </a:ln>
        </p:spPr>
      </p:cxnSp>
      <p:sp>
        <p:nvSpPr>
          <p:cNvPr id="15" name="Google Shape;15;p2"/>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6" name="Shape 16"/>
        <p:cNvGrpSpPr/>
        <p:nvPr/>
      </p:nvGrpSpPr>
      <p:grpSpPr>
        <a:xfrm>
          <a:off x="0" y="0"/>
          <a:ext cx="0" cy="0"/>
          <a:chOff x="0" y="0"/>
          <a:chExt cx="0" cy="0"/>
        </a:xfrm>
      </p:grpSpPr>
      <p:sp>
        <p:nvSpPr>
          <p:cNvPr id="17" name="Google Shape;17;p3"/>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8" name="Google Shape;18;p3"/>
          <p:cNvCxnSpPr/>
          <p:nvPr/>
        </p:nvCxnSpPr>
        <p:spPr>
          <a:xfrm>
            <a:off x="5250600" y="4603500"/>
            <a:ext cx="3173400" cy="0"/>
          </a:xfrm>
          <a:prstGeom prst="straightConnector1">
            <a:avLst/>
          </a:prstGeom>
          <a:noFill/>
          <a:ln cap="flat" cmpd="sng" w="9525">
            <a:solidFill>
              <a:srgbClr val="364F52"/>
            </a:solidFill>
            <a:prstDash val="solid"/>
            <a:round/>
            <a:headEnd len="med" w="med" type="none"/>
            <a:tailEnd len="med" w="med" type="none"/>
          </a:ln>
        </p:spPr>
      </p:cxnSp>
      <p:cxnSp>
        <p:nvCxnSpPr>
          <p:cNvPr id="19" name="Google Shape;19;p3"/>
          <p:cNvCxnSpPr/>
          <p:nvPr/>
        </p:nvCxnSpPr>
        <p:spPr>
          <a:xfrm>
            <a:off x="745025" y="4603500"/>
            <a:ext cx="3173400" cy="0"/>
          </a:xfrm>
          <a:prstGeom prst="straightConnector1">
            <a:avLst/>
          </a:prstGeom>
          <a:noFill/>
          <a:ln cap="flat" cmpd="sng" w="9525">
            <a:solidFill>
              <a:srgbClr val="364F52"/>
            </a:solidFill>
            <a:prstDash val="solid"/>
            <a:round/>
            <a:headEnd len="med" w="med" type="none"/>
            <a:tailEnd len="med" w="med" type="none"/>
          </a:ln>
        </p:spPr>
      </p:cxnSp>
      <p:sp>
        <p:nvSpPr>
          <p:cNvPr id="20" name="Google Shape;20;p3"/>
          <p:cNvSpPr txBox="1"/>
          <p:nvPr>
            <p:ph type="title"/>
          </p:nvPr>
        </p:nvSpPr>
        <p:spPr>
          <a:xfrm>
            <a:off x="2391863" y="2092750"/>
            <a:ext cx="43602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65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1" name="Google Shape;21;p3"/>
          <p:cNvSpPr txBox="1"/>
          <p:nvPr>
            <p:ph hasCustomPrompt="1" idx="2" type="title"/>
          </p:nvPr>
        </p:nvSpPr>
        <p:spPr>
          <a:xfrm>
            <a:off x="3796851" y="940885"/>
            <a:ext cx="1550100" cy="1223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6000"/>
              <a:buNone/>
              <a:defRPr sz="7500"/>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22" name="Google Shape;22;p3"/>
          <p:cNvSpPr txBox="1"/>
          <p:nvPr>
            <p:ph idx="1" type="subTitle"/>
          </p:nvPr>
        </p:nvSpPr>
        <p:spPr>
          <a:xfrm rot="473">
            <a:off x="2391937" y="2934825"/>
            <a:ext cx="4360200" cy="3738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3" name="Google Shape;23;p3"/>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 name="Shape 24"/>
        <p:cNvGrpSpPr/>
        <p:nvPr/>
      </p:nvGrpSpPr>
      <p:grpSpPr>
        <a:xfrm>
          <a:off x="0" y="0"/>
          <a:ext cx="0" cy="0"/>
          <a:chOff x="0" y="0"/>
          <a:chExt cx="0" cy="0"/>
        </a:xfrm>
      </p:grpSpPr>
      <p:sp>
        <p:nvSpPr>
          <p:cNvPr id="25" name="Google Shape;25;p4"/>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4"/>
          <p:cNvSpPr txBox="1"/>
          <p:nvPr>
            <p:ph type="title"/>
          </p:nvPr>
        </p:nvSpPr>
        <p:spPr>
          <a:xfrm>
            <a:off x="720000" y="748500"/>
            <a:ext cx="7704000" cy="5643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7" name="Google Shape;27;p4"/>
          <p:cNvSpPr txBox="1"/>
          <p:nvPr>
            <p:ph idx="1" type="body"/>
          </p:nvPr>
        </p:nvSpPr>
        <p:spPr>
          <a:xfrm>
            <a:off x="720000" y="1312800"/>
            <a:ext cx="7704000" cy="31809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35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160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cxnSp>
        <p:nvCxnSpPr>
          <p:cNvPr id="28" name="Google Shape;28;p4"/>
          <p:cNvCxnSpPr/>
          <p:nvPr/>
        </p:nvCxnSpPr>
        <p:spPr>
          <a:xfrm>
            <a:off x="745025" y="4603500"/>
            <a:ext cx="3173400" cy="0"/>
          </a:xfrm>
          <a:prstGeom prst="straightConnector1">
            <a:avLst/>
          </a:prstGeom>
          <a:noFill/>
          <a:ln cap="flat" cmpd="sng" w="9525">
            <a:solidFill>
              <a:srgbClr val="364F52"/>
            </a:solidFill>
            <a:prstDash val="solid"/>
            <a:round/>
            <a:headEnd len="med" w="med" type="none"/>
            <a:tailEnd len="med" w="med" type="none"/>
          </a:ln>
        </p:spPr>
      </p:cxnSp>
      <p:cxnSp>
        <p:nvCxnSpPr>
          <p:cNvPr id="29" name="Google Shape;29;p4"/>
          <p:cNvCxnSpPr/>
          <p:nvPr/>
        </p:nvCxnSpPr>
        <p:spPr>
          <a:xfrm>
            <a:off x="5250600" y="4603500"/>
            <a:ext cx="3173400" cy="0"/>
          </a:xfrm>
          <a:prstGeom prst="straightConnector1">
            <a:avLst/>
          </a:prstGeom>
          <a:noFill/>
          <a:ln cap="flat" cmpd="sng" w="9525">
            <a:solidFill>
              <a:srgbClr val="364F52"/>
            </a:solidFill>
            <a:prstDash val="solid"/>
            <a:round/>
            <a:headEnd len="med" w="med" type="none"/>
            <a:tailEnd len="med" w="med" type="none"/>
          </a:ln>
        </p:spPr>
      </p:cxnSp>
      <p:sp>
        <p:nvSpPr>
          <p:cNvPr id="30" name="Google Shape;30;p4"/>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1" name="Shape 31"/>
        <p:cNvGrpSpPr/>
        <p:nvPr/>
      </p:nvGrpSpPr>
      <p:grpSpPr>
        <a:xfrm>
          <a:off x="0" y="0"/>
          <a:ext cx="0" cy="0"/>
          <a:chOff x="0" y="0"/>
          <a:chExt cx="0" cy="0"/>
        </a:xfrm>
      </p:grpSpPr>
      <p:sp>
        <p:nvSpPr>
          <p:cNvPr id="32" name="Google Shape;32;p5"/>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5"/>
          <p:cNvSpPr txBox="1"/>
          <p:nvPr>
            <p:ph idx="1" type="subTitle"/>
          </p:nvPr>
        </p:nvSpPr>
        <p:spPr>
          <a:xfrm>
            <a:off x="1113688" y="2392275"/>
            <a:ext cx="3080700" cy="1201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4" name="Google Shape;34;p5"/>
          <p:cNvSpPr txBox="1"/>
          <p:nvPr>
            <p:ph idx="2" type="subTitle"/>
          </p:nvPr>
        </p:nvSpPr>
        <p:spPr>
          <a:xfrm>
            <a:off x="4949743" y="2392275"/>
            <a:ext cx="3080700" cy="1201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5" name="Google Shape;35;p5"/>
          <p:cNvSpPr txBox="1"/>
          <p:nvPr>
            <p:ph type="title"/>
          </p:nvPr>
        </p:nvSpPr>
        <p:spPr>
          <a:xfrm>
            <a:off x="1113250" y="2029285"/>
            <a:ext cx="3081600" cy="488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2600">
                <a:solidFill>
                  <a:schemeClr val="lt1"/>
                </a:solidFill>
              </a:defRPr>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36" name="Google Shape;36;p5"/>
          <p:cNvSpPr txBox="1"/>
          <p:nvPr>
            <p:ph idx="3" type="title"/>
          </p:nvPr>
        </p:nvSpPr>
        <p:spPr>
          <a:xfrm>
            <a:off x="4949302" y="2029275"/>
            <a:ext cx="3081600" cy="488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26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cxnSp>
        <p:nvCxnSpPr>
          <p:cNvPr id="37" name="Google Shape;37;p5"/>
          <p:cNvCxnSpPr/>
          <p:nvPr/>
        </p:nvCxnSpPr>
        <p:spPr>
          <a:xfrm>
            <a:off x="745025" y="4603500"/>
            <a:ext cx="3173400" cy="0"/>
          </a:xfrm>
          <a:prstGeom prst="straightConnector1">
            <a:avLst/>
          </a:prstGeom>
          <a:noFill/>
          <a:ln cap="flat" cmpd="sng" w="9525">
            <a:solidFill>
              <a:schemeClr val="dk2"/>
            </a:solidFill>
            <a:prstDash val="solid"/>
            <a:round/>
            <a:headEnd len="med" w="med" type="none"/>
            <a:tailEnd len="med" w="med" type="none"/>
          </a:ln>
        </p:spPr>
      </p:cxnSp>
      <p:cxnSp>
        <p:nvCxnSpPr>
          <p:cNvPr id="38" name="Google Shape;38;p5"/>
          <p:cNvCxnSpPr/>
          <p:nvPr/>
        </p:nvCxnSpPr>
        <p:spPr>
          <a:xfrm>
            <a:off x="5250600" y="4603500"/>
            <a:ext cx="3173400" cy="0"/>
          </a:xfrm>
          <a:prstGeom prst="straightConnector1">
            <a:avLst/>
          </a:prstGeom>
          <a:noFill/>
          <a:ln cap="flat" cmpd="sng" w="9525">
            <a:solidFill>
              <a:schemeClr val="dk2"/>
            </a:solidFill>
            <a:prstDash val="solid"/>
            <a:round/>
            <a:headEnd len="med" w="med" type="none"/>
            <a:tailEnd len="med" w="med" type="none"/>
          </a:ln>
        </p:spPr>
      </p:cxnSp>
      <p:sp>
        <p:nvSpPr>
          <p:cNvPr id="39" name="Google Shape;39;p5"/>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rgbClr val="364452">
                <a:alpha val="81568"/>
              </a:srgbClr>
            </a:gs>
            <a:gs pos="100000">
              <a:srgbClr val="8EA3A8">
                <a:alpha val="69803"/>
              </a:srgbClr>
            </a:gs>
          </a:gsLst>
          <a:lin ang="5400700" scaled="0"/>
        </a:gradFill>
      </p:bgPr>
    </p:bg>
    <p:spTree>
      <p:nvGrpSpPr>
        <p:cNvPr id="40" name="Shape 40"/>
        <p:cNvGrpSpPr/>
        <p:nvPr/>
      </p:nvGrpSpPr>
      <p:grpSpPr>
        <a:xfrm>
          <a:off x="0" y="0"/>
          <a:ext cx="0" cy="0"/>
          <a:chOff x="0" y="0"/>
          <a:chExt cx="0" cy="0"/>
        </a:xfrm>
      </p:grpSpPr>
      <p:sp>
        <p:nvSpPr>
          <p:cNvPr id="41" name="Google Shape;41;p6"/>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 name="Google Shape;42;p6"/>
          <p:cNvCxnSpPr/>
          <p:nvPr/>
        </p:nvCxnSpPr>
        <p:spPr>
          <a:xfrm>
            <a:off x="745025" y="4603500"/>
            <a:ext cx="3173400" cy="0"/>
          </a:xfrm>
          <a:prstGeom prst="straightConnector1">
            <a:avLst/>
          </a:prstGeom>
          <a:noFill/>
          <a:ln cap="flat" cmpd="sng" w="9525">
            <a:solidFill>
              <a:schemeClr val="dk2"/>
            </a:solidFill>
            <a:prstDash val="solid"/>
            <a:round/>
            <a:headEnd len="med" w="med" type="none"/>
            <a:tailEnd len="med" w="med" type="none"/>
          </a:ln>
        </p:spPr>
      </p:cxnSp>
      <p:cxnSp>
        <p:nvCxnSpPr>
          <p:cNvPr id="43" name="Google Shape;43;p6"/>
          <p:cNvCxnSpPr/>
          <p:nvPr/>
        </p:nvCxnSpPr>
        <p:spPr>
          <a:xfrm>
            <a:off x="5250600" y="4603500"/>
            <a:ext cx="3173400" cy="0"/>
          </a:xfrm>
          <a:prstGeom prst="straightConnector1">
            <a:avLst/>
          </a:prstGeom>
          <a:noFill/>
          <a:ln cap="flat" cmpd="sng" w="9525">
            <a:solidFill>
              <a:schemeClr val="dk2"/>
            </a:solidFill>
            <a:prstDash val="solid"/>
            <a:round/>
            <a:headEnd len="med" w="med" type="none"/>
            <a:tailEnd len="med" w="med" type="none"/>
          </a:ln>
        </p:spPr>
      </p:cxnSp>
      <p:sp>
        <p:nvSpPr>
          <p:cNvPr id="44" name="Google Shape;44;p6"/>
          <p:cNvSpPr txBox="1"/>
          <p:nvPr>
            <p:ph type="title"/>
          </p:nvPr>
        </p:nvSpPr>
        <p:spPr>
          <a:xfrm>
            <a:off x="720000" y="748500"/>
            <a:ext cx="7704000" cy="5643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45" name="Google Shape;45;p6"/>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6" name="Shape 46"/>
        <p:cNvGrpSpPr/>
        <p:nvPr/>
      </p:nvGrpSpPr>
      <p:grpSpPr>
        <a:xfrm>
          <a:off x="0" y="0"/>
          <a:ext cx="0" cy="0"/>
          <a:chOff x="0" y="0"/>
          <a:chExt cx="0" cy="0"/>
        </a:xfrm>
      </p:grpSpPr>
      <p:sp>
        <p:nvSpPr>
          <p:cNvPr id="47" name="Google Shape;47;p7"/>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8" name="Google Shape;48;p7"/>
          <p:cNvCxnSpPr/>
          <p:nvPr/>
        </p:nvCxnSpPr>
        <p:spPr>
          <a:xfrm>
            <a:off x="745025" y="4603500"/>
            <a:ext cx="3173400" cy="0"/>
          </a:xfrm>
          <a:prstGeom prst="straightConnector1">
            <a:avLst/>
          </a:prstGeom>
          <a:noFill/>
          <a:ln cap="flat" cmpd="sng" w="9525">
            <a:solidFill>
              <a:srgbClr val="364F52"/>
            </a:solidFill>
            <a:prstDash val="solid"/>
            <a:round/>
            <a:headEnd len="med" w="med" type="none"/>
            <a:tailEnd len="med" w="med" type="none"/>
          </a:ln>
        </p:spPr>
      </p:cxnSp>
      <p:cxnSp>
        <p:nvCxnSpPr>
          <p:cNvPr id="49" name="Google Shape;49;p7"/>
          <p:cNvCxnSpPr/>
          <p:nvPr/>
        </p:nvCxnSpPr>
        <p:spPr>
          <a:xfrm>
            <a:off x="5250600" y="4603500"/>
            <a:ext cx="3173400" cy="0"/>
          </a:xfrm>
          <a:prstGeom prst="straightConnector1">
            <a:avLst/>
          </a:prstGeom>
          <a:noFill/>
          <a:ln cap="flat" cmpd="sng" w="9525">
            <a:solidFill>
              <a:srgbClr val="364F52"/>
            </a:solidFill>
            <a:prstDash val="solid"/>
            <a:round/>
            <a:headEnd len="med" w="med" type="none"/>
            <a:tailEnd len="med" w="med" type="none"/>
          </a:ln>
        </p:spPr>
      </p:cxnSp>
      <p:sp>
        <p:nvSpPr>
          <p:cNvPr id="50" name="Google Shape;50;p7"/>
          <p:cNvSpPr txBox="1"/>
          <p:nvPr>
            <p:ph type="title"/>
          </p:nvPr>
        </p:nvSpPr>
        <p:spPr>
          <a:xfrm>
            <a:off x="720000" y="748500"/>
            <a:ext cx="7704000" cy="5643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51" name="Google Shape;51;p7"/>
          <p:cNvSpPr txBox="1"/>
          <p:nvPr>
            <p:ph idx="1" type="subTitle"/>
          </p:nvPr>
        </p:nvSpPr>
        <p:spPr>
          <a:xfrm rot="-263">
            <a:off x="4288325" y="1685550"/>
            <a:ext cx="3926400" cy="22128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lvl1pPr>
            <a:lvl2pPr lvl="1" rtl="0" algn="ctr">
              <a:lnSpc>
                <a:spcPct val="100000"/>
              </a:lnSpc>
              <a:spcBef>
                <a:spcPts val="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52" name="Google Shape;52;p7"/>
          <p:cNvSpPr/>
          <p:nvPr>
            <p:ph idx="2" type="pic"/>
          </p:nvPr>
        </p:nvSpPr>
        <p:spPr>
          <a:xfrm>
            <a:off x="1068000" y="1473675"/>
            <a:ext cx="2778900" cy="2541300"/>
          </a:xfrm>
          <a:prstGeom prst="roundRect">
            <a:avLst>
              <a:gd fmla="val 16667" name="adj"/>
            </a:avLst>
          </a:prstGeom>
          <a:noFill/>
          <a:ln cap="flat" cmpd="sng" w="9525">
            <a:solidFill>
              <a:schemeClr val="lt1"/>
            </a:solidFill>
            <a:prstDash val="solid"/>
            <a:round/>
            <a:headEnd len="sm" w="sm" type="none"/>
            <a:tailEnd len="sm" w="sm" type="none"/>
          </a:ln>
        </p:spPr>
      </p:sp>
      <p:sp>
        <p:nvSpPr>
          <p:cNvPr id="53" name="Google Shape;53;p7"/>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54" name="Shape 54"/>
        <p:cNvGrpSpPr/>
        <p:nvPr/>
      </p:nvGrpSpPr>
      <p:grpSpPr>
        <a:xfrm>
          <a:off x="0" y="0"/>
          <a:ext cx="0" cy="0"/>
          <a:chOff x="0" y="0"/>
          <a:chExt cx="0" cy="0"/>
        </a:xfrm>
      </p:grpSpPr>
      <p:sp>
        <p:nvSpPr>
          <p:cNvPr id="55" name="Google Shape;55;p8"/>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8"/>
          <p:cNvSpPr txBox="1"/>
          <p:nvPr>
            <p:ph type="title"/>
          </p:nvPr>
        </p:nvSpPr>
        <p:spPr>
          <a:xfrm>
            <a:off x="1762425" y="1040588"/>
            <a:ext cx="5619600" cy="2628600"/>
          </a:xfrm>
          <a:prstGeom prst="rect">
            <a:avLst/>
          </a:prstGeom>
        </p:spPr>
        <p:txBody>
          <a:bodyPr anchorCtr="0" anchor="ctr" bIns="91425" lIns="91425" spcFirstLastPara="1" rIns="91425" wrap="square" tIns="91425">
            <a:noAutofit/>
          </a:bodyPr>
          <a:lstStyle>
            <a:lvl1pPr lvl="0" algn="ctr">
              <a:lnSpc>
                <a:spcPct val="90000"/>
              </a:lnSpc>
              <a:spcBef>
                <a:spcPts val="0"/>
              </a:spcBef>
              <a:spcAft>
                <a:spcPts val="0"/>
              </a:spcAft>
              <a:buSzPts val="4800"/>
              <a:buNone/>
              <a:defRPr sz="100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cxnSp>
        <p:nvCxnSpPr>
          <p:cNvPr id="57" name="Google Shape;57;p8"/>
          <p:cNvCxnSpPr/>
          <p:nvPr/>
        </p:nvCxnSpPr>
        <p:spPr>
          <a:xfrm>
            <a:off x="745025" y="4603500"/>
            <a:ext cx="3173400" cy="0"/>
          </a:xfrm>
          <a:prstGeom prst="straightConnector1">
            <a:avLst/>
          </a:prstGeom>
          <a:noFill/>
          <a:ln cap="flat" cmpd="sng" w="9525">
            <a:solidFill>
              <a:srgbClr val="364F52"/>
            </a:solidFill>
            <a:prstDash val="solid"/>
            <a:round/>
            <a:headEnd len="med" w="med" type="none"/>
            <a:tailEnd len="med" w="med" type="none"/>
          </a:ln>
        </p:spPr>
      </p:cxnSp>
      <p:cxnSp>
        <p:nvCxnSpPr>
          <p:cNvPr id="58" name="Google Shape;58;p8"/>
          <p:cNvCxnSpPr/>
          <p:nvPr/>
        </p:nvCxnSpPr>
        <p:spPr>
          <a:xfrm>
            <a:off x="5250600" y="4603500"/>
            <a:ext cx="3173400" cy="0"/>
          </a:xfrm>
          <a:prstGeom prst="straightConnector1">
            <a:avLst/>
          </a:prstGeom>
          <a:noFill/>
          <a:ln cap="flat" cmpd="sng" w="9525">
            <a:solidFill>
              <a:srgbClr val="364F52"/>
            </a:solidFill>
            <a:prstDash val="solid"/>
            <a:round/>
            <a:headEnd len="med" w="med" type="none"/>
            <a:tailEnd len="med" w="med" type="none"/>
          </a:ln>
        </p:spPr>
      </p:cxnSp>
      <p:sp>
        <p:nvSpPr>
          <p:cNvPr id="59" name="Google Shape;59;p8"/>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0" name="Shape 60"/>
        <p:cNvGrpSpPr/>
        <p:nvPr/>
      </p:nvGrpSpPr>
      <p:grpSpPr>
        <a:xfrm>
          <a:off x="0" y="0"/>
          <a:ext cx="0" cy="0"/>
          <a:chOff x="0" y="0"/>
          <a:chExt cx="0" cy="0"/>
        </a:xfrm>
      </p:grpSpPr>
      <p:sp>
        <p:nvSpPr>
          <p:cNvPr id="61" name="Google Shape;61;p9"/>
          <p:cNvSpPr/>
          <p:nvPr/>
        </p:nvSpPr>
        <p:spPr>
          <a:xfrm>
            <a:off x="404175" y="1028700"/>
            <a:ext cx="4844100" cy="33330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9"/>
          <p:cNvSpPr txBox="1"/>
          <p:nvPr>
            <p:ph type="title"/>
          </p:nvPr>
        </p:nvSpPr>
        <p:spPr>
          <a:xfrm>
            <a:off x="744825" y="1347138"/>
            <a:ext cx="4162800" cy="11691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600"/>
              <a:buNone/>
              <a:defRPr sz="6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63" name="Google Shape;63;p9"/>
          <p:cNvSpPr txBox="1"/>
          <p:nvPr>
            <p:ph idx="1" type="subTitle"/>
          </p:nvPr>
        </p:nvSpPr>
        <p:spPr>
          <a:xfrm>
            <a:off x="746025" y="2423238"/>
            <a:ext cx="4160400" cy="1258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4" name="Shape 64"/>
        <p:cNvGrpSpPr/>
        <p:nvPr/>
      </p:nvGrpSpPr>
      <p:grpSpPr>
        <a:xfrm>
          <a:off x="0" y="0"/>
          <a:ext cx="0" cy="0"/>
          <a:chOff x="0" y="0"/>
          <a:chExt cx="0" cy="0"/>
        </a:xfrm>
      </p:grpSpPr>
      <p:sp>
        <p:nvSpPr>
          <p:cNvPr id="65" name="Google Shape;65;p10"/>
          <p:cNvSpPr txBox="1"/>
          <p:nvPr>
            <p:ph type="title"/>
          </p:nvPr>
        </p:nvSpPr>
        <p:spPr>
          <a:xfrm>
            <a:off x="4157025" y="2990400"/>
            <a:ext cx="4209300" cy="14589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500"/>
              <a:buNone/>
              <a:defRPr>
                <a:solidFill>
                  <a:schemeClr val="l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6" name="Shape 66"/>
        <p:cNvGrpSpPr/>
        <p:nvPr/>
      </p:nvGrpSpPr>
      <p:grpSpPr>
        <a:xfrm>
          <a:off x="0" y="0"/>
          <a:ext cx="0" cy="0"/>
          <a:chOff x="0" y="0"/>
          <a:chExt cx="0" cy="0"/>
        </a:xfrm>
      </p:grpSpPr>
      <p:sp>
        <p:nvSpPr>
          <p:cNvPr id="67" name="Google Shape;67;p11"/>
          <p:cNvSpPr/>
          <p:nvPr/>
        </p:nvSpPr>
        <p:spPr>
          <a:xfrm>
            <a:off x="4961925" y="236400"/>
            <a:ext cx="3816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1"/>
          <p:cNvSpPr txBox="1"/>
          <p:nvPr>
            <p:ph hasCustomPrompt="1" type="title"/>
          </p:nvPr>
        </p:nvSpPr>
        <p:spPr>
          <a:xfrm rot="332">
            <a:off x="5316136" y="1252187"/>
            <a:ext cx="3108000" cy="1511100"/>
          </a:xfrm>
          <a:prstGeom prst="rect">
            <a:avLst/>
          </a:prstGeom>
          <a:noFill/>
          <a:ln>
            <a:noFill/>
          </a:ln>
        </p:spPr>
        <p:txBody>
          <a:bodyPr anchorCtr="0" anchor="b" bIns="91425" lIns="91425" spcFirstLastPara="1" rIns="91425" wrap="square" tIns="91425">
            <a:noAutofit/>
          </a:bodyPr>
          <a:lstStyle>
            <a:lvl1pPr lvl="0" algn="ctr">
              <a:spcBef>
                <a:spcPts val="0"/>
              </a:spcBef>
              <a:spcAft>
                <a:spcPts val="0"/>
              </a:spcAft>
              <a:buSzPts val="9600"/>
              <a:buNone/>
              <a:defRPr sz="96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69" name="Google Shape;69;p11"/>
          <p:cNvSpPr txBox="1"/>
          <p:nvPr>
            <p:ph idx="1" type="subTitle"/>
          </p:nvPr>
        </p:nvSpPr>
        <p:spPr>
          <a:xfrm>
            <a:off x="5548538" y="2587963"/>
            <a:ext cx="2643000" cy="9606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70" name="Shape 70"/>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
    <p:spTree>
      <p:nvGrpSpPr>
        <p:cNvPr id="71" name="Shape 71"/>
        <p:cNvGrpSpPr/>
        <p:nvPr/>
      </p:nvGrpSpPr>
      <p:grpSpPr>
        <a:xfrm>
          <a:off x="0" y="0"/>
          <a:ext cx="0" cy="0"/>
          <a:chOff x="0" y="0"/>
          <a:chExt cx="0" cy="0"/>
        </a:xfrm>
      </p:grpSpPr>
      <p:sp>
        <p:nvSpPr>
          <p:cNvPr id="72" name="Google Shape;72;p13"/>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3" name="Google Shape;73;p13"/>
          <p:cNvCxnSpPr/>
          <p:nvPr/>
        </p:nvCxnSpPr>
        <p:spPr>
          <a:xfrm>
            <a:off x="5250600" y="4603500"/>
            <a:ext cx="3173400" cy="0"/>
          </a:xfrm>
          <a:prstGeom prst="straightConnector1">
            <a:avLst/>
          </a:prstGeom>
          <a:noFill/>
          <a:ln cap="flat" cmpd="sng" w="9525">
            <a:solidFill>
              <a:srgbClr val="364F52"/>
            </a:solidFill>
            <a:prstDash val="solid"/>
            <a:round/>
            <a:headEnd len="med" w="med" type="none"/>
            <a:tailEnd len="med" w="med" type="none"/>
          </a:ln>
        </p:spPr>
      </p:cxnSp>
      <p:cxnSp>
        <p:nvCxnSpPr>
          <p:cNvPr id="74" name="Google Shape;74;p13"/>
          <p:cNvCxnSpPr/>
          <p:nvPr/>
        </p:nvCxnSpPr>
        <p:spPr>
          <a:xfrm>
            <a:off x="745025" y="4603500"/>
            <a:ext cx="3173400" cy="0"/>
          </a:xfrm>
          <a:prstGeom prst="straightConnector1">
            <a:avLst/>
          </a:prstGeom>
          <a:noFill/>
          <a:ln cap="flat" cmpd="sng" w="9525">
            <a:solidFill>
              <a:srgbClr val="364F52"/>
            </a:solidFill>
            <a:prstDash val="solid"/>
            <a:round/>
            <a:headEnd len="med" w="med" type="none"/>
            <a:tailEnd len="med" w="med" type="none"/>
          </a:ln>
        </p:spPr>
      </p:cxnSp>
      <p:sp>
        <p:nvSpPr>
          <p:cNvPr id="75" name="Google Shape;75;p13"/>
          <p:cNvSpPr txBox="1"/>
          <p:nvPr>
            <p:ph type="title"/>
          </p:nvPr>
        </p:nvSpPr>
        <p:spPr>
          <a:xfrm>
            <a:off x="719998" y="1838512"/>
            <a:ext cx="36510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2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76" name="Google Shape;76;p13"/>
          <p:cNvSpPr txBox="1"/>
          <p:nvPr>
            <p:ph idx="1" type="subTitle"/>
          </p:nvPr>
        </p:nvSpPr>
        <p:spPr>
          <a:xfrm>
            <a:off x="720002" y="2238137"/>
            <a:ext cx="3651000" cy="393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r">
              <a:lnSpc>
                <a:spcPct val="100000"/>
              </a:lnSpc>
              <a:spcBef>
                <a:spcPts val="0"/>
              </a:spcBef>
              <a:spcAft>
                <a:spcPts val="0"/>
              </a:spcAft>
              <a:buSzPts val="1400"/>
              <a:buNone/>
              <a:defRPr/>
            </a:lvl2pPr>
            <a:lvl3pPr lvl="2" rtl="0" algn="r">
              <a:lnSpc>
                <a:spcPct val="100000"/>
              </a:lnSpc>
              <a:spcBef>
                <a:spcPts val="1600"/>
              </a:spcBef>
              <a:spcAft>
                <a:spcPts val="0"/>
              </a:spcAft>
              <a:buSzPts val="1400"/>
              <a:buNone/>
              <a:defRPr/>
            </a:lvl3pPr>
            <a:lvl4pPr lvl="3" rtl="0" algn="r">
              <a:lnSpc>
                <a:spcPct val="100000"/>
              </a:lnSpc>
              <a:spcBef>
                <a:spcPts val="1600"/>
              </a:spcBef>
              <a:spcAft>
                <a:spcPts val="0"/>
              </a:spcAft>
              <a:buSzPts val="1400"/>
              <a:buNone/>
              <a:defRPr/>
            </a:lvl4pPr>
            <a:lvl5pPr lvl="4" rtl="0" algn="r">
              <a:lnSpc>
                <a:spcPct val="100000"/>
              </a:lnSpc>
              <a:spcBef>
                <a:spcPts val="1600"/>
              </a:spcBef>
              <a:spcAft>
                <a:spcPts val="0"/>
              </a:spcAft>
              <a:buSzPts val="1400"/>
              <a:buNone/>
              <a:defRPr/>
            </a:lvl5pPr>
            <a:lvl6pPr lvl="5" rtl="0" algn="r">
              <a:lnSpc>
                <a:spcPct val="100000"/>
              </a:lnSpc>
              <a:spcBef>
                <a:spcPts val="1600"/>
              </a:spcBef>
              <a:spcAft>
                <a:spcPts val="0"/>
              </a:spcAft>
              <a:buSzPts val="1400"/>
              <a:buNone/>
              <a:defRPr/>
            </a:lvl6pPr>
            <a:lvl7pPr lvl="6" rtl="0" algn="r">
              <a:lnSpc>
                <a:spcPct val="100000"/>
              </a:lnSpc>
              <a:spcBef>
                <a:spcPts val="1600"/>
              </a:spcBef>
              <a:spcAft>
                <a:spcPts val="0"/>
              </a:spcAft>
              <a:buSzPts val="1400"/>
              <a:buNone/>
              <a:defRPr/>
            </a:lvl7pPr>
            <a:lvl8pPr lvl="7" rtl="0" algn="r">
              <a:lnSpc>
                <a:spcPct val="100000"/>
              </a:lnSpc>
              <a:spcBef>
                <a:spcPts val="1600"/>
              </a:spcBef>
              <a:spcAft>
                <a:spcPts val="0"/>
              </a:spcAft>
              <a:buSzPts val="1400"/>
              <a:buNone/>
              <a:defRPr/>
            </a:lvl8pPr>
            <a:lvl9pPr lvl="8" rtl="0" algn="r">
              <a:lnSpc>
                <a:spcPct val="100000"/>
              </a:lnSpc>
              <a:spcBef>
                <a:spcPts val="1600"/>
              </a:spcBef>
              <a:spcAft>
                <a:spcPts val="1600"/>
              </a:spcAft>
              <a:buSzPts val="1400"/>
              <a:buNone/>
              <a:defRPr/>
            </a:lvl9pPr>
          </a:lstStyle>
          <a:p/>
        </p:txBody>
      </p:sp>
      <p:sp>
        <p:nvSpPr>
          <p:cNvPr id="77" name="Google Shape;77;p13"/>
          <p:cNvSpPr txBox="1"/>
          <p:nvPr>
            <p:ph hasCustomPrompt="1" idx="2" type="title"/>
          </p:nvPr>
        </p:nvSpPr>
        <p:spPr>
          <a:xfrm rot="972">
            <a:off x="6068103" y="2893597"/>
            <a:ext cx="1060500" cy="5271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6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78" name="Google Shape;78;p13"/>
          <p:cNvSpPr txBox="1"/>
          <p:nvPr>
            <p:ph hasCustomPrompt="1" idx="3" type="title"/>
          </p:nvPr>
        </p:nvSpPr>
        <p:spPr>
          <a:xfrm>
            <a:off x="2015258" y="2891947"/>
            <a:ext cx="1060800" cy="5304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6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79" name="Google Shape;79;p13"/>
          <p:cNvSpPr txBox="1"/>
          <p:nvPr>
            <p:ph idx="4" type="title"/>
          </p:nvPr>
        </p:nvSpPr>
        <p:spPr>
          <a:xfrm>
            <a:off x="721658" y="3411937"/>
            <a:ext cx="36480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2600"/>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80" name="Google Shape;80;p13"/>
          <p:cNvSpPr txBox="1"/>
          <p:nvPr>
            <p:ph idx="5" type="subTitle"/>
          </p:nvPr>
        </p:nvSpPr>
        <p:spPr>
          <a:xfrm>
            <a:off x="721658" y="3813262"/>
            <a:ext cx="3648000" cy="393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r">
              <a:lnSpc>
                <a:spcPct val="100000"/>
              </a:lnSpc>
              <a:spcBef>
                <a:spcPts val="0"/>
              </a:spcBef>
              <a:spcAft>
                <a:spcPts val="0"/>
              </a:spcAft>
              <a:buSzPts val="1400"/>
              <a:buNone/>
              <a:defRPr/>
            </a:lvl2pPr>
            <a:lvl3pPr lvl="2" rtl="0" algn="r">
              <a:lnSpc>
                <a:spcPct val="100000"/>
              </a:lnSpc>
              <a:spcBef>
                <a:spcPts val="1600"/>
              </a:spcBef>
              <a:spcAft>
                <a:spcPts val="0"/>
              </a:spcAft>
              <a:buSzPts val="1400"/>
              <a:buNone/>
              <a:defRPr/>
            </a:lvl3pPr>
            <a:lvl4pPr lvl="3" rtl="0" algn="r">
              <a:lnSpc>
                <a:spcPct val="100000"/>
              </a:lnSpc>
              <a:spcBef>
                <a:spcPts val="1600"/>
              </a:spcBef>
              <a:spcAft>
                <a:spcPts val="0"/>
              </a:spcAft>
              <a:buSzPts val="1400"/>
              <a:buNone/>
              <a:defRPr/>
            </a:lvl4pPr>
            <a:lvl5pPr lvl="4" rtl="0" algn="r">
              <a:lnSpc>
                <a:spcPct val="100000"/>
              </a:lnSpc>
              <a:spcBef>
                <a:spcPts val="1600"/>
              </a:spcBef>
              <a:spcAft>
                <a:spcPts val="0"/>
              </a:spcAft>
              <a:buSzPts val="1400"/>
              <a:buNone/>
              <a:defRPr/>
            </a:lvl5pPr>
            <a:lvl6pPr lvl="5" rtl="0" algn="r">
              <a:lnSpc>
                <a:spcPct val="100000"/>
              </a:lnSpc>
              <a:spcBef>
                <a:spcPts val="1600"/>
              </a:spcBef>
              <a:spcAft>
                <a:spcPts val="0"/>
              </a:spcAft>
              <a:buSzPts val="1400"/>
              <a:buNone/>
              <a:defRPr/>
            </a:lvl6pPr>
            <a:lvl7pPr lvl="6" rtl="0" algn="r">
              <a:lnSpc>
                <a:spcPct val="100000"/>
              </a:lnSpc>
              <a:spcBef>
                <a:spcPts val="1600"/>
              </a:spcBef>
              <a:spcAft>
                <a:spcPts val="0"/>
              </a:spcAft>
              <a:buSzPts val="1400"/>
              <a:buNone/>
              <a:defRPr/>
            </a:lvl7pPr>
            <a:lvl8pPr lvl="7" rtl="0" algn="r">
              <a:lnSpc>
                <a:spcPct val="100000"/>
              </a:lnSpc>
              <a:spcBef>
                <a:spcPts val="1600"/>
              </a:spcBef>
              <a:spcAft>
                <a:spcPts val="0"/>
              </a:spcAft>
              <a:buSzPts val="1400"/>
              <a:buNone/>
              <a:defRPr/>
            </a:lvl8pPr>
            <a:lvl9pPr lvl="8" rtl="0" algn="r">
              <a:lnSpc>
                <a:spcPct val="100000"/>
              </a:lnSpc>
              <a:spcBef>
                <a:spcPts val="1600"/>
              </a:spcBef>
              <a:spcAft>
                <a:spcPts val="1600"/>
              </a:spcAft>
              <a:buSzPts val="1400"/>
              <a:buNone/>
              <a:defRPr/>
            </a:lvl9pPr>
          </a:lstStyle>
          <a:p/>
        </p:txBody>
      </p:sp>
      <p:sp>
        <p:nvSpPr>
          <p:cNvPr id="81" name="Google Shape;81;p13"/>
          <p:cNvSpPr txBox="1"/>
          <p:nvPr>
            <p:ph idx="6" type="title"/>
          </p:nvPr>
        </p:nvSpPr>
        <p:spPr>
          <a:xfrm>
            <a:off x="4774203" y="3411937"/>
            <a:ext cx="36483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26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2" name="Google Shape;82;p13"/>
          <p:cNvSpPr txBox="1"/>
          <p:nvPr>
            <p:ph idx="7" type="subTitle"/>
          </p:nvPr>
        </p:nvSpPr>
        <p:spPr>
          <a:xfrm>
            <a:off x="4774203" y="3811162"/>
            <a:ext cx="3648300" cy="39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83" name="Google Shape;83;p13"/>
          <p:cNvSpPr txBox="1"/>
          <p:nvPr>
            <p:ph idx="8" type="title"/>
          </p:nvPr>
        </p:nvSpPr>
        <p:spPr>
          <a:xfrm>
            <a:off x="4774053" y="1838512"/>
            <a:ext cx="36483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26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84" name="Google Shape;84;p13"/>
          <p:cNvSpPr txBox="1"/>
          <p:nvPr>
            <p:ph idx="9" type="subTitle"/>
          </p:nvPr>
        </p:nvSpPr>
        <p:spPr>
          <a:xfrm>
            <a:off x="4774053" y="2238137"/>
            <a:ext cx="3648300" cy="393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nSpc>
                <a:spcPct val="100000"/>
              </a:lnSpc>
              <a:spcBef>
                <a:spcPts val="0"/>
              </a:spcBef>
              <a:spcAft>
                <a:spcPts val="0"/>
              </a:spcAft>
              <a:buSzPts val="1400"/>
              <a:buNone/>
              <a:defRPr/>
            </a:lvl2pPr>
            <a:lvl3pPr lvl="2" rtl="0">
              <a:lnSpc>
                <a:spcPct val="100000"/>
              </a:lnSpc>
              <a:spcBef>
                <a:spcPts val="1600"/>
              </a:spcBef>
              <a:spcAft>
                <a:spcPts val="0"/>
              </a:spcAft>
              <a:buSzPts val="1400"/>
              <a:buNone/>
              <a:defRPr/>
            </a:lvl3pPr>
            <a:lvl4pPr lvl="3" rtl="0">
              <a:lnSpc>
                <a:spcPct val="100000"/>
              </a:lnSpc>
              <a:spcBef>
                <a:spcPts val="1600"/>
              </a:spcBef>
              <a:spcAft>
                <a:spcPts val="0"/>
              </a:spcAft>
              <a:buSzPts val="1400"/>
              <a:buNone/>
              <a:defRPr/>
            </a:lvl4pPr>
            <a:lvl5pPr lvl="4" rtl="0">
              <a:lnSpc>
                <a:spcPct val="100000"/>
              </a:lnSpc>
              <a:spcBef>
                <a:spcPts val="1600"/>
              </a:spcBef>
              <a:spcAft>
                <a:spcPts val="0"/>
              </a:spcAft>
              <a:buSzPts val="1400"/>
              <a:buNone/>
              <a:defRPr/>
            </a:lvl5pPr>
            <a:lvl6pPr lvl="5" rtl="0">
              <a:lnSpc>
                <a:spcPct val="100000"/>
              </a:lnSpc>
              <a:spcBef>
                <a:spcPts val="1600"/>
              </a:spcBef>
              <a:spcAft>
                <a:spcPts val="0"/>
              </a:spcAft>
              <a:buSzPts val="1400"/>
              <a:buNone/>
              <a:defRPr/>
            </a:lvl6pPr>
            <a:lvl7pPr lvl="6" rtl="0">
              <a:lnSpc>
                <a:spcPct val="100000"/>
              </a:lnSpc>
              <a:spcBef>
                <a:spcPts val="1600"/>
              </a:spcBef>
              <a:spcAft>
                <a:spcPts val="0"/>
              </a:spcAft>
              <a:buSzPts val="1400"/>
              <a:buNone/>
              <a:defRPr/>
            </a:lvl7pPr>
            <a:lvl8pPr lvl="7" rtl="0">
              <a:lnSpc>
                <a:spcPct val="100000"/>
              </a:lnSpc>
              <a:spcBef>
                <a:spcPts val="1600"/>
              </a:spcBef>
              <a:spcAft>
                <a:spcPts val="0"/>
              </a:spcAft>
              <a:buSzPts val="1400"/>
              <a:buNone/>
              <a:defRPr/>
            </a:lvl8pPr>
            <a:lvl9pPr lvl="8" rtl="0">
              <a:lnSpc>
                <a:spcPct val="100000"/>
              </a:lnSpc>
              <a:spcBef>
                <a:spcPts val="1600"/>
              </a:spcBef>
              <a:spcAft>
                <a:spcPts val="1600"/>
              </a:spcAft>
              <a:buSzPts val="1400"/>
              <a:buNone/>
              <a:defRPr/>
            </a:lvl9pPr>
          </a:lstStyle>
          <a:p/>
        </p:txBody>
      </p:sp>
      <p:sp>
        <p:nvSpPr>
          <p:cNvPr id="85" name="Google Shape;85;p13"/>
          <p:cNvSpPr txBox="1"/>
          <p:nvPr>
            <p:ph hasCustomPrompt="1" idx="13" type="title"/>
          </p:nvPr>
        </p:nvSpPr>
        <p:spPr>
          <a:xfrm rot="972">
            <a:off x="6067953" y="1313250"/>
            <a:ext cx="1060500" cy="5304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6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86" name="Google Shape;86;p13"/>
          <p:cNvSpPr txBox="1"/>
          <p:nvPr>
            <p:ph hasCustomPrompt="1" idx="14" type="title"/>
          </p:nvPr>
        </p:nvSpPr>
        <p:spPr>
          <a:xfrm rot="1949">
            <a:off x="2016474" y="1313100"/>
            <a:ext cx="1058100" cy="5304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3000"/>
              <a:buNone/>
              <a:defRPr sz="36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87" name="Google Shape;87;p13"/>
          <p:cNvSpPr txBox="1"/>
          <p:nvPr>
            <p:ph idx="15" type="title"/>
          </p:nvPr>
        </p:nvSpPr>
        <p:spPr>
          <a:xfrm>
            <a:off x="720000" y="748500"/>
            <a:ext cx="7704000" cy="5643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88" name="Google Shape;88;p13"/>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89" name="Shape 89"/>
        <p:cNvGrpSpPr/>
        <p:nvPr/>
      </p:nvGrpSpPr>
      <p:grpSpPr>
        <a:xfrm>
          <a:off x="0" y="0"/>
          <a:ext cx="0" cy="0"/>
          <a:chOff x="0" y="0"/>
          <a:chExt cx="0" cy="0"/>
        </a:xfrm>
      </p:grpSpPr>
      <p:sp>
        <p:nvSpPr>
          <p:cNvPr id="90" name="Google Shape;90;p14"/>
          <p:cNvSpPr/>
          <p:nvPr/>
        </p:nvSpPr>
        <p:spPr>
          <a:xfrm>
            <a:off x="3623625" y="666750"/>
            <a:ext cx="4844100" cy="28860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4"/>
          <p:cNvSpPr txBox="1"/>
          <p:nvPr>
            <p:ph type="title"/>
          </p:nvPr>
        </p:nvSpPr>
        <p:spPr>
          <a:xfrm rot="-804">
            <a:off x="4762275" y="2607114"/>
            <a:ext cx="2566800" cy="6045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SzPts val="1800"/>
              <a:buNone/>
              <a:defRPr sz="24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
        <p:nvSpPr>
          <p:cNvPr id="92" name="Google Shape;92;p14"/>
          <p:cNvSpPr txBox="1"/>
          <p:nvPr>
            <p:ph idx="1" type="subTitle"/>
          </p:nvPr>
        </p:nvSpPr>
        <p:spPr>
          <a:xfrm>
            <a:off x="4009425" y="945338"/>
            <a:ext cx="4072500" cy="15960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sz="2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MAIN_POINT_1">
    <p:spTree>
      <p:nvGrpSpPr>
        <p:cNvPr id="93" name="Shape 93"/>
        <p:cNvGrpSpPr/>
        <p:nvPr/>
      </p:nvGrpSpPr>
      <p:grpSpPr>
        <a:xfrm>
          <a:off x="0" y="0"/>
          <a:ext cx="0" cy="0"/>
          <a:chOff x="0" y="0"/>
          <a:chExt cx="0" cy="0"/>
        </a:xfrm>
      </p:grpSpPr>
      <p:sp>
        <p:nvSpPr>
          <p:cNvPr id="94" name="Google Shape;94;p15"/>
          <p:cNvSpPr/>
          <p:nvPr/>
        </p:nvSpPr>
        <p:spPr>
          <a:xfrm>
            <a:off x="365925" y="236400"/>
            <a:ext cx="3816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5"/>
          <p:cNvSpPr txBox="1"/>
          <p:nvPr>
            <p:ph type="title"/>
          </p:nvPr>
        </p:nvSpPr>
        <p:spPr>
          <a:xfrm>
            <a:off x="820275" y="1440888"/>
            <a:ext cx="2907600" cy="5643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96" name="Google Shape;96;p15"/>
          <p:cNvSpPr txBox="1"/>
          <p:nvPr>
            <p:ph idx="1" type="subTitle"/>
          </p:nvPr>
        </p:nvSpPr>
        <p:spPr>
          <a:xfrm rot="-355">
            <a:off x="820275" y="2029358"/>
            <a:ext cx="2907600" cy="16731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MAIN_POINT_1_1">
    <p:spTree>
      <p:nvGrpSpPr>
        <p:cNvPr id="97" name="Shape 97"/>
        <p:cNvGrpSpPr/>
        <p:nvPr/>
      </p:nvGrpSpPr>
      <p:grpSpPr>
        <a:xfrm>
          <a:off x="0" y="0"/>
          <a:ext cx="0" cy="0"/>
          <a:chOff x="0" y="0"/>
          <a:chExt cx="0" cy="0"/>
        </a:xfrm>
      </p:grpSpPr>
      <p:sp>
        <p:nvSpPr>
          <p:cNvPr id="98" name="Google Shape;98;p16"/>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16"/>
          <p:cNvSpPr txBox="1"/>
          <p:nvPr>
            <p:ph type="title"/>
          </p:nvPr>
        </p:nvSpPr>
        <p:spPr>
          <a:xfrm>
            <a:off x="1076425" y="1338113"/>
            <a:ext cx="3019800" cy="7659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0" name="Google Shape;100;p16"/>
          <p:cNvSpPr txBox="1"/>
          <p:nvPr>
            <p:ph idx="1" type="subTitle"/>
          </p:nvPr>
        </p:nvSpPr>
        <p:spPr>
          <a:xfrm rot="-342">
            <a:off x="1076425" y="2132730"/>
            <a:ext cx="3019800" cy="1672500"/>
          </a:xfrm>
          <a:prstGeom prst="rect">
            <a:avLst/>
          </a:prstGeom>
          <a:noFill/>
          <a:ln>
            <a:noFill/>
          </a:ln>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01" name="Google Shape;101;p16"/>
          <p:cNvSpPr/>
          <p:nvPr>
            <p:ph idx="2" type="pic"/>
          </p:nvPr>
        </p:nvSpPr>
        <p:spPr>
          <a:xfrm>
            <a:off x="4648199" y="841632"/>
            <a:ext cx="1873500" cy="2982000"/>
          </a:xfrm>
          <a:prstGeom prst="roundRect">
            <a:avLst>
              <a:gd fmla="val 16667" name="adj"/>
            </a:avLst>
          </a:prstGeom>
          <a:noFill/>
          <a:ln cap="flat" cmpd="sng" w="9525">
            <a:solidFill>
              <a:schemeClr val="lt1"/>
            </a:solidFill>
            <a:prstDash val="solid"/>
            <a:round/>
            <a:headEnd len="sm" w="sm" type="none"/>
            <a:tailEnd len="sm" w="sm" type="none"/>
          </a:ln>
        </p:spPr>
      </p:sp>
      <p:sp>
        <p:nvSpPr>
          <p:cNvPr id="102" name="Google Shape;102;p16"/>
          <p:cNvSpPr/>
          <p:nvPr>
            <p:ph idx="3" type="pic"/>
          </p:nvPr>
        </p:nvSpPr>
        <p:spPr>
          <a:xfrm>
            <a:off x="6789781" y="1630149"/>
            <a:ext cx="1541400" cy="2703900"/>
          </a:xfrm>
          <a:prstGeom prst="roundRect">
            <a:avLst>
              <a:gd fmla="val 16667" name="adj"/>
            </a:avLst>
          </a:prstGeom>
          <a:noFill/>
          <a:ln cap="flat" cmpd="sng" w="9525">
            <a:solidFill>
              <a:schemeClr val="lt1"/>
            </a:solidFill>
            <a:prstDash val="solid"/>
            <a:round/>
            <a:headEnd len="sm" w="sm" type="none"/>
            <a:tailEnd len="sm" w="sm" type="none"/>
          </a:ln>
        </p:spPr>
      </p:sp>
      <p:cxnSp>
        <p:nvCxnSpPr>
          <p:cNvPr id="103" name="Google Shape;103;p16"/>
          <p:cNvCxnSpPr/>
          <p:nvPr/>
        </p:nvCxnSpPr>
        <p:spPr>
          <a:xfrm>
            <a:off x="745025" y="4603500"/>
            <a:ext cx="3173400" cy="0"/>
          </a:xfrm>
          <a:prstGeom prst="straightConnector1">
            <a:avLst/>
          </a:prstGeom>
          <a:noFill/>
          <a:ln cap="flat" cmpd="sng" w="9525">
            <a:solidFill>
              <a:srgbClr val="364F52"/>
            </a:solidFill>
            <a:prstDash val="solid"/>
            <a:round/>
            <a:headEnd len="med" w="med" type="none"/>
            <a:tailEnd len="med" w="med" type="none"/>
          </a:ln>
        </p:spPr>
      </p:cxnSp>
      <p:cxnSp>
        <p:nvCxnSpPr>
          <p:cNvPr id="104" name="Google Shape;104;p16"/>
          <p:cNvCxnSpPr/>
          <p:nvPr/>
        </p:nvCxnSpPr>
        <p:spPr>
          <a:xfrm>
            <a:off x="5250600" y="4603500"/>
            <a:ext cx="3173400" cy="0"/>
          </a:xfrm>
          <a:prstGeom prst="straightConnector1">
            <a:avLst/>
          </a:prstGeom>
          <a:noFill/>
          <a:ln cap="flat" cmpd="sng" w="9525">
            <a:solidFill>
              <a:srgbClr val="364F52"/>
            </a:solidFill>
            <a:prstDash val="solid"/>
            <a:round/>
            <a:headEnd len="med" w="med" type="none"/>
            <a:tailEnd len="med" w="med" type="none"/>
          </a:ln>
        </p:spPr>
      </p:cxnSp>
      <p:sp>
        <p:nvSpPr>
          <p:cNvPr id="105" name="Google Shape;105;p16"/>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MAIN_POINT_1_2">
    <p:spTree>
      <p:nvGrpSpPr>
        <p:cNvPr id="106" name="Shape 106"/>
        <p:cNvGrpSpPr/>
        <p:nvPr/>
      </p:nvGrpSpPr>
      <p:grpSpPr>
        <a:xfrm>
          <a:off x="0" y="0"/>
          <a:ext cx="0" cy="0"/>
          <a:chOff x="0" y="0"/>
          <a:chExt cx="0" cy="0"/>
        </a:xfrm>
      </p:grpSpPr>
      <p:sp>
        <p:nvSpPr>
          <p:cNvPr id="107" name="Google Shape;107;p17"/>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7"/>
          <p:cNvSpPr txBox="1"/>
          <p:nvPr>
            <p:ph type="title"/>
          </p:nvPr>
        </p:nvSpPr>
        <p:spPr>
          <a:xfrm>
            <a:off x="1133562" y="1744425"/>
            <a:ext cx="2679300" cy="564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09" name="Google Shape;109;p17"/>
          <p:cNvSpPr txBox="1"/>
          <p:nvPr>
            <p:ph idx="1" type="subTitle"/>
          </p:nvPr>
        </p:nvSpPr>
        <p:spPr>
          <a:xfrm rot="-385">
            <a:off x="1133562" y="2328535"/>
            <a:ext cx="2676300" cy="1070400"/>
          </a:xfrm>
          <a:prstGeom prst="rect">
            <a:avLst/>
          </a:prstGeom>
          <a:noFill/>
          <a:ln>
            <a:noFill/>
          </a:ln>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10" name="Google Shape;110;p17"/>
          <p:cNvSpPr/>
          <p:nvPr>
            <p:ph idx="2" type="pic"/>
          </p:nvPr>
        </p:nvSpPr>
        <p:spPr>
          <a:xfrm>
            <a:off x="4498463" y="1345891"/>
            <a:ext cx="3287400" cy="1845000"/>
          </a:xfrm>
          <a:prstGeom prst="roundRect">
            <a:avLst>
              <a:gd fmla="val 16667" name="adj"/>
            </a:avLst>
          </a:prstGeom>
          <a:noFill/>
          <a:ln cap="flat" cmpd="sng" w="9525">
            <a:solidFill>
              <a:schemeClr val="lt1"/>
            </a:solidFill>
            <a:prstDash val="solid"/>
            <a:round/>
            <a:headEnd len="sm" w="sm" type="none"/>
            <a:tailEnd len="sm" w="sm" type="none"/>
          </a:ln>
        </p:spPr>
      </p:sp>
      <p:cxnSp>
        <p:nvCxnSpPr>
          <p:cNvPr id="111" name="Google Shape;111;p17"/>
          <p:cNvCxnSpPr/>
          <p:nvPr/>
        </p:nvCxnSpPr>
        <p:spPr>
          <a:xfrm>
            <a:off x="745025" y="4603500"/>
            <a:ext cx="3173400" cy="0"/>
          </a:xfrm>
          <a:prstGeom prst="straightConnector1">
            <a:avLst/>
          </a:prstGeom>
          <a:noFill/>
          <a:ln cap="flat" cmpd="sng" w="9525">
            <a:solidFill>
              <a:srgbClr val="364F52"/>
            </a:solidFill>
            <a:prstDash val="solid"/>
            <a:round/>
            <a:headEnd len="med" w="med" type="none"/>
            <a:tailEnd len="med" w="med" type="none"/>
          </a:ln>
        </p:spPr>
      </p:cxnSp>
      <p:cxnSp>
        <p:nvCxnSpPr>
          <p:cNvPr id="112" name="Google Shape;112;p17"/>
          <p:cNvCxnSpPr/>
          <p:nvPr/>
        </p:nvCxnSpPr>
        <p:spPr>
          <a:xfrm>
            <a:off x="5250600" y="4603500"/>
            <a:ext cx="3173400" cy="0"/>
          </a:xfrm>
          <a:prstGeom prst="straightConnector1">
            <a:avLst/>
          </a:prstGeom>
          <a:noFill/>
          <a:ln cap="flat" cmpd="sng" w="9525">
            <a:solidFill>
              <a:srgbClr val="364F52"/>
            </a:solidFill>
            <a:prstDash val="solid"/>
            <a:round/>
            <a:headEnd len="med" w="med" type="none"/>
            <a:tailEnd len="med" w="med" type="none"/>
          </a:ln>
        </p:spPr>
      </p:cxnSp>
      <p:sp>
        <p:nvSpPr>
          <p:cNvPr id="113" name="Google Shape;113;p17"/>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MAIN_POINT_1_3">
    <p:spTree>
      <p:nvGrpSpPr>
        <p:cNvPr id="114" name="Shape 114"/>
        <p:cNvGrpSpPr/>
        <p:nvPr/>
      </p:nvGrpSpPr>
      <p:grpSpPr>
        <a:xfrm>
          <a:off x="0" y="0"/>
          <a:ext cx="0" cy="0"/>
          <a:chOff x="0" y="0"/>
          <a:chExt cx="0" cy="0"/>
        </a:xfrm>
      </p:grpSpPr>
      <p:sp>
        <p:nvSpPr>
          <p:cNvPr id="115" name="Google Shape;115;p18"/>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8"/>
          <p:cNvSpPr txBox="1"/>
          <p:nvPr>
            <p:ph type="title"/>
          </p:nvPr>
        </p:nvSpPr>
        <p:spPr>
          <a:xfrm>
            <a:off x="720000" y="748500"/>
            <a:ext cx="7704000" cy="5643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17" name="Google Shape;117;p18"/>
          <p:cNvSpPr txBox="1"/>
          <p:nvPr>
            <p:ph idx="1" type="body"/>
          </p:nvPr>
        </p:nvSpPr>
        <p:spPr>
          <a:xfrm>
            <a:off x="720000" y="1312800"/>
            <a:ext cx="3852000" cy="3231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35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160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cxnSp>
        <p:nvCxnSpPr>
          <p:cNvPr id="118" name="Google Shape;118;p18"/>
          <p:cNvCxnSpPr/>
          <p:nvPr/>
        </p:nvCxnSpPr>
        <p:spPr>
          <a:xfrm>
            <a:off x="745025" y="4603500"/>
            <a:ext cx="3173400" cy="0"/>
          </a:xfrm>
          <a:prstGeom prst="straightConnector1">
            <a:avLst/>
          </a:prstGeom>
          <a:noFill/>
          <a:ln cap="flat" cmpd="sng" w="9525">
            <a:solidFill>
              <a:srgbClr val="364F52"/>
            </a:solidFill>
            <a:prstDash val="solid"/>
            <a:round/>
            <a:headEnd len="med" w="med" type="none"/>
            <a:tailEnd len="med" w="med" type="none"/>
          </a:ln>
        </p:spPr>
      </p:cxnSp>
      <p:cxnSp>
        <p:nvCxnSpPr>
          <p:cNvPr id="119" name="Google Shape;119;p18"/>
          <p:cNvCxnSpPr/>
          <p:nvPr/>
        </p:nvCxnSpPr>
        <p:spPr>
          <a:xfrm>
            <a:off x="5250600" y="4603500"/>
            <a:ext cx="3173400" cy="0"/>
          </a:xfrm>
          <a:prstGeom prst="straightConnector1">
            <a:avLst/>
          </a:prstGeom>
          <a:noFill/>
          <a:ln cap="flat" cmpd="sng" w="9525">
            <a:solidFill>
              <a:srgbClr val="364F52"/>
            </a:solidFill>
            <a:prstDash val="solid"/>
            <a:round/>
            <a:headEnd len="med" w="med" type="none"/>
            <a:tailEnd len="med" w="med" type="none"/>
          </a:ln>
        </p:spPr>
      </p:cxnSp>
      <p:sp>
        <p:nvSpPr>
          <p:cNvPr id="120" name="Google Shape;120;p18"/>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
        <p:nvSpPr>
          <p:cNvPr id="121" name="Google Shape;121;p18"/>
          <p:cNvSpPr txBox="1"/>
          <p:nvPr>
            <p:ph idx="2" type="body"/>
          </p:nvPr>
        </p:nvSpPr>
        <p:spPr>
          <a:xfrm>
            <a:off x="4572000" y="1312800"/>
            <a:ext cx="3852000" cy="32316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350"/>
            </a:lvl1pPr>
            <a:lvl2pPr indent="-317500" lvl="1" marL="914400" rtl="0">
              <a:lnSpc>
                <a:spcPct val="115000"/>
              </a:lnSpc>
              <a:spcBef>
                <a:spcPts val="0"/>
              </a:spcBef>
              <a:spcAft>
                <a:spcPts val="0"/>
              </a:spcAft>
              <a:buSzPts val="1400"/>
              <a:buChar char="○"/>
              <a:defRPr/>
            </a:lvl2pPr>
            <a:lvl3pPr indent="-317500" lvl="2" marL="1371600" rtl="0">
              <a:lnSpc>
                <a:spcPct val="115000"/>
              </a:lnSpc>
              <a:spcBef>
                <a:spcPts val="1600"/>
              </a:spcBef>
              <a:spcAft>
                <a:spcPts val="0"/>
              </a:spcAft>
              <a:buSzPts val="1400"/>
              <a:buChar char="■"/>
              <a:defRPr/>
            </a:lvl3pPr>
            <a:lvl4pPr indent="-317500" lvl="3" marL="1828800" rtl="0">
              <a:lnSpc>
                <a:spcPct val="115000"/>
              </a:lnSpc>
              <a:spcBef>
                <a:spcPts val="1600"/>
              </a:spcBef>
              <a:spcAft>
                <a:spcPts val="0"/>
              </a:spcAft>
              <a:buSzPts val="1400"/>
              <a:buChar char="●"/>
              <a:defRPr/>
            </a:lvl4pPr>
            <a:lvl5pPr indent="-317500" lvl="4" marL="2286000" rtl="0">
              <a:lnSpc>
                <a:spcPct val="115000"/>
              </a:lnSpc>
              <a:spcBef>
                <a:spcPts val="1600"/>
              </a:spcBef>
              <a:spcAft>
                <a:spcPts val="0"/>
              </a:spcAft>
              <a:buSzPts val="1400"/>
              <a:buChar char="○"/>
              <a:defRPr/>
            </a:lvl5pPr>
            <a:lvl6pPr indent="-317500" lvl="5" marL="2743200" rtl="0">
              <a:lnSpc>
                <a:spcPct val="115000"/>
              </a:lnSpc>
              <a:spcBef>
                <a:spcPts val="1600"/>
              </a:spcBef>
              <a:spcAft>
                <a:spcPts val="0"/>
              </a:spcAft>
              <a:buSzPts val="1400"/>
              <a:buChar char="■"/>
              <a:defRPr/>
            </a:lvl6pPr>
            <a:lvl7pPr indent="-317500" lvl="6" marL="3200400" rtl="0">
              <a:lnSpc>
                <a:spcPct val="115000"/>
              </a:lnSpc>
              <a:spcBef>
                <a:spcPts val="1600"/>
              </a:spcBef>
              <a:spcAft>
                <a:spcPts val="0"/>
              </a:spcAft>
              <a:buSzPts val="1400"/>
              <a:buChar char="●"/>
              <a:defRPr/>
            </a:lvl7pPr>
            <a:lvl8pPr indent="-317500" lvl="7" marL="3657600" rtl="0">
              <a:lnSpc>
                <a:spcPct val="115000"/>
              </a:lnSpc>
              <a:spcBef>
                <a:spcPts val="1600"/>
              </a:spcBef>
              <a:spcAft>
                <a:spcPts val="0"/>
              </a:spcAft>
              <a:buSzPts val="1400"/>
              <a:buChar char="○"/>
              <a:defRPr/>
            </a:lvl8pPr>
            <a:lvl9pPr indent="-317500" lvl="8" marL="4114800" rtl="0">
              <a:lnSpc>
                <a:spcPct val="115000"/>
              </a:lnSpc>
              <a:spcBef>
                <a:spcPts val="1600"/>
              </a:spcBef>
              <a:spcAft>
                <a:spcPts val="1600"/>
              </a:spcAft>
              <a:buSzPts val="1400"/>
              <a:buChar char="■"/>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122" name="Shape 122"/>
        <p:cNvGrpSpPr/>
        <p:nvPr/>
      </p:nvGrpSpPr>
      <p:grpSpPr>
        <a:xfrm>
          <a:off x="0" y="0"/>
          <a:ext cx="0" cy="0"/>
          <a:chOff x="0" y="0"/>
          <a:chExt cx="0" cy="0"/>
        </a:xfrm>
      </p:grpSpPr>
      <p:sp>
        <p:nvSpPr>
          <p:cNvPr id="123" name="Google Shape;123;p19"/>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19"/>
          <p:cNvSpPr txBox="1"/>
          <p:nvPr>
            <p:ph idx="1" type="subTitle"/>
          </p:nvPr>
        </p:nvSpPr>
        <p:spPr>
          <a:xfrm>
            <a:off x="704950" y="2255963"/>
            <a:ext cx="3666900" cy="1851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solidFill>
                  <a:schemeClr val="lt1"/>
                </a:solidFill>
              </a:defRPr>
            </a:lvl1pPr>
            <a:lvl2pPr lvl="1" rtl="0" algn="ctr">
              <a:lnSpc>
                <a:spcPct val="100000"/>
              </a:lnSpc>
              <a:spcBef>
                <a:spcPts val="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125" name="Google Shape;125;p19"/>
          <p:cNvSpPr txBox="1"/>
          <p:nvPr>
            <p:ph idx="2" type="subTitle"/>
          </p:nvPr>
        </p:nvSpPr>
        <p:spPr>
          <a:xfrm>
            <a:off x="4772457" y="2255963"/>
            <a:ext cx="3666600" cy="1851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Char char="○"/>
              <a:defRPr>
                <a:solidFill>
                  <a:schemeClr val="lt1"/>
                </a:solidFill>
              </a:defRPr>
            </a:lvl1pPr>
            <a:lvl2pPr lvl="1" rtl="0" algn="ctr">
              <a:lnSpc>
                <a:spcPct val="100000"/>
              </a:lnSpc>
              <a:spcBef>
                <a:spcPts val="0"/>
              </a:spcBef>
              <a:spcAft>
                <a:spcPts val="0"/>
              </a:spcAft>
              <a:buSzPts val="1400"/>
              <a:buChar char="○"/>
              <a:defRPr/>
            </a:lvl2pPr>
            <a:lvl3pPr lvl="2" rtl="0" algn="ctr">
              <a:lnSpc>
                <a:spcPct val="100000"/>
              </a:lnSpc>
              <a:spcBef>
                <a:spcPts val="1600"/>
              </a:spcBef>
              <a:spcAft>
                <a:spcPts val="0"/>
              </a:spcAft>
              <a:buSzPts val="1400"/>
              <a:buChar char="■"/>
              <a:defRPr/>
            </a:lvl3pPr>
            <a:lvl4pPr lvl="3" rtl="0" algn="ctr">
              <a:lnSpc>
                <a:spcPct val="100000"/>
              </a:lnSpc>
              <a:spcBef>
                <a:spcPts val="1600"/>
              </a:spcBef>
              <a:spcAft>
                <a:spcPts val="0"/>
              </a:spcAft>
              <a:buSzPts val="1400"/>
              <a:buChar char="●"/>
              <a:defRPr/>
            </a:lvl4pPr>
            <a:lvl5pPr lvl="4" rtl="0" algn="ctr">
              <a:lnSpc>
                <a:spcPct val="100000"/>
              </a:lnSpc>
              <a:spcBef>
                <a:spcPts val="1600"/>
              </a:spcBef>
              <a:spcAft>
                <a:spcPts val="0"/>
              </a:spcAft>
              <a:buSzPts val="1400"/>
              <a:buChar char="○"/>
              <a:defRPr/>
            </a:lvl5pPr>
            <a:lvl6pPr lvl="5" rtl="0" algn="ctr">
              <a:lnSpc>
                <a:spcPct val="100000"/>
              </a:lnSpc>
              <a:spcBef>
                <a:spcPts val="1600"/>
              </a:spcBef>
              <a:spcAft>
                <a:spcPts val="0"/>
              </a:spcAft>
              <a:buSzPts val="1400"/>
              <a:buChar char="■"/>
              <a:defRPr/>
            </a:lvl6pPr>
            <a:lvl7pPr lvl="6" rtl="0" algn="ctr">
              <a:lnSpc>
                <a:spcPct val="100000"/>
              </a:lnSpc>
              <a:spcBef>
                <a:spcPts val="1600"/>
              </a:spcBef>
              <a:spcAft>
                <a:spcPts val="0"/>
              </a:spcAft>
              <a:buSzPts val="1400"/>
              <a:buChar char="●"/>
              <a:defRPr/>
            </a:lvl7pPr>
            <a:lvl8pPr lvl="7" rtl="0" algn="ctr">
              <a:lnSpc>
                <a:spcPct val="100000"/>
              </a:lnSpc>
              <a:spcBef>
                <a:spcPts val="1600"/>
              </a:spcBef>
              <a:spcAft>
                <a:spcPts val="0"/>
              </a:spcAft>
              <a:buSzPts val="1400"/>
              <a:buChar char="○"/>
              <a:defRPr/>
            </a:lvl8pPr>
            <a:lvl9pPr lvl="8" rtl="0" algn="ctr">
              <a:lnSpc>
                <a:spcPct val="100000"/>
              </a:lnSpc>
              <a:spcBef>
                <a:spcPts val="1600"/>
              </a:spcBef>
              <a:spcAft>
                <a:spcPts val="1600"/>
              </a:spcAft>
              <a:buSzPts val="1400"/>
              <a:buChar char="■"/>
              <a:defRPr/>
            </a:lvl9pPr>
          </a:lstStyle>
          <a:p/>
        </p:txBody>
      </p:sp>
      <p:sp>
        <p:nvSpPr>
          <p:cNvPr id="126" name="Google Shape;126;p19"/>
          <p:cNvSpPr txBox="1"/>
          <p:nvPr>
            <p:ph type="title"/>
          </p:nvPr>
        </p:nvSpPr>
        <p:spPr>
          <a:xfrm>
            <a:off x="1113188" y="1699687"/>
            <a:ext cx="30816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2600">
                <a:solidFill>
                  <a:schemeClr val="lt1"/>
                </a:solidFill>
              </a:defRPr>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127" name="Google Shape;127;p19"/>
          <p:cNvSpPr txBox="1"/>
          <p:nvPr>
            <p:ph idx="3" type="title"/>
          </p:nvPr>
        </p:nvSpPr>
        <p:spPr>
          <a:xfrm>
            <a:off x="5154443" y="1699677"/>
            <a:ext cx="30816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26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28" name="Google Shape;128;p19"/>
          <p:cNvSpPr txBox="1"/>
          <p:nvPr>
            <p:ph idx="4" type="title"/>
          </p:nvPr>
        </p:nvSpPr>
        <p:spPr>
          <a:xfrm>
            <a:off x="720000" y="748500"/>
            <a:ext cx="7704000" cy="5643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cxnSp>
        <p:nvCxnSpPr>
          <p:cNvPr id="129" name="Google Shape;129;p19"/>
          <p:cNvCxnSpPr/>
          <p:nvPr/>
        </p:nvCxnSpPr>
        <p:spPr>
          <a:xfrm>
            <a:off x="745025" y="4603500"/>
            <a:ext cx="3173400" cy="0"/>
          </a:xfrm>
          <a:prstGeom prst="straightConnector1">
            <a:avLst/>
          </a:prstGeom>
          <a:noFill/>
          <a:ln cap="flat" cmpd="sng" w="9525">
            <a:solidFill>
              <a:srgbClr val="364F52"/>
            </a:solidFill>
            <a:prstDash val="solid"/>
            <a:round/>
            <a:headEnd len="med" w="med" type="none"/>
            <a:tailEnd len="med" w="med" type="none"/>
          </a:ln>
        </p:spPr>
      </p:cxnSp>
      <p:cxnSp>
        <p:nvCxnSpPr>
          <p:cNvPr id="130" name="Google Shape;130;p19"/>
          <p:cNvCxnSpPr/>
          <p:nvPr/>
        </p:nvCxnSpPr>
        <p:spPr>
          <a:xfrm>
            <a:off x="5250600" y="4603500"/>
            <a:ext cx="3173400" cy="0"/>
          </a:xfrm>
          <a:prstGeom prst="straightConnector1">
            <a:avLst/>
          </a:prstGeom>
          <a:noFill/>
          <a:ln cap="flat" cmpd="sng" w="9525">
            <a:solidFill>
              <a:srgbClr val="364F52"/>
            </a:solidFill>
            <a:prstDash val="solid"/>
            <a:round/>
            <a:headEnd len="med" w="med" type="none"/>
            <a:tailEnd len="med" w="med" type="none"/>
          </a:ln>
        </p:spPr>
      </p:cxnSp>
      <p:sp>
        <p:nvSpPr>
          <p:cNvPr id="131" name="Google Shape;131;p19"/>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132" name="Shape 132"/>
        <p:cNvGrpSpPr/>
        <p:nvPr/>
      </p:nvGrpSpPr>
      <p:grpSpPr>
        <a:xfrm>
          <a:off x="0" y="0"/>
          <a:ext cx="0" cy="0"/>
          <a:chOff x="0" y="0"/>
          <a:chExt cx="0" cy="0"/>
        </a:xfrm>
      </p:grpSpPr>
      <p:sp>
        <p:nvSpPr>
          <p:cNvPr id="133" name="Google Shape;133;p20"/>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20"/>
          <p:cNvSpPr txBox="1"/>
          <p:nvPr>
            <p:ph idx="1" type="subTitle"/>
          </p:nvPr>
        </p:nvSpPr>
        <p:spPr>
          <a:xfrm>
            <a:off x="1113700" y="3524325"/>
            <a:ext cx="30807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35" name="Google Shape;135;p20"/>
          <p:cNvSpPr txBox="1"/>
          <p:nvPr>
            <p:ph idx="2" type="subTitle"/>
          </p:nvPr>
        </p:nvSpPr>
        <p:spPr>
          <a:xfrm>
            <a:off x="4949752" y="3524325"/>
            <a:ext cx="3080700" cy="611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lt1"/>
                </a:solidFill>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36" name="Google Shape;136;p20"/>
          <p:cNvSpPr txBox="1"/>
          <p:nvPr>
            <p:ph type="title"/>
          </p:nvPr>
        </p:nvSpPr>
        <p:spPr>
          <a:xfrm>
            <a:off x="1113250" y="3122325"/>
            <a:ext cx="30816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2600">
                <a:solidFill>
                  <a:schemeClr val="lt1"/>
                </a:solidFill>
              </a:defRPr>
            </a:lvl1pPr>
            <a:lvl2pPr lvl="1" rtl="0" algn="r">
              <a:spcBef>
                <a:spcPts val="0"/>
              </a:spcBef>
              <a:spcAft>
                <a:spcPts val="0"/>
              </a:spcAft>
              <a:buSzPts val="2400"/>
              <a:buNone/>
              <a:defRPr sz="2400"/>
            </a:lvl2pPr>
            <a:lvl3pPr lvl="2" rtl="0" algn="r">
              <a:spcBef>
                <a:spcPts val="0"/>
              </a:spcBef>
              <a:spcAft>
                <a:spcPts val="0"/>
              </a:spcAft>
              <a:buSzPts val="2400"/>
              <a:buNone/>
              <a:defRPr sz="2400"/>
            </a:lvl3pPr>
            <a:lvl4pPr lvl="3" rtl="0" algn="r">
              <a:spcBef>
                <a:spcPts val="0"/>
              </a:spcBef>
              <a:spcAft>
                <a:spcPts val="0"/>
              </a:spcAft>
              <a:buSzPts val="2400"/>
              <a:buNone/>
              <a:defRPr sz="2400"/>
            </a:lvl4pPr>
            <a:lvl5pPr lvl="4" rtl="0" algn="r">
              <a:spcBef>
                <a:spcPts val="0"/>
              </a:spcBef>
              <a:spcAft>
                <a:spcPts val="0"/>
              </a:spcAft>
              <a:buSzPts val="2400"/>
              <a:buNone/>
              <a:defRPr sz="2400"/>
            </a:lvl5pPr>
            <a:lvl6pPr lvl="5" rtl="0" algn="r">
              <a:spcBef>
                <a:spcPts val="0"/>
              </a:spcBef>
              <a:spcAft>
                <a:spcPts val="0"/>
              </a:spcAft>
              <a:buSzPts val="2400"/>
              <a:buNone/>
              <a:defRPr sz="2400"/>
            </a:lvl6pPr>
            <a:lvl7pPr lvl="6" rtl="0" algn="r">
              <a:spcBef>
                <a:spcPts val="0"/>
              </a:spcBef>
              <a:spcAft>
                <a:spcPts val="0"/>
              </a:spcAft>
              <a:buSzPts val="2400"/>
              <a:buNone/>
              <a:defRPr sz="2400"/>
            </a:lvl7pPr>
            <a:lvl8pPr lvl="7" rtl="0" algn="r">
              <a:spcBef>
                <a:spcPts val="0"/>
              </a:spcBef>
              <a:spcAft>
                <a:spcPts val="0"/>
              </a:spcAft>
              <a:buSzPts val="2400"/>
              <a:buNone/>
              <a:defRPr sz="2400"/>
            </a:lvl8pPr>
            <a:lvl9pPr lvl="8" rtl="0" algn="r">
              <a:spcBef>
                <a:spcPts val="0"/>
              </a:spcBef>
              <a:spcAft>
                <a:spcPts val="0"/>
              </a:spcAft>
              <a:buSzPts val="2400"/>
              <a:buNone/>
              <a:defRPr sz="2400"/>
            </a:lvl9pPr>
          </a:lstStyle>
          <a:p/>
        </p:txBody>
      </p:sp>
      <p:sp>
        <p:nvSpPr>
          <p:cNvPr id="137" name="Google Shape;137;p20"/>
          <p:cNvSpPr txBox="1"/>
          <p:nvPr>
            <p:ph idx="3" type="title"/>
          </p:nvPr>
        </p:nvSpPr>
        <p:spPr>
          <a:xfrm>
            <a:off x="4949293" y="3122315"/>
            <a:ext cx="3081600" cy="5277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2400"/>
              <a:buNone/>
              <a:defRPr sz="2600">
                <a:solidFill>
                  <a:schemeClr val="lt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38" name="Google Shape;138;p20"/>
          <p:cNvSpPr txBox="1"/>
          <p:nvPr>
            <p:ph idx="4" type="title"/>
          </p:nvPr>
        </p:nvSpPr>
        <p:spPr>
          <a:xfrm>
            <a:off x="720000" y="748500"/>
            <a:ext cx="7704000" cy="5643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39" name="Google Shape;139;p20"/>
          <p:cNvSpPr/>
          <p:nvPr>
            <p:ph idx="5" type="pic"/>
          </p:nvPr>
        </p:nvSpPr>
        <p:spPr>
          <a:xfrm>
            <a:off x="1215850" y="1521300"/>
            <a:ext cx="2876400" cy="1601100"/>
          </a:xfrm>
          <a:prstGeom prst="roundRect">
            <a:avLst>
              <a:gd fmla="val 16667" name="adj"/>
            </a:avLst>
          </a:prstGeom>
          <a:noFill/>
          <a:ln cap="flat" cmpd="sng" w="9525">
            <a:solidFill>
              <a:schemeClr val="lt1"/>
            </a:solidFill>
            <a:prstDash val="solid"/>
            <a:round/>
            <a:headEnd len="sm" w="sm" type="none"/>
            <a:tailEnd len="sm" w="sm" type="none"/>
          </a:ln>
        </p:spPr>
      </p:sp>
      <p:sp>
        <p:nvSpPr>
          <p:cNvPr id="140" name="Google Shape;140;p20"/>
          <p:cNvSpPr/>
          <p:nvPr>
            <p:ph idx="6" type="pic"/>
          </p:nvPr>
        </p:nvSpPr>
        <p:spPr>
          <a:xfrm>
            <a:off x="5051900" y="1521300"/>
            <a:ext cx="2876400" cy="1601100"/>
          </a:xfrm>
          <a:prstGeom prst="roundRect">
            <a:avLst>
              <a:gd fmla="val 16667" name="adj"/>
            </a:avLst>
          </a:prstGeom>
          <a:noFill/>
          <a:ln cap="flat" cmpd="sng" w="9525">
            <a:solidFill>
              <a:schemeClr val="lt1"/>
            </a:solidFill>
            <a:prstDash val="solid"/>
            <a:round/>
            <a:headEnd len="sm" w="sm" type="none"/>
            <a:tailEnd len="sm" w="sm" type="none"/>
          </a:ln>
        </p:spPr>
      </p:sp>
      <p:cxnSp>
        <p:nvCxnSpPr>
          <p:cNvPr id="141" name="Google Shape;141;p20"/>
          <p:cNvCxnSpPr/>
          <p:nvPr/>
        </p:nvCxnSpPr>
        <p:spPr>
          <a:xfrm>
            <a:off x="745025" y="4603500"/>
            <a:ext cx="3173400" cy="0"/>
          </a:xfrm>
          <a:prstGeom prst="straightConnector1">
            <a:avLst/>
          </a:prstGeom>
          <a:noFill/>
          <a:ln cap="flat" cmpd="sng" w="9525">
            <a:solidFill>
              <a:srgbClr val="364F52"/>
            </a:solidFill>
            <a:prstDash val="solid"/>
            <a:round/>
            <a:headEnd len="med" w="med" type="none"/>
            <a:tailEnd len="med" w="med" type="none"/>
          </a:ln>
        </p:spPr>
      </p:cxnSp>
      <p:cxnSp>
        <p:nvCxnSpPr>
          <p:cNvPr id="142" name="Google Shape;142;p20"/>
          <p:cNvCxnSpPr/>
          <p:nvPr/>
        </p:nvCxnSpPr>
        <p:spPr>
          <a:xfrm>
            <a:off x="5250600" y="4603500"/>
            <a:ext cx="3173400" cy="0"/>
          </a:xfrm>
          <a:prstGeom prst="straightConnector1">
            <a:avLst/>
          </a:prstGeom>
          <a:noFill/>
          <a:ln cap="flat" cmpd="sng" w="9525">
            <a:solidFill>
              <a:srgbClr val="364F52"/>
            </a:solidFill>
            <a:prstDash val="solid"/>
            <a:round/>
            <a:headEnd len="med" w="med" type="none"/>
            <a:tailEnd len="med" w="med" type="none"/>
          </a:ln>
        </p:spPr>
      </p:cxnSp>
      <p:sp>
        <p:nvSpPr>
          <p:cNvPr id="143" name="Google Shape;143;p20"/>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BLANK_1_1_1_2">
    <p:spTree>
      <p:nvGrpSpPr>
        <p:cNvPr id="144" name="Shape 144"/>
        <p:cNvGrpSpPr/>
        <p:nvPr/>
      </p:nvGrpSpPr>
      <p:grpSpPr>
        <a:xfrm>
          <a:off x="0" y="0"/>
          <a:ext cx="0" cy="0"/>
          <a:chOff x="0" y="0"/>
          <a:chExt cx="0" cy="0"/>
        </a:xfrm>
      </p:grpSpPr>
      <p:sp>
        <p:nvSpPr>
          <p:cNvPr id="145" name="Google Shape;145;p21"/>
          <p:cNvSpPr txBox="1"/>
          <p:nvPr>
            <p:ph type="title"/>
          </p:nvPr>
        </p:nvSpPr>
        <p:spPr>
          <a:xfrm>
            <a:off x="3343325" y="748500"/>
            <a:ext cx="2457300" cy="5643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46" name="Google Shape;146;p21"/>
          <p:cNvSpPr txBox="1"/>
          <p:nvPr>
            <p:ph idx="2" type="title"/>
          </p:nvPr>
        </p:nvSpPr>
        <p:spPr>
          <a:xfrm>
            <a:off x="965750" y="1963188"/>
            <a:ext cx="19659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47" name="Google Shape;147;p21"/>
          <p:cNvSpPr txBox="1"/>
          <p:nvPr>
            <p:ph idx="1" type="subTitle"/>
          </p:nvPr>
        </p:nvSpPr>
        <p:spPr>
          <a:xfrm>
            <a:off x="965750" y="2490900"/>
            <a:ext cx="1965900" cy="1032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48" name="Google Shape;148;p21"/>
          <p:cNvSpPr txBox="1"/>
          <p:nvPr>
            <p:ph idx="3" type="title"/>
          </p:nvPr>
        </p:nvSpPr>
        <p:spPr>
          <a:xfrm>
            <a:off x="3590975" y="1963200"/>
            <a:ext cx="19620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49" name="Google Shape;149;p21"/>
          <p:cNvSpPr txBox="1"/>
          <p:nvPr>
            <p:ph idx="4" type="subTitle"/>
          </p:nvPr>
        </p:nvSpPr>
        <p:spPr>
          <a:xfrm>
            <a:off x="3590975" y="2490900"/>
            <a:ext cx="1962000" cy="1032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0" name="Google Shape;150;p21"/>
          <p:cNvSpPr txBox="1"/>
          <p:nvPr>
            <p:ph idx="5" type="title"/>
          </p:nvPr>
        </p:nvSpPr>
        <p:spPr>
          <a:xfrm>
            <a:off x="6212400" y="1963188"/>
            <a:ext cx="19659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51" name="Google Shape;151;p21"/>
          <p:cNvSpPr txBox="1"/>
          <p:nvPr>
            <p:ph idx="6" type="subTitle"/>
          </p:nvPr>
        </p:nvSpPr>
        <p:spPr>
          <a:xfrm>
            <a:off x="6212400" y="2490899"/>
            <a:ext cx="1965900" cy="1032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BLANK_1_1_1_2_1">
    <p:spTree>
      <p:nvGrpSpPr>
        <p:cNvPr id="152" name="Shape 152"/>
        <p:cNvGrpSpPr/>
        <p:nvPr/>
      </p:nvGrpSpPr>
      <p:grpSpPr>
        <a:xfrm>
          <a:off x="0" y="0"/>
          <a:ext cx="0" cy="0"/>
          <a:chOff x="0" y="0"/>
          <a:chExt cx="0" cy="0"/>
        </a:xfrm>
      </p:grpSpPr>
      <p:sp>
        <p:nvSpPr>
          <p:cNvPr id="153" name="Google Shape;153;p22"/>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2"/>
          <p:cNvSpPr txBox="1"/>
          <p:nvPr>
            <p:ph type="title"/>
          </p:nvPr>
        </p:nvSpPr>
        <p:spPr>
          <a:xfrm>
            <a:off x="720000" y="748500"/>
            <a:ext cx="7704000" cy="5643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55" name="Google Shape;155;p22"/>
          <p:cNvSpPr txBox="1"/>
          <p:nvPr>
            <p:ph idx="2" type="title"/>
          </p:nvPr>
        </p:nvSpPr>
        <p:spPr>
          <a:xfrm>
            <a:off x="805438" y="3578431"/>
            <a:ext cx="23364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56" name="Google Shape;156;p22"/>
          <p:cNvSpPr txBox="1"/>
          <p:nvPr>
            <p:ph idx="1" type="subTitle"/>
          </p:nvPr>
        </p:nvSpPr>
        <p:spPr>
          <a:xfrm>
            <a:off x="869788" y="1855150"/>
            <a:ext cx="2207700" cy="107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7" name="Google Shape;157;p22"/>
          <p:cNvSpPr txBox="1"/>
          <p:nvPr>
            <p:ph idx="3" type="title"/>
          </p:nvPr>
        </p:nvSpPr>
        <p:spPr>
          <a:xfrm>
            <a:off x="3401550" y="3578431"/>
            <a:ext cx="23409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58" name="Google Shape;158;p22"/>
          <p:cNvSpPr txBox="1"/>
          <p:nvPr>
            <p:ph idx="4" type="subTitle"/>
          </p:nvPr>
        </p:nvSpPr>
        <p:spPr>
          <a:xfrm>
            <a:off x="3470100" y="1860003"/>
            <a:ext cx="2203800" cy="1069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59" name="Google Shape;159;p22"/>
          <p:cNvSpPr txBox="1"/>
          <p:nvPr>
            <p:ph idx="5" type="title"/>
          </p:nvPr>
        </p:nvSpPr>
        <p:spPr>
          <a:xfrm>
            <a:off x="5999925" y="3578431"/>
            <a:ext cx="23409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60" name="Google Shape;160;p22"/>
          <p:cNvSpPr txBox="1"/>
          <p:nvPr>
            <p:ph idx="6" type="subTitle"/>
          </p:nvPr>
        </p:nvSpPr>
        <p:spPr>
          <a:xfrm>
            <a:off x="6068475" y="1860003"/>
            <a:ext cx="2203800" cy="10698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161" name="Google Shape;161;p22"/>
          <p:cNvCxnSpPr/>
          <p:nvPr/>
        </p:nvCxnSpPr>
        <p:spPr>
          <a:xfrm>
            <a:off x="745025" y="4603500"/>
            <a:ext cx="3173400" cy="0"/>
          </a:xfrm>
          <a:prstGeom prst="straightConnector1">
            <a:avLst/>
          </a:prstGeom>
          <a:noFill/>
          <a:ln cap="flat" cmpd="sng" w="9525">
            <a:solidFill>
              <a:srgbClr val="364F52"/>
            </a:solidFill>
            <a:prstDash val="solid"/>
            <a:round/>
            <a:headEnd len="med" w="med" type="none"/>
            <a:tailEnd len="med" w="med" type="none"/>
          </a:ln>
        </p:spPr>
      </p:cxnSp>
      <p:cxnSp>
        <p:nvCxnSpPr>
          <p:cNvPr id="162" name="Google Shape;162;p22"/>
          <p:cNvCxnSpPr/>
          <p:nvPr/>
        </p:nvCxnSpPr>
        <p:spPr>
          <a:xfrm>
            <a:off x="5250600" y="4603500"/>
            <a:ext cx="3173400" cy="0"/>
          </a:xfrm>
          <a:prstGeom prst="straightConnector1">
            <a:avLst/>
          </a:prstGeom>
          <a:noFill/>
          <a:ln cap="flat" cmpd="sng" w="9525">
            <a:solidFill>
              <a:srgbClr val="364F52"/>
            </a:solidFill>
            <a:prstDash val="solid"/>
            <a:round/>
            <a:headEnd len="med" w="med" type="none"/>
            <a:tailEnd len="med" w="med" type="none"/>
          </a:ln>
        </p:spPr>
      </p:cxnSp>
      <p:sp>
        <p:nvSpPr>
          <p:cNvPr id="163" name="Google Shape;163;p22"/>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BLANK_1_1_1_1">
    <p:spTree>
      <p:nvGrpSpPr>
        <p:cNvPr id="164" name="Shape 164"/>
        <p:cNvGrpSpPr/>
        <p:nvPr/>
      </p:nvGrpSpPr>
      <p:grpSpPr>
        <a:xfrm>
          <a:off x="0" y="0"/>
          <a:ext cx="0" cy="0"/>
          <a:chOff x="0" y="0"/>
          <a:chExt cx="0" cy="0"/>
        </a:xfrm>
      </p:grpSpPr>
      <p:sp>
        <p:nvSpPr>
          <p:cNvPr id="165" name="Google Shape;165;p23"/>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3"/>
          <p:cNvSpPr txBox="1"/>
          <p:nvPr>
            <p:ph type="title"/>
          </p:nvPr>
        </p:nvSpPr>
        <p:spPr>
          <a:xfrm>
            <a:off x="720000" y="748500"/>
            <a:ext cx="7704000" cy="5643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67" name="Google Shape;167;p23"/>
          <p:cNvSpPr txBox="1"/>
          <p:nvPr>
            <p:ph idx="2" type="title"/>
          </p:nvPr>
        </p:nvSpPr>
        <p:spPr>
          <a:xfrm>
            <a:off x="2082609" y="1545125"/>
            <a:ext cx="20175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68" name="Google Shape;168;p23"/>
          <p:cNvSpPr txBox="1"/>
          <p:nvPr>
            <p:ph idx="1" type="subTitle"/>
          </p:nvPr>
        </p:nvSpPr>
        <p:spPr>
          <a:xfrm>
            <a:off x="2082618" y="1974450"/>
            <a:ext cx="2017500" cy="56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69" name="Google Shape;169;p23"/>
          <p:cNvSpPr txBox="1"/>
          <p:nvPr>
            <p:ph idx="3" type="title"/>
          </p:nvPr>
        </p:nvSpPr>
        <p:spPr>
          <a:xfrm>
            <a:off x="5043886" y="1545125"/>
            <a:ext cx="20175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70" name="Google Shape;170;p23"/>
          <p:cNvSpPr txBox="1"/>
          <p:nvPr>
            <p:ph idx="4" type="subTitle"/>
          </p:nvPr>
        </p:nvSpPr>
        <p:spPr>
          <a:xfrm>
            <a:off x="5043892" y="1974450"/>
            <a:ext cx="2017500" cy="56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1" name="Google Shape;171;p23"/>
          <p:cNvSpPr txBox="1"/>
          <p:nvPr>
            <p:ph idx="5" type="title"/>
          </p:nvPr>
        </p:nvSpPr>
        <p:spPr>
          <a:xfrm>
            <a:off x="2082600" y="3005350"/>
            <a:ext cx="20175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72" name="Google Shape;172;p23"/>
          <p:cNvSpPr txBox="1"/>
          <p:nvPr>
            <p:ph idx="6" type="subTitle"/>
          </p:nvPr>
        </p:nvSpPr>
        <p:spPr>
          <a:xfrm>
            <a:off x="2082609" y="3437075"/>
            <a:ext cx="2017500" cy="56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73" name="Google Shape;173;p23"/>
          <p:cNvSpPr txBox="1"/>
          <p:nvPr>
            <p:ph idx="7" type="title"/>
          </p:nvPr>
        </p:nvSpPr>
        <p:spPr>
          <a:xfrm>
            <a:off x="5043877" y="3005350"/>
            <a:ext cx="20175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74" name="Google Shape;174;p23"/>
          <p:cNvSpPr txBox="1"/>
          <p:nvPr>
            <p:ph idx="8" type="subTitle"/>
          </p:nvPr>
        </p:nvSpPr>
        <p:spPr>
          <a:xfrm>
            <a:off x="5043883" y="3437075"/>
            <a:ext cx="2017500" cy="56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175" name="Google Shape;175;p23"/>
          <p:cNvCxnSpPr/>
          <p:nvPr/>
        </p:nvCxnSpPr>
        <p:spPr>
          <a:xfrm>
            <a:off x="745025" y="4603500"/>
            <a:ext cx="3173400" cy="0"/>
          </a:xfrm>
          <a:prstGeom prst="straightConnector1">
            <a:avLst/>
          </a:prstGeom>
          <a:noFill/>
          <a:ln cap="flat" cmpd="sng" w="9525">
            <a:solidFill>
              <a:srgbClr val="364F52"/>
            </a:solidFill>
            <a:prstDash val="solid"/>
            <a:round/>
            <a:headEnd len="med" w="med" type="none"/>
            <a:tailEnd len="med" w="med" type="none"/>
          </a:ln>
        </p:spPr>
      </p:cxnSp>
      <p:cxnSp>
        <p:nvCxnSpPr>
          <p:cNvPr id="176" name="Google Shape;176;p23"/>
          <p:cNvCxnSpPr/>
          <p:nvPr/>
        </p:nvCxnSpPr>
        <p:spPr>
          <a:xfrm>
            <a:off x="5250600" y="4603500"/>
            <a:ext cx="3173400" cy="0"/>
          </a:xfrm>
          <a:prstGeom prst="straightConnector1">
            <a:avLst/>
          </a:prstGeom>
          <a:noFill/>
          <a:ln cap="flat" cmpd="sng" w="9525">
            <a:solidFill>
              <a:srgbClr val="364F52"/>
            </a:solidFill>
            <a:prstDash val="solid"/>
            <a:round/>
            <a:headEnd len="med" w="med" type="none"/>
            <a:tailEnd len="med" w="med" type="none"/>
          </a:ln>
        </p:spPr>
      </p:cxnSp>
      <p:sp>
        <p:nvSpPr>
          <p:cNvPr id="177" name="Google Shape;177;p23"/>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BLANK_1_1_1_1_1">
    <p:spTree>
      <p:nvGrpSpPr>
        <p:cNvPr id="178" name="Shape 178"/>
        <p:cNvGrpSpPr/>
        <p:nvPr/>
      </p:nvGrpSpPr>
      <p:grpSpPr>
        <a:xfrm>
          <a:off x="0" y="0"/>
          <a:ext cx="0" cy="0"/>
          <a:chOff x="0" y="0"/>
          <a:chExt cx="0" cy="0"/>
        </a:xfrm>
      </p:grpSpPr>
      <p:sp>
        <p:nvSpPr>
          <p:cNvPr id="179" name="Google Shape;179;p24"/>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4"/>
          <p:cNvSpPr txBox="1"/>
          <p:nvPr>
            <p:ph type="title"/>
          </p:nvPr>
        </p:nvSpPr>
        <p:spPr>
          <a:xfrm>
            <a:off x="720000" y="748500"/>
            <a:ext cx="7704000" cy="5643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181" name="Google Shape;181;p24"/>
          <p:cNvSpPr txBox="1"/>
          <p:nvPr>
            <p:ph idx="2" type="title"/>
          </p:nvPr>
        </p:nvSpPr>
        <p:spPr>
          <a:xfrm>
            <a:off x="849900" y="1566300"/>
            <a:ext cx="20457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82" name="Google Shape;182;p24"/>
          <p:cNvSpPr txBox="1"/>
          <p:nvPr>
            <p:ph idx="1" type="subTitle"/>
          </p:nvPr>
        </p:nvSpPr>
        <p:spPr>
          <a:xfrm>
            <a:off x="849900" y="2013125"/>
            <a:ext cx="2045700" cy="628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3" name="Google Shape;183;p24"/>
          <p:cNvSpPr txBox="1"/>
          <p:nvPr>
            <p:ph idx="3" type="title"/>
          </p:nvPr>
        </p:nvSpPr>
        <p:spPr>
          <a:xfrm>
            <a:off x="3549174" y="1566300"/>
            <a:ext cx="20457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84" name="Google Shape;184;p24"/>
          <p:cNvSpPr txBox="1"/>
          <p:nvPr>
            <p:ph idx="4" type="subTitle"/>
          </p:nvPr>
        </p:nvSpPr>
        <p:spPr>
          <a:xfrm>
            <a:off x="3549175" y="2013127"/>
            <a:ext cx="2045700" cy="628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5" name="Google Shape;185;p24"/>
          <p:cNvSpPr txBox="1"/>
          <p:nvPr>
            <p:ph idx="5" type="title"/>
          </p:nvPr>
        </p:nvSpPr>
        <p:spPr>
          <a:xfrm>
            <a:off x="849900" y="3084904"/>
            <a:ext cx="20457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86" name="Google Shape;186;p24"/>
          <p:cNvSpPr txBox="1"/>
          <p:nvPr>
            <p:ph idx="6" type="subTitle"/>
          </p:nvPr>
        </p:nvSpPr>
        <p:spPr>
          <a:xfrm>
            <a:off x="849875" y="3516362"/>
            <a:ext cx="2045700" cy="628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7" name="Google Shape;187;p24"/>
          <p:cNvSpPr txBox="1"/>
          <p:nvPr>
            <p:ph idx="7" type="title"/>
          </p:nvPr>
        </p:nvSpPr>
        <p:spPr>
          <a:xfrm>
            <a:off x="3549174" y="3084905"/>
            <a:ext cx="20457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88" name="Google Shape;188;p24"/>
          <p:cNvSpPr txBox="1"/>
          <p:nvPr>
            <p:ph idx="8" type="subTitle"/>
          </p:nvPr>
        </p:nvSpPr>
        <p:spPr>
          <a:xfrm>
            <a:off x="3549150" y="3516366"/>
            <a:ext cx="2045700" cy="628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89" name="Google Shape;189;p24"/>
          <p:cNvSpPr txBox="1"/>
          <p:nvPr>
            <p:ph idx="9" type="title"/>
          </p:nvPr>
        </p:nvSpPr>
        <p:spPr>
          <a:xfrm>
            <a:off x="6248450" y="1566300"/>
            <a:ext cx="20457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90" name="Google Shape;190;p24"/>
          <p:cNvSpPr txBox="1"/>
          <p:nvPr>
            <p:ph idx="13" type="subTitle"/>
          </p:nvPr>
        </p:nvSpPr>
        <p:spPr>
          <a:xfrm>
            <a:off x="6248450" y="2013127"/>
            <a:ext cx="2045700" cy="628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191" name="Google Shape;191;p24"/>
          <p:cNvSpPr txBox="1"/>
          <p:nvPr>
            <p:ph idx="14" type="title"/>
          </p:nvPr>
        </p:nvSpPr>
        <p:spPr>
          <a:xfrm>
            <a:off x="6248450" y="3084905"/>
            <a:ext cx="2045700" cy="527700"/>
          </a:xfrm>
          <a:prstGeom prst="rect">
            <a:avLst/>
          </a:prstGeom>
          <a:noFill/>
          <a:ln>
            <a:noFill/>
          </a:ln>
        </p:spPr>
        <p:txBody>
          <a:bodyPr anchorCtr="0" anchor="ctr" bIns="91425" lIns="91425" spcFirstLastPara="1" rIns="91425" wrap="square" tIns="91425">
            <a:noAutofit/>
          </a:bodyPr>
          <a:lstStyle>
            <a:lvl1pPr lvl="0" rtl="0" algn="ctr">
              <a:spcBef>
                <a:spcPts val="0"/>
              </a:spcBef>
              <a:spcAft>
                <a:spcPts val="0"/>
              </a:spcAft>
              <a:buSzPts val="2400"/>
              <a:buNone/>
              <a:defRPr sz="26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
        <p:nvSpPr>
          <p:cNvPr id="192" name="Google Shape;192;p24"/>
          <p:cNvSpPr txBox="1"/>
          <p:nvPr>
            <p:ph idx="15" type="subTitle"/>
          </p:nvPr>
        </p:nvSpPr>
        <p:spPr>
          <a:xfrm>
            <a:off x="6248426" y="3516366"/>
            <a:ext cx="2045700" cy="628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cxnSp>
        <p:nvCxnSpPr>
          <p:cNvPr id="193" name="Google Shape;193;p24"/>
          <p:cNvCxnSpPr/>
          <p:nvPr/>
        </p:nvCxnSpPr>
        <p:spPr>
          <a:xfrm>
            <a:off x="745025" y="4603500"/>
            <a:ext cx="3173400" cy="0"/>
          </a:xfrm>
          <a:prstGeom prst="straightConnector1">
            <a:avLst/>
          </a:prstGeom>
          <a:noFill/>
          <a:ln cap="flat" cmpd="sng" w="9525">
            <a:solidFill>
              <a:srgbClr val="364F52"/>
            </a:solidFill>
            <a:prstDash val="solid"/>
            <a:round/>
            <a:headEnd len="med" w="med" type="none"/>
            <a:tailEnd len="med" w="med" type="none"/>
          </a:ln>
        </p:spPr>
      </p:cxnSp>
      <p:cxnSp>
        <p:nvCxnSpPr>
          <p:cNvPr id="194" name="Google Shape;194;p24"/>
          <p:cNvCxnSpPr/>
          <p:nvPr/>
        </p:nvCxnSpPr>
        <p:spPr>
          <a:xfrm>
            <a:off x="5250600" y="4603500"/>
            <a:ext cx="3173400" cy="0"/>
          </a:xfrm>
          <a:prstGeom prst="straightConnector1">
            <a:avLst/>
          </a:prstGeom>
          <a:noFill/>
          <a:ln cap="flat" cmpd="sng" w="9525">
            <a:solidFill>
              <a:srgbClr val="364F52"/>
            </a:solidFill>
            <a:prstDash val="solid"/>
            <a:round/>
            <a:headEnd len="med" w="med" type="none"/>
            <a:tailEnd len="med" w="med" type="none"/>
          </a:ln>
        </p:spPr>
      </p:cxnSp>
      <p:sp>
        <p:nvSpPr>
          <p:cNvPr id="195" name="Google Shape;195;p24"/>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BLANK_1_1_1_1_1_1">
    <p:spTree>
      <p:nvGrpSpPr>
        <p:cNvPr id="196" name="Shape 196"/>
        <p:cNvGrpSpPr/>
        <p:nvPr/>
      </p:nvGrpSpPr>
      <p:grpSpPr>
        <a:xfrm>
          <a:off x="0" y="0"/>
          <a:ext cx="0" cy="0"/>
          <a:chOff x="0" y="0"/>
          <a:chExt cx="0" cy="0"/>
        </a:xfrm>
      </p:grpSpPr>
      <p:sp>
        <p:nvSpPr>
          <p:cNvPr id="197" name="Google Shape;197;p25"/>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8" name="Google Shape;198;p25"/>
          <p:cNvCxnSpPr/>
          <p:nvPr/>
        </p:nvCxnSpPr>
        <p:spPr>
          <a:xfrm>
            <a:off x="745025" y="4603500"/>
            <a:ext cx="3173400" cy="0"/>
          </a:xfrm>
          <a:prstGeom prst="straightConnector1">
            <a:avLst/>
          </a:prstGeom>
          <a:noFill/>
          <a:ln cap="flat" cmpd="sng" w="9525">
            <a:solidFill>
              <a:srgbClr val="364F52"/>
            </a:solidFill>
            <a:prstDash val="solid"/>
            <a:round/>
            <a:headEnd len="med" w="med" type="none"/>
            <a:tailEnd len="med" w="med" type="none"/>
          </a:ln>
        </p:spPr>
      </p:cxnSp>
      <p:cxnSp>
        <p:nvCxnSpPr>
          <p:cNvPr id="199" name="Google Shape;199;p25"/>
          <p:cNvCxnSpPr/>
          <p:nvPr/>
        </p:nvCxnSpPr>
        <p:spPr>
          <a:xfrm>
            <a:off x="5250600" y="4603500"/>
            <a:ext cx="3173400" cy="0"/>
          </a:xfrm>
          <a:prstGeom prst="straightConnector1">
            <a:avLst/>
          </a:prstGeom>
          <a:noFill/>
          <a:ln cap="flat" cmpd="sng" w="9525">
            <a:solidFill>
              <a:srgbClr val="364F52"/>
            </a:solidFill>
            <a:prstDash val="solid"/>
            <a:round/>
            <a:headEnd len="med" w="med" type="none"/>
            <a:tailEnd len="med" w="med" type="none"/>
          </a:ln>
        </p:spPr>
      </p:cxnSp>
      <p:sp>
        <p:nvSpPr>
          <p:cNvPr id="200" name="Google Shape;200;p25"/>
          <p:cNvSpPr txBox="1"/>
          <p:nvPr>
            <p:ph hasCustomPrompt="1" type="title"/>
          </p:nvPr>
        </p:nvSpPr>
        <p:spPr>
          <a:xfrm rot="-425">
            <a:off x="5954462" y="2382870"/>
            <a:ext cx="2427600" cy="9912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6200"/>
              <a:buNone/>
              <a:defRPr sz="62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01" name="Google Shape;201;p25"/>
          <p:cNvSpPr txBox="1"/>
          <p:nvPr>
            <p:ph idx="1" type="subTitle"/>
          </p:nvPr>
        </p:nvSpPr>
        <p:spPr>
          <a:xfrm>
            <a:off x="5954462" y="3237982"/>
            <a:ext cx="2427600" cy="56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2" name="Google Shape;202;p25"/>
          <p:cNvSpPr txBox="1"/>
          <p:nvPr>
            <p:ph hasCustomPrompt="1" idx="2" type="title"/>
          </p:nvPr>
        </p:nvSpPr>
        <p:spPr>
          <a:xfrm>
            <a:off x="3356100" y="2382720"/>
            <a:ext cx="2427600" cy="9912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6200"/>
              <a:buNone/>
              <a:defRPr sz="62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03" name="Google Shape;203;p25"/>
          <p:cNvSpPr txBox="1"/>
          <p:nvPr>
            <p:ph idx="3" type="subTitle"/>
          </p:nvPr>
        </p:nvSpPr>
        <p:spPr>
          <a:xfrm>
            <a:off x="3356100" y="3237982"/>
            <a:ext cx="2427600" cy="567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4" name="Google Shape;204;p25"/>
          <p:cNvSpPr txBox="1"/>
          <p:nvPr>
            <p:ph idx="4" type="title"/>
          </p:nvPr>
        </p:nvSpPr>
        <p:spPr>
          <a:xfrm>
            <a:off x="720000" y="748500"/>
            <a:ext cx="7704000" cy="564300"/>
          </a:xfrm>
          <a:prstGeom prst="rect">
            <a:avLst/>
          </a:prstGeom>
        </p:spPr>
        <p:txBody>
          <a:bodyPr anchorCtr="0" anchor="b" bIns="91425" lIns="91425" spcFirstLastPara="1" rIns="91425" wrap="square" tIns="91425">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p:txBody>
      </p:sp>
      <p:sp>
        <p:nvSpPr>
          <p:cNvPr id="205" name="Google Shape;205;p25"/>
          <p:cNvSpPr txBox="1"/>
          <p:nvPr>
            <p:ph hasCustomPrompt="1" idx="5" type="title"/>
          </p:nvPr>
        </p:nvSpPr>
        <p:spPr>
          <a:xfrm rot="-426">
            <a:off x="762981" y="2368863"/>
            <a:ext cx="2421300" cy="9912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6200"/>
              <a:buNone/>
              <a:defRPr sz="6200"/>
            </a:lvl1pPr>
            <a:lvl2pPr lvl="1" rtl="0" algn="ctr">
              <a:spcBef>
                <a:spcPts val="0"/>
              </a:spcBef>
              <a:spcAft>
                <a:spcPts val="0"/>
              </a:spcAft>
              <a:buSzPts val="6200"/>
              <a:buNone/>
              <a:defRPr sz="6200"/>
            </a:lvl2pPr>
            <a:lvl3pPr lvl="2" rtl="0" algn="ctr">
              <a:spcBef>
                <a:spcPts val="0"/>
              </a:spcBef>
              <a:spcAft>
                <a:spcPts val="0"/>
              </a:spcAft>
              <a:buSzPts val="6200"/>
              <a:buNone/>
              <a:defRPr sz="6200"/>
            </a:lvl3pPr>
            <a:lvl4pPr lvl="3" rtl="0" algn="ctr">
              <a:spcBef>
                <a:spcPts val="0"/>
              </a:spcBef>
              <a:spcAft>
                <a:spcPts val="0"/>
              </a:spcAft>
              <a:buSzPts val="6200"/>
              <a:buNone/>
              <a:defRPr sz="6200"/>
            </a:lvl4pPr>
            <a:lvl5pPr lvl="4" rtl="0" algn="ctr">
              <a:spcBef>
                <a:spcPts val="0"/>
              </a:spcBef>
              <a:spcAft>
                <a:spcPts val="0"/>
              </a:spcAft>
              <a:buSzPts val="6200"/>
              <a:buNone/>
              <a:defRPr sz="6200"/>
            </a:lvl5pPr>
            <a:lvl6pPr lvl="5" rtl="0" algn="ctr">
              <a:spcBef>
                <a:spcPts val="0"/>
              </a:spcBef>
              <a:spcAft>
                <a:spcPts val="0"/>
              </a:spcAft>
              <a:buSzPts val="6200"/>
              <a:buNone/>
              <a:defRPr sz="6200"/>
            </a:lvl6pPr>
            <a:lvl7pPr lvl="6" rtl="0" algn="ctr">
              <a:spcBef>
                <a:spcPts val="0"/>
              </a:spcBef>
              <a:spcAft>
                <a:spcPts val="0"/>
              </a:spcAft>
              <a:buSzPts val="6200"/>
              <a:buNone/>
              <a:defRPr sz="6200"/>
            </a:lvl7pPr>
            <a:lvl8pPr lvl="7" rtl="0" algn="ctr">
              <a:spcBef>
                <a:spcPts val="0"/>
              </a:spcBef>
              <a:spcAft>
                <a:spcPts val="0"/>
              </a:spcAft>
              <a:buSzPts val="6200"/>
              <a:buNone/>
              <a:defRPr sz="6200"/>
            </a:lvl8pPr>
            <a:lvl9pPr lvl="8" rtl="0" algn="ctr">
              <a:spcBef>
                <a:spcPts val="0"/>
              </a:spcBef>
              <a:spcAft>
                <a:spcPts val="0"/>
              </a:spcAft>
              <a:buSzPts val="6200"/>
              <a:buNone/>
              <a:defRPr sz="6200"/>
            </a:lvl9pPr>
          </a:lstStyle>
          <a:p>
            <a:r>
              <a:t>xx%</a:t>
            </a:r>
          </a:p>
        </p:txBody>
      </p:sp>
      <p:sp>
        <p:nvSpPr>
          <p:cNvPr id="206" name="Google Shape;206;p25"/>
          <p:cNvSpPr txBox="1"/>
          <p:nvPr>
            <p:ph idx="6" type="subTitle"/>
          </p:nvPr>
        </p:nvSpPr>
        <p:spPr>
          <a:xfrm>
            <a:off x="762981" y="3231996"/>
            <a:ext cx="2421300" cy="5643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207" name="Google Shape;207;p25"/>
          <p:cNvSpPr txBox="1"/>
          <p:nvPr>
            <p:ph idx="12" type="sldNum"/>
          </p:nvPr>
        </p:nvSpPr>
        <p:spPr>
          <a:xfrm>
            <a:off x="8082759" y="430201"/>
            <a:ext cx="356700" cy="219600"/>
          </a:xfrm>
          <a:prstGeom prst="rect">
            <a:avLst/>
          </a:prstGeom>
        </p:spPr>
        <p:txBody>
          <a:bodyPr anchorCtr="0" anchor="ctr" bIns="91425" lIns="91425" spcFirstLastPara="1" rIns="91425" wrap="square" tIns="91425">
            <a:noAutofit/>
          </a:bodyPr>
          <a:lstStyle>
            <a:lvl1pPr lvl="0" rtl="0">
              <a:buNone/>
              <a:defRPr sz="1200">
                <a:latin typeface="Arapey"/>
                <a:ea typeface="Arapey"/>
                <a:cs typeface="Arapey"/>
                <a:sym typeface="Arapey"/>
              </a:defRPr>
            </a:lvl1pPr>
            <a:lvl2pPr lvl="1" rtl="0">
              <a:buNone/>
              <a:defRPr sz="1200">
                <a:latin typeface="Arapey"/>
                <a:ea typeface="Arapey"/>
                <a:cs typeface="Arapey"/>
                <a:sym typeface="Arapey"/>
              </a:defRPr>
            </a:lvl2pPr>
            <a:lvl3pPr lvl="2" rtl="0">
              <a:buNone/>
              <a:defRPr sz="1200">
                <a:latin typeface="Arapey"/>
                <a:ea typeface="Arapey"/>
                <a:cs typeface="Arapey"/>
                <a:sym typeface="Arapey"/>
              </a:defRPr>
            </a:lvl3pPr>
            <a:lvl4pPr lvl="3" rtl="0">
              <a:buNone/>
              <a:defRPr sz="1200">
                <a:latin typeface="Arapey"/>
                <a:ea typeface="Arapey"/>
                <a:cs typeface="Arapey"/>
                <a:sym typeface="Arapey"/>
              </a:defRPr>
            </a:lvl4pPr>
            <a:lvl5pPr lvl="4" rtl="0">
              <a:buNone/>
              <a:defRPr sz="1200">
                <a:latin typeface="Arapey"/>
                <a:ea typeface="Arapey"/>
                <a:cs typeface="Arapey"/>
                <a:sym typeface="Arapey"/>
              </a:defRPr>
            </a:lvl5pPr>
            <a:lvl6pPr lvl="5" rtl="0">
              <a:buNone/>
              <a:defRPr sz="1200">
                <a:latin typeface="Arapey"/>
                <a:ea typeface="Arapey"/>
                <a:cs typeface="Arapey"/>
                <a:sym typeface="Arapey"/>
              </a:defRPr>
            </a:lvl6pPr>
            <a:lvl7pPr lvl="6" rtl="0">
              <a:buNone/>
              <a:defRPr sz="1200">
                <a:latin typeface="Arapey"/>
                <a:ea typeface="Arapey"/>
                <a:cs typeface="Arapey"/>
                <a:sym typeface="Arapey"/>
              </a:defRPr>
            </a:lvl7pPr>
            <a:lvl8pPr lvl="7" rtl="0">
              <a:buNone/>
              <a:defRPr sz="1200">
                <a:latin typeface="Arapey"/>
                <a:ea typeface="Arapey"/>
                <a:cs typeface="Arapey"/>
                <a:sym typeface="Arapey"/>
              </a:defRPr>
            </a:lvl8pPr>
            <a:lvl9pPr lvl="8" rtl="0">
              <a:buNone/>
              <a:defRPr sz="1200">
                <a:latin typeface="Arapey"/>
                <a:ea typeface="Arapey"/>
                <a:cs typeface="Arapey"/>
                <a:sym typeface="Arapey"/>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BLANK_1_1_1_1_1_1_2">
    <p:spTree>
      <p:nvGrpSpPr>
        <p:cNvPr id="208" name="Shape 208"/>
        <p:cNvGrpSpPr/>
        <p:nvPr/>
      </p:nvGrpSpPr>
      <p:grpSpPr>
        <a:xfrm>
          <a:off x="0" y="0"/>
          <a:ext cx="0" cy="0"/>
          <a:chOff x="0" y="0"/>
          <a:chExt cx="0" cy="0"/>
        </a:xfrm>
      </p:grpSpPr>
      <p:sp>
        <p:nvSpPr>
          <p:cNvPr id="209" name="Google Shape;209;p26"/>
          <p:cNvSpPr/>
          <p:nvPr/>
        </p:nvSpPr>
        <p:spPr>
          <a:xfrm>
            <a:off x="365925" y="236400"/>
            <a:ext cx="37854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26"/>
          <p:cNvSpPr txBox="1"/>
          <p:nvPr>
            <p:ph type="ctrTitle"/>
          </p:nvPr>
        </p:nvSpPr>
        <p:spPr>
          <a:xfrm>
            <a:off x="695325" y="540000"/>
            <a:ext cx="3029100" cy="11265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SzPts val="5200"/>
              <a:buNone/>
              <a:defRPr sz="65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211" name="Google Shape;211;p26"/>
          <p:cNvSpPr txBox="1"/>
          <p:nvPr>
            <p:ph idx="1" type="subTitle"/>
          </p:nvPr>
        </p:nvSpPr>
        <p:spPr>
          <a:xfrm>
            <a:off x="733475" y="1696175"/>
            <a:ext cx="3026700" cy="1227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400"/>
              <a:buNone/>
              <a:defRPr sz="1600">
                <a:solidFill>
                  <a:schemeClr val="dk1"/>
                </a:solidFill>
              </a:defRPr>
            </a:lvl1pPr>
            <a:lvl2pPr lvl="1" rtl="0" algn="ctr">
              <a:lnSpc>
                <a:spcPct val="100000"/>
              </a:lnSpc>
              <a:spcBef>
                <a:spcPts val="0"/>
              </a:spcBef>
              <a:spcAft>
                <a:spcPts val="0"/>
              </a:spcAft>
              <a:buClr>
                <a:schemeClr val="dk1"/>
              </a:buClr>
              <a:buSzPts val="1800"/>
              <a:buNone/>
              <a:defRPr sz="1800">
                <a:solidFill>
                  <a:schemeClr val="dk1"/>
                </a:solidFill>
              </a:defRPr>
            </a:lvl2pPr>
            <a:lvl3pPr lvl="2" rtl="0" algn="ctr">
              <a:lnSpc>
                <a:spcPct val="100000"/>
              </a:lnSpc>
              <a:spcBef>
                <a:spcPts val="0"/>
              </a:spcBef>
              <a:spcAft>
                <a:spcPts val="0"/>
              </a:spcAft>
              <a:buClr>
                <a:schemeClr val="dk1"/>
              </a:buClr>
              <a:buSzPts val="1800"/>
              <a:buNone/>
              <a:defRPr sz="1800">
                <a:solidFill>
                  <a:schemeClr val="dk1"/>
                </a:solidFill>
              </a:defRPr>
            </a:lvl3pPr>
            <a:lvl4pPr lvl="3" rtl="0" algn="ctr">
              <a:lnSpc>
                <a:spcPct val="100000"/>
              </a:lnSpc>
              <a:spcBef>
                <a:spcPts val="0"/>
              </a:spcBef>
              <a:spcAft>
                <a:spcPts val="0"/>
              </a:spcAft>
              <a:buClr>
                <a:schemeClr val="dk1"/>
              </a:buClr>
              <a:buSzPts val="1800"/>
              <a:buNone/>
              <a:defRPr sz="1800">
                <a:solidFill>
                  <a:schemeClr val="dk1"/>
                </a:solidFill>
              </a:defRPr>
            </a:lvl4pPr>
            <a:lvl5pPr lvl="4" rtl="0" algn="ctr">
              <a:lnSpc>
                <a:spcPct val="100000"/>
              </a:lnSpc>
              <a:spcBef>
                <a:spcPts val="0"/>
              </a:spcBef>
              <a:spcAft>
                <a:spcPts val="0"/>
              </a:spcAft>
              <a:buClr>
                <a:schemeClr val="dk1"/>
              </a:buClr>
              <a:buSzPts val="1800"/>
              <a:buNone/>
              <a:defRPr sz="1800">
                <a:solidFill>
                  <a:schemeClr val="dk1"/>
                </a:solidFill>
              </a:defRPr>
            </a:lvl5pPr>
            <a:lvl6pPr lvl="5" rtl="0" algn="ctr">
              <a:lnSpc>
                <a:spcPct val="100000"/>
              </a:lnSpc>
              <a:spcBef>
                <a:spcPts val="0"/>
              </a:spcBef>
              <a:spcAft>
                <a:spcPts val="0"/>
              </a:spcAft>
              <a:buClr>
                <a:schemeClr val="dk1"/>
              </a:buClr>
              <a:buSzPts val="1800"/>
              <a:buNone/>
              <a:defRPr sz="1800">
                <a:solidFill>
                  <a:schemeClr val="dk1"/>
                </a:solidFill>
              </a:defRPr>
            </a:lvl6pPr>
            <a:lvl7pPr lvl="6" rtl="0" algn="ctr">
              <a:lnSpc>
                <a:spcPct val="100000"/>
              </a:lnSpc>
              <a:spcBef>
                <a:spcPts val="0"/>
              </a:spcBef>
              <a:spcAft>
                <a:spcPts val="0"/>
              </a:spcAft>
              <a:buClr>
                <a:schemeClr val="dk1"/>
              </a:buClr>
              <a:buSzPts val="1800"/>
              <a:buNone/>
              <a:defRPr sz="1800">
                <a:solidFill>
                  <a:schemeClr val="dk1"/>
                </a:solidFill>
              </a:defRPr>
            </a:lvl7pPr>
            <a:lvl8pPr lvl="7" rtl="0" algn="ctr">
              <a:lnSpc>
                <a:spcPct val="100000"/>
              </a:lnSpc>
              <a:spcBef>
                <a:spcPts val="0"/>
              </a:spcBef>
              <a:spcAft>
                <a:spcPts val="0"/>
              </a:spcAft>
              <a:buClr>
                <a:schemeClr val="dk1"/>
              </a:buClr>
              <a:buSzPts val="1800"/>
              <a:buNone/>
              <a:defRPr sz="1800">
                <a:solidFill>
                  <a:schemeClr val="dk1"/>
                </a:solidFill>
              </a:defRPr>
            </a:lvl8pPr>
            <a:lvl9pPr lvl="8" rtl="0" algn="ctr">
              <a:lnSpc>
                <a:spcPct val="100000"/>
              </a:lnSpc>
              <a:spcBef>
                <a:spcPts val="0"/>
              </a:spcBef>
              <a:spcAft>
                <a:spcPts val="0"/>
              </a:spcAft>
              <a:buClr>
                <a:schemeClr val="dk1"/>
              </a:buClr>
              <a:buSzPts val="1800"/>
              <a:buNone/>
              <a:defRPr sz="1800">
                <a:solidFill>
                  <a:schemeClr val="dk1"/>
                </a:solidFill>
              </a:defRPr>
            </a:lvl9pPr>
          </a:lstStyle>
          <a:p/>
        </p:txBody>
      </p:sp>
      <p:sp>
        <p:nvSpPr>
          <p:cNvPr id="212" name="Google Shape;212;p26"/>
          <p:cNvSpPr txBox="1"/>
          <p:nvPr>
            <p:ph idx="2" type="subTitle"/>
          </p:nvPr>
        </p:nvSpPr>
        <p:spPr>
          <a:xfrm rot="-962">
            <a:off x="601520" y="3928342"/>
            <a:ext cx="3216600" cy="373200"/>
          </a:xfrm>
          <a:prstGeom prst="rect">
            <a:avLst/>
          </a:prstGeom>
          <a:noFill/>
          <a:ln>
            <a:noFill/>
          </a:ln>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1100"/>
              <a:buNone/>
              <a:defRPr sz="1000"/>
            </a:lvl1pPr>
            <a:lvl2pPr lvl="1" rtl="0" algn="ctr">
              <a:lnSpc>
                <a:spcPct val="100000"/>
              </a:lnSpc>
              <a:spcBef>
                <a:spcPts val="0"/>
              </a:spcBef>
              <a:spcAft>
                <a:spcPts val="0"/>
              </a:spcAft>
              <a:buClr>
                <a:schemeClr val="dk1"/>
              </a:buClr>
              <a:buSzPts val="1100"/>
              <a:buNone/>
              <a:defRPr sz="1100">
                <a:solidFill>
                  <a:schemeClr val="dk1"/>
                </a:solidFill>
              </a:defRPr>
            </a:lvl2pPr>
            <a:lvl3pPr lvl="2" rtl="0" algn="ctr">
              <a:lnSpc>
                <a:spcPct val="100000"/>
              </a:lnSpc>
              <a:spcBef>
                <a:spcPts val="0"/>
              </a:spcBef>
              <a:spcAft>
                <a:spcPts val="0"/>
              </a:spcAft>
              <a:buClr>
                <a:schemeClr val="dk1"/>
              </a:buClr>
              <a:buSzPts val="1100"/>
              <a:buNone/>
              <a:defRPr sz="1100">
                <a:solidFill>
                  <a:schemeClr val="dk1"/>
                </a:solidFill>
              </a:defRPr>
            </a:lvl3pPr>
            <a:lvl4pPr lvl="3" rtl="0" algn="ctr">
              <a:lnSpc>
                <a:spcPct val="100000"/>
              </a:lnSpc>
              <a:spcBef>
                <a:spcPts val="0"/>
              </a:spcBef>
              <a:spcAft>
                <a:spcPts val="0"/>
              </a:spcAft>
              <a:buClr>
                <a:schemeClr val="dk1"/>
              </a:buClr>
              <a:buSzPts val="1100"/>
              <a:buNone/>
              <a:defRPr sz="1100">
                <a:solidFill>
                  <a:schemeClr val="dk1"/>
                </a:solidFill>
              </a:defRPr>
            </a:lvl4pPr>
            <a:lvl5pPr lvl="4" rtl="0" algn="ctr">
              <a:lnSpc>
                <a:spcPct val="100000"/>
              </a:lnSpc>
              <a:spcBef>
                <a:spcPts val="0"/>
              </a:spcBef>
              <a:spcAft>
                <a:spcPts val="0"/>
              </a:spcAft>
              <a:buClr>
                <a:schemeClr val="dk1"/>
              </a:buClr>
              <a:buSzPts val="1100"/>
              <a:buNone/>
              <a:defRPr sz="1100">
                <a:solidFill>
                  <a:schemeClr val="dk1"/>
                </a:solidFill>
              </a:defRPr>
            </a:lvl5pPr>
            <a:lvl6pPr lvl="5" rtl="0" algn="ctr">
              <a:lnSpc>
                <a:spcPct val="100000"/>
              </a:lnSpc>
              <a:spcBef>
                <a:spcPts val="0"/>
              </a:spcBef>
              <a:spcAft>
                <a:spcPts val="0"/>
              </a:spcAft>
              <a:buClr>
                <a:schemeClr val="dk1"/>
              </a:buClr>
              <a:buSzPts val="1100"/>
              <a:buNone/>
              <a:defRPr sz="1100">
                <a:solidFill>
                  <a:schemeClr val="dk1"/>
                </a:solidFill>
              </a:defRPr>
            </a:lvl6pPr>
            <a:lvl7pPr lvl="6" rtl="0" algn="ctr">
              <a:lnSpc>
                <a:spcPct val="100000"/>
              </a:lnSpc>
              <a:spcBef>
                <a:spcPts val="0"/>
              </a:spcBef>
              <a:spcAft>
                <a:spcPts val="0"/>
              </a:spcAft>
              <a:buClr>
                <a:schemeClr val="dk1"/>
              </a:buClr>
              <a:buSzPts val="1100"/>
              <a:buNone/>
              <a:defRPr sz="1100">
                <a:solidFill>
                  <a:schemeClr val="dk1"/>
                </a:solidFill>
              </a:defRPr>
            </a:lvl7pPr>
            <a:lvl8pPr lvl="7" rtl="0" algn="ctr">
              <a:lnSpc>
                <a:spcPct val="100000"/>
              </a:lnSpc>
              <a:spcBef>
                <a:spcPts val="0"/>
              </a:spcBef>
              <a:spcAft>
                <a:spcPts val="0"/>
              </a:spcAft>
              <a:buClr>
                <a:schemeClr val="dk1"/>
              </a:buClr>
              <a:buSzPts val="1100"/>
              <a:buNone/>
              <a:defRPr sz="1100">
                <a:solidFill>
                  <a:schemeClr val="dk1"/>
                </a:solidFill>
              </a:defRPr>
            </a:lvl8pPr>
            <a:lvl9pPr lvl="8" rtl="0" algn="ctr">
              <a:lnSpc>
                <a:spcPct val="100000"/>
              </a:lnSpc>
              <a:spcBef>
                <a:spcPts val="0"/>
              </a:spcBef>
              <a:spcAft>
                <a:spcPts val="0"/>
              </a:spcAft>
              <a:buClr>
                <a:schemeClr val="dk1"/>
              </a:buClr>
              <a:buSzPts val="1100"/>
              <a:buNone/>
              <a:defRPr sz="1100">
                <a:solidFill>
                  <a:schemeClr val="dk1"/>
                </a:solidFill>
              </a:defRPr>
            </a:lvl9pPr>
          </a:lstStyle>
          <a:p/>
        </p:txBody>
      </p:sp>
      <p:sp>
        <p:nvSpPr>
          <p:cNvPr id="213" name="Google Shape;213;p26"/>
          <p:cNvSpPr txBox="1"/>
          <p:nvPr/>
        </p:nvSpPr>
        <p:spPr>
          <a:xfrm>
            <a:off x="695275" y="3099400"/>
            <a:ext cx="3029100" cy="7866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100">
                <a:solidFill>
                  <a:schemeClr val="lt1"/>
                </a:solidFill>
                <a:latin typeface="Didact Gothic"/>
                <a:ea typeface="Didact Gothic"/>
                <a:cs typeface="Didact Gothic"/>
                <a:sym typeface="Didact Gothic"/>
              </a:rPr>
              <a:t>CREDITS:</a:t>
            </a:r>
            <a:r>
              <a:rPr lang="en" sz="1100">
                <a:solidFill>
                  <a:schemeClr val="lt1"/>
                </a:solidFill>
                <a:latin typeface="Didact Gothic"/>
                <a:ea typeface="Didact Gothic"/>
                <a:cs typeface="Didact Gothic"/>
                <a:sym typeface="Didact Gothic"/>
              </a:rPr>
              <a:t> This presentation template was created by </a:t>
            </a:r>
            <a:r>
              <a:rPr b="1" lang="en" sz="1100">
                <a:solidFill>
                  <a:schemeClr val="lt1"/>
                </a:solidFill>
                <a:uFill>
                  <a:noFill/>
                </a:uFill>
                <a:latin typeface="Didact Gothic"/>
                <a:ea typeface="Didact Gothic"/>
                <a:cs typeface="Didact Gothic"/>
                <a:sym typeface="Didact Gothic"/>
                <a:hlinkClick r:id="rId2">
                  <a:extLst>
                    <a:ext uri="{A12FA001-AC4F-418D-AE19-62706E023703}">
                      <ahyp:hlinkClr val="tx"/>
                    </a:ext>
                  </a:extLst>
                </a:hlinkClick>
              </a:rPr>
              <a:t>Slidesgo</a:t>
            </a:r>
            <a:r>
              <a:rPr b="1" lang="en" sz="1100">
                <a:solidFill>
                  <a:schemeClr val="lt1"/>
                </a:solidFill>
                <a:latin typeface="Didact Gothic"/>
                <a:ea typeface="Didact Gothic"/>
                <a:cs typeface="Didact Gothic"/>
                <a:sym typeface="Didact Gothic"/>
              </a:rPr>
              <a:t>,</a:t>
            </a:r>
            <a:r>
              <a:rPr lang="en" sz="1100">
                <a:solidFill>
                  <a:schemeClr val="lt1"/>
                </a:solidFill>
                <a:latin typeface="Didact Gothic"/>
                <a:ea typeface="Didact Gothic"/>
                <a:cs typeface="Didact Gothic"/>
                <a:sym typeface="Didact Gothic"/>
              </a:rPr>
              <a:t> including icons by </a:t>
            </a:r>
            <a:r>
              <a:rPr b="1" lang="en" sz="1100">
                <a:solidFill>
                  <a:schemeClr val="lt1"/>
                </a:solidFill>
                <a:uFill>
                  <a:noFill/>
                </a:uFill>
                <a:latin typeface="Didact Gothic"/>
                <a:ea typeface="Didact Gothic"/>
                <a:cs typeface="Didact Gothic"/>
                <a:sym typeface="Didact Gothic"/>
                <a:hlinkClick r:id="rId3">
                  <a:extLst>
                    <a:ext uri="{A12FA001-AC4F-418D-AE19-62706E023703}">
                      <ahyp:hlinkClr val="tx"/>
                    </a:ext>
                  </a:extLst>
                </a:hlinkClick>
              </a:rPr>
              <a:t>Flaticon</a:t>
            </a:r>
            <a:r>
              <a:rPr b="1" lang="en" sz="1100">
                <a:solidFill>
                  <a:schemeClr val="lt1"/>
                </a:solidFill>
                <a:latin typeface="Didact Gothic"/>
                <a:ea typeface="Didact Gothic"/>
                <a:cs typeface="Didact Gothic"/>
                <a:sym typeface="Didact Gothic"/>
              </a:rPr>
              <a:t>,</a:t>
            </a:r>
            <a:r>
              <a:rPr lang="en" sz="1100">
                <a:solidFill>
                  <a:schemeClr val="lt1"/>
                </a:solidFill>
                <a:latin typeface="Didact Gothic"/>
                <a:ea typeface="Didact Gothic"/>
                <a:cs typeface="Didact Gothic"/>
                <a:sym typeface="Didact Gothic"/>
              </a:rPr>
              <a:t> and infographics &amp; images by </a:t>
            </a:r>
            <a:r>
              <a:rPr b="1" lang="en" sz="1100">
                <a:solidFill>
                  <a:schemeClr val="lt1"/>
                </a:solidFill>
                <a:uFill>
                  <a:noFill/>
                </a:uFill>
                <a:latin typeface="Didact Gothic"/>
                <a:ea typeface="Didact Gothic"/>
                <a:cs typeface="Didact Gothic"/>
                <a:sym typeface="Didact Gothic"/>
                <a:hlinkClick r:id="rId4">
                  <a:extLst>
                    <a:ext uri="{A12FA001-AC4F-418D-AE19-62706E023703}">
                      <ahyp:hlinkClr val="tx"/>
                    </a:ext>
                  </a:extLst>
                </a:hlinkClick>
              </a:rPr>
              <a:t>Freepik</a:t>
            </a:r>
            <a:endParaRPr b="1" sz="1100">
              <a:solidFill>
                <a:schemeClr val="lt1"/>
              </a:solidFill>
              <a:latin typeface="Didact Gothic"/>
              <a:ea typeface="Didact Gothic"/>
              <a:cs typeface="Didact Gothic"/>
              <a:sym typeface="Didact Gothic"/>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BLANK_1_1_1_1_1_1_1">
    <p:spTree>
      <p:nvGrpSpPr>
        <p:cNvPr id="214" name="Shape 214"/>
        <p:cNvGrpSpPr/>
        <p:nvPr/>
      </p:nvGrpSpPr>
      <p:grpSpPr>
        <a:xfrm>
          <a:off x="0" y="0"/>
          <a:ext cx="0" cy="0"/>
          <a:chOff x="0" y="0"/>
          <a:chExt cx="0" cy="0"/>
        </a:xfrm>
      </p:grpSpPr>
      <p:sp>
        <p:nvSpPr>
          <p:cNvPr id="215" name="Google Shape;215;p27"/>
          <p:cNvSpPr/>
          <p:nvPr/>
        </p:nvSpPr>
        <p:spPr>
          <a:xfrm>
            <a:off x="365925" y="236400"/>
            <a:ext cx="8412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16" name="Google Shape;216;p27"/>
          <p:cNvCxnSpPr/>
          <p:nvPr/>
        </p:nvCxnSpPr>
        <p:spPr>
          <a:xfrm>
            <a:off x="745025" y="4603500"/>
            <a:ext cx="3173400" cy="0"/>
          </a:xfrm>
          <a:prstGeom prst="straightConnector1">
            <a:avLst/>
          </a:prstGeom>
          <a:noFill/>
          <a:ln cap="flat" cmpd="sng" w="9525">
            <a:solidFill>
              <a:srgbClr val="364F52"/>
            </a:solidFill>
            <a:prstDash val="solid"/>
            <a:round/>
            <a:headEnd len="med" w="med" type="none"/>
            <a:tailEnd len="med" w="med" type="none"/>
          </a:ln>
        </p:spPr>
      </p:cxnSp>
      <p:cxnSp>
        <p:nvCxnSpPr>
          <p:cNvPr id="217" name="Google Shape;217;p27"/>
          <p:cNvCxnSpPr/>
          <p:nvPr/>
        </p:nvCxnSpPr>
        <p:spPr>
          <a:xfrm>
            <a:off x="5250600" y="4603500"/>
            <a:ext cx="3173400" cy="0"/>
          </a:xfrm>
          <a:prstGeom prst="straightConnector1">
            <a:avLst/>
          </a:prstGeom>
          <a:noFill/>
          <a:ln cap="flat" cmpd="sng" w="9525">
            <a:solidFill>
              <a:srgbClr val="364F52"/>
            </a:solidFill>
            <a:prstDash val="solid"/>
            <a:round/>
            <a:headEnd len="med" w="med" type="none"/>
            <a:tailEnd len="med" w="med" type="none"/>
          </a:ln>
        </p:spPr>
      </p:cxn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BLANK_1_1_1_1_1_1_1_1">
    <p:spTree>
      <p:nvGrpSpPr>
        <p:cNvPr id="218" name="Shape 218"/>
        <p:cNvGrpSpPr/>
        <p:nvPr/>
      </p:nvGrpSpPr>
      <p:grpSpPr>
        <a:xfrm>
          <a:off x="0" y="0"/>
          <a:ext cx="0" cy="0"/>
          <a:chOff x="0" y="0"/>
          <a:chExt cx="0" cy="0"/>
        </a:xfrm>
      </p:grpSpPr>
      <p:sp>
        <p:nvSpPr>
          <p:cNvPr id="219" name="Google Shape;219;p28"/>
          <p:cNvSpPr/>
          <p:nvPr/>
        </p:nvSpPr>
        <p:spPr>
          <a:xfrm>
            <a:off x="365925" y="236400"/>
            <a:ext cx="3816300" cy="4606200"/>
          </a:xfrm>
          <a:prstGeom prst="roundRect">
            <a:avLst>
              <a:gd fmla="val 7727" name="adj"/>
            </a:avLst>
          </a:prstGeom>
          <a:gradFill>
            <a:gsLst>
              <a:gs pos="0">
                <a:srgbClr val="364452">
                  <a:alpha val="81568"/>
                </a:srgbClr>
              </a:gs>
              <a:gs pos="100000">
                <a:srgbClr val="8EA3A8">
                  <a:alpha val="69803"/>
                </a:srgbClr>
              </a:gs>
            </a:gsLst>
            <a:lin ang="5400012" scaled="0"/>
          </a:gra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1.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gradFill>
          <a:gsLst>
            <a:gs pos="0">
              <a:srgbClr val="364452">
                <a:alpha val="81568"/>
              </a:srgbClr>
            </a:gs>
            <a:gs pos="100000">
              <a:srgbClr val="8EA3A8">
                <a:alpha val="69803"/>
              </a:srgbClr>
            </a:gs>
          </a:gsLst>
          <a:lin ang="5400700" scaled="0"/>
        </a:gra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748500"/>
            <a:ext cx="7704000" cy="564300"/>
          </a:xfrm>
          <a:prstGeom prst="rect">
            <a:avLst/>
          </a:prstGeom>
          <a:noFill/>
          <a:ln>
            <a:noFill/>
          </a:ln>
        </p:spPr>
        <p:txBody>
          <a:bodyPr anchorCtr="0" anchor="b" bIns="91425" lIns="91425" spcFirstLastPara="1" rIns="91425" wrap="square" tIns="91425">
            <a:noAutofit/>
          </a:bodyPr>
          <a:lstStyle>
            <a:lvl1pPr lvl="0" rtl="0" algn="ctr">
              <a:spcBef>
                <a:spcPts val="0"/>
              </a:spcBef>
              <a:spcAft>
                <a:spcPts val="0"/>
              </a:spcAft>
              <a:buClr>
                <a:schemeClr val="lt1"/>
              </a:buClr>
              <a:buSzPts val="3500"/>
              <a:buFont typeface="Arapey"/>
              <a:buNone/>
              <a:defRPr sz="3500">
                <a:solidFill>
                  <a:schemeClr val="lt1"/>
                </a:solidFill>
                <a:latin typeface="Arapey"/>
                <a:ea typeface="Arapey"/>
                <a:cs typeface="Arapey"/>
                <a:sym typeface="Arapey"/>
              </a:defRPr>
            </a:lvl1pPr>
            <a:lvl2pPr lvl="1" rtl="0" algn="ctr">
              <a:spcBef>
                <a:spcPts val="0"/>
              </a:spcBef>
              <a:spcAft>
                <a:spcPts val="0"/>
              </a:spcAft>
              <a:buClr>
                <a:schemeClr val="lt1"/>
              </a:buClr>
              <a:buSzPts val="3500"/>
              <a:buFont typeface="Arapey"/>
              <a:buNone/>
              <a:defRPr b="1" sz="3500">
                <a:solidFill>
                  <a:schemeClr val="lt1"/>
                </a:solidFill>
                <a:latin typeface="Arapey"/>
                <a:ea typeface="Arapey"/>
                <a:cs typeface="Arapey"/>
                <a:sym typeface="Arapey"/>
              </a:defRPr>
            </a:lvl2pPr>
            <a:lvl3pPr lvl="2" rtl="0" algn="ctr">
              <a:spcBef>
                <a:spcPts val="0"/>
              </a:spcBef>
              <a:spcAft>
                <a:spcPts val="0"/>
              </a:spcAft>
              <a:buClr>
                <a:schemeClr val="lt1"/>
              </a:buClr>
              <a:buSzPts val="3500"/>
              <a:buFont typeface="Arapey"/>
              <a:buNone/>
              <a:defRPr b="1" sz="3500">
                <a:solidFill>
                  <a:schemeClr val="lt1"/>
                </a:solidFill>
                <a:latin typeface="Arapey"/>
                <a:ea typeface="Arapey"/>
                <a:cs typeface="Arapey"/>
                <a:sym typeface="Arapey"/>
              </a:defRPr>
            </a:lvl3pPr>
            <a:lvl4pPr lvl="3" rtl="0" algn="ctr">
              <a:spcBef>
                <a:spcPts val="0"/>
              </a:spcBef>
              <a:spcAft>
                <a:spcPts val="0"/>
              </a:spcAft>
              <a:buClr>
                <a:schemeClr val="lt1"/>
              </a:buClr>
              <a:buSzPts val="3500"/>
              <a:buFont typeface="Arapey"/>
              <a:buNone/>
              <a:defRPr b="1" sz="3500">
                <a:solidFill>
                  <a:schemeClr val="lt1"/>
                </a:solidFill>
                <a:latin typeface="Arapey"/>
                <a:ea typeface="Arapey"/>
                <a:cs typeface="Arapey"/>
                <a:sym typeface="Arapey"/>
              </a:defRPr>
            </a:lvl4pPr>
            <a:lvl5pPr lvl="4" rtl="0" algn="ctr">
              <a:spcBef>
                <a:spcPts val="0"/>
              </a:spcBef>
              <a:spcAft>
                <a:spcPts val="0"/>
              </a:spcAft>
              <a:buClr>
                <a:schemeClr val="lt1"/>
              </a:buClr>
              <a:buSzPts val="3500"/>
              <a:buFont typeface="Arapey"/>
              <a:buNone/>
              <a:defRPr b="1" sz="3500">
                <a:solidFill>
                  <a:schemeClr val="lt1"/>
                </a:solidFill>
                <a:latin typeface="Arapey"/>
                <a:ea typeface="Arapey"/>
                <a:cs typeface="Arapey"/>
                <a:sym typeface="Arapey"/>
              </a:defRPr>
            </a:lvl5pPr>
            <a:lvl6pPr lvl="5" rtl="0" algn="ctr">
              <a:spcBef>
                <a:spcPts val="0"/>
              </a:spcBef>
              <a:spcAft>
                <a:spcPts val="0"/>
              </a:spcAft>
              <a:buClr>
                <a:schemeClr val="lt1"/>
              </a:buClr>
              <a:buSzPts val="3500"/>
              <a:buFont typeface="Arapey"/>
              <a:buNone/>
              <a:defRPr b="1" sz="3500">
                <a:solidFill>
                  <a:schemeClr val="lt1"/>
                </a:solidFill>
                <a:latin typeface="Arapey"/>
                <a:ea typeface="Arapey"/>
                <a:cs typeface="Arapey"/>
                <a:sym typeface="Arapey"/>
              </a:defRPr>
            </a:lvl6pPr>
            <a:lvl7pPr lvl="6" rtl="0" algn="ctr">
              <a:spcBef>
                <a:spcPts val="0"/>
              </a:spcBef>
              <a:spcAft>
                <a:spcPts val="0"/>
              </a:spcAft>
              <a:buClr>
                <a:schemeClr val="lt1"/>
              </a:buClr>
              <a:buSzPts val="3500"/>
              <a:buFont typeface="Arapey"/>
              <a:buNone/>
              <a:defRPr b="1" sz="3500">
                <a:solidFill>
                  <a:schemeClr val="lt1"/>
                </a:solidFill>
                <a:latin typeface="Arapey"/>
                <a:ea typeface="Arapey"/>
                <a:cs typeface="Arapey"/>
                <a:sym typeface="Arapey"/>
              </a:defRPr>
            </a:lvl7pPr>
            <a:lvl8pPr lvl="7" rtl="0" algn="ctr">
              <a:spcBef>
                <a:spcPts val="0"/>
              </a:spcBef>
              <a:spcAft>
                <a:spcPts val="0"/>
              </a:spcAft>
              <a:buClr>
                <a:schemeClr val="lt1"/>
              </a:buClr>
              <a:buSzPts val="3500"/>
              <a:buFont typeface="Arapey"/>
              <a:buNone/>
              <a:defRPr b="1" sz="3500">
                <a:solidFill>
                  <a:schemeClr val="lt1"/>
                </a:solidFill>
                <a:latin typeface="Arapey"/>
                <a:ea typeface="Arapey"/>
                <a:cs typeface="Arapey"/>
                <a:sym typeface="Arapey"/>
              </a:defRPr>
            </a:lvl8pPr>
            <a:lvl9pPr lvl="8" rtl="0" algn="ctr">
              <a:spcBef>
                <a:spcPts val="0"/>
              </a:spcBef>
              <a:spcAft>
                <a:spcPts val="0"/>
              </a:spcAft>
              <a:buClr>
                <a:schemeClr val="lt1"/>
              </a:buClr>
              <a:buSzPts val="3500"/>
              <a:buFont typeface="Arapey"/>
              <a:buNone/>
              <a:defRPr b="1" sz="3500">
                <a:solidFill>
                  <a:schemeClr val="lt1"/>
                </a:solidFill>
                <a:latin typeface="Arapey"/>
                <a:ea typeface="Arapey"/>
                <a:cs typeface="Arapey"/>
                <a:sym typeface="Arapey"/>
              </a:defRPr>
            </a:lvl9pPr>
          </a:lstStyle>
          <a:p/>
        </p:txBody>
      </p:sp>
      <p:sp>
        <p:nvSpPr>
          <p:cNvPr id="7" name="Google Shape;7;p1"/>
          <p:cNvSpPr txBox="1"/>
          <p:nvPr>
            <p:ph idx="1" type="body"/>
          </p:nvPr>
        </p:nvSpPr>
        <p:spPr>
          <a:xfrm>
            <a:off x="720000" y="1363275"/>
            <a:ext cx="7704000" cy="32400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1pPr>
            <a:lvl2pPr indent="-317500" lvl="1" marL="914400">
              <a:lnSpc>
                <a:spcPct val="100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2pPr>
            <a:lvl3pPr indent="-317500" lvl="2" marL="1371600">
              <a:lnSpc>
                <a:spcPct val="100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3pPr>
            <a:lvl4pPr indent="-317500" lvl="3" marL="1828800">
              <a:lnSpc>
                <a:spcPct val="100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4pPr>
            <a:lvl5pPr indent="-317500" lvl="4" marL="2286000">
              <a:lnSpc>
                <a:spcPct val="100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5pPr>
            <a:lvl6pPr indent="-317500" lvl="5" marL="2743200">
              <a:lnSpc>
                <a:spcPct val="100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6pPr>
            <a:lvl7pPr indent="-317500" lvl="6" marL="3200400">
              <a:lnSpc>
                <a:spcPct val="100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7pPr>
            <a:lvl8pPr indent="-317500" lvl="7" marL="3657600">
              <a:lnSpc>
                <a:spcPct val="100000"/>
              </a:lnSpc>
              <a:spcBef>
                <a:spcPts val="1600"/>
              </a:spcBef>
              <a:spcAft>
                <a:spcPts val="0"/>
              </a:spcAft>
              <a:buClr>
                <a:schemeClr val="lt1"/>
              </a:buClr>
              <a:buSzPts val="1400"/>
              <a:buFont typeface="Didact Gothic"/>
              <a:buChar char="○"/>
              <a:defRPr>
                <a:solidFill>
                  <a:schemeClr val="lt1"/>
                </a:solidFill>
                <a:latin typeface="Didact Gothic"/>
                <a:ea typeface="Didact Gothic"/>
                <a:cs typeface="Didact Gothic"/>
                <a:sym typeface="Didact Gothic"/>
              </a:defRPr>
            </a:lvl8pPr>
            <a:lvl9pPr indent="-317500" lvl="8" marL="4114800">
              <a:lnSpc>
                <a:spcPct val="100000"/>
              </a:lnSpc>
              <a:spcBef>
                <a:spcPts val="1600"/>
              </a:spcBef>
              <a:spcAft>
                <a:spcPts val="1600"/>
              </a:spcAft>
              <a:buClr>
                <a:schemeClr val="lt1"/>
              </a:buClr>
              <a:buSzPts val="1400"/>
              <a:buFont typeface="Didact Gothic"/>
              <a:buChar char="■"/>
              <a:defRPr>
                <a:solidFill>
                  <a:schemeClr val="lt1"/>
                </a:solidFill>
                <a:latin typeface="Didact Gothic"/>
                <a:ea typeface="Didact Gothic"/>
                <a:cs typeface="Didact Gothic"/>
                <a:sym typeface="Didact Gothic"/>
              </a:defRPr>
            </a:lvl9pPr>
          </a:lstStyle>
          <a:p/>
        </p:txBody>
      </p:sp>
      <p:sp>
        <p:nvSpPr>
          <p:cNvPr id="8" name="Google Shape;8;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lt1"/>
                </a:solidFill>
                <a:latin typeface="Didact Gothic"/>
                <a:ea typeface="Didact Gothic"/>
                <a:cs typeface="Didact Gothic"/>
                <a:sym typeface="Didact Gothic"/>
              </a:defRPr>
            </a:lvl1pPr>
            <a:lvl2pPr lvl="1" algn="r">
              <a:buNone/>
              <a:defRPr sz="1300">
                <a:solidFill>
                  <a:schemeClr val="lt1"/>
                </a:solidFill>
                <a:latin typeface="Didact Gothic"/>
                <a:ea typeface="Didact Gothic"/>
                <a:cs typeface="Didact Gothic"/>
                <a:sym typeface="Didact Gothic"/>
              </a:defRPr>
            </a:lvl2pPr>
            <a:lvl3pPr lvl="2" algn="r">
              <a:buNone/>
              <a:defRPr sz="1300">
                <a:solidFill>
                  <a:schemeClr val="lt1"/>
                </a:solidFill>
                <a:latin typeface="Didact Gothic"/>
                <a:ea typeface="Didact Gothic"/>
                <a:cs typeface="Didact Gothic"/>
                <a:sym typeface="Didact Gothic"/>
              </a:defRPr>
            </a:lvl3pPr>
            <a:lvl4pPr lvl="3" algn="r">
              <a:buNone/>
              <a:defRPr sz="1300">
                <a:solidFill>
                  <a:schemeClr val="lt1"/>
                </a:solidFill>
                <a:latin typeface="Didact Gothic"/>
                <a:ea typeface="Didact Gothic"/>
                <a:cs typeface="Didact Gothic"/>
                <a:sym typeface="Didact Gothic"/>
              </a:defRPr>
            </a:lvl4pPr>
            <a:lvl5pPr lvl="4" algn="r">
              <a:buNone/>
              <a:defRPr sz="1300">
                <a:solidFill>
                  <a:schemeClr val="lt1"/>
                </a:solidFill>
                <a:latin typeface="Didact Gothic"/>
                <a:ea typeface="Didact Gothic"/>
                <a:cs typeface="Didact Gothic"/>
                <a:sym typeface="Didact Gothic"/>
              </a:defRPr>
            </a:lvl5pPr>
            <a:lvl6pPr lvl="5" algn="r">
              <a:buNone/>
              <a:defRPr sz="1300">
                <a:solidFill>
                  <a:schemeClr val="lt1"/>
                </a:solidFill>
                <a:latin typeface="Didact Gothic"/>
                <a:ea typeface="Didact Gothic"/>
                <a:cs typeface="Didact Gothic"/>
                <a:sym typeface="Didact Gothic"/>
              </a:defRPr>
            </a:lvl6pPr>
            <a:lvl7pPr lvl="6" algn="r">
              <a:buNone/>
              <a:defRPr sz="1300">
                <a:solidFill>
                  <a:schemeClr val="lt1"/>
                </a:solidFill>
                <a:latin typeface="Didact Gothic"/>
                <a:ea typeface="Didact Gothic"/>
                <a:cs typeface="Didact Gothic"/>
                <a:sym typeface="Didact Gothic"/>
              </a:defRPr>
            </a:lvl7pPr>
            <a:lvl8pPr lvl="7" algn="r">
              <a:buNone/>
              <a:defRPr sz="1300">
                <a:solidFill>
                  <a:schemeClr val="lt1"/>
                </a:solidFill>
                <a:latin typeface="Didact Gothic"/>
                <a:ea typeface="Didact Gothic"/>
                <a:cs typeface="Didact Gothic"/>
                <a:sym typeface="Didact Gothic"/>
              </a:defRPr>
            </a:lvl8pPr>
            <a:lvl9pPr lvl="8" algn="r">
              <a:buNone/>
              <a:defRPr sz="1300">
                <a:solidFill>
                  <a:schemeClr val="lt1"/>
                </a:solidFill>
                <a:latin typeface="Didact Gothic"/>
                <a:ea typeface="Didact Gothic"/>
                <a:cs typeface="Didact Gothic"/>
                <a:sym typeface="Didact Gothic"/>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340">
          <p15:clr>
            <a:srgbClr val="EA4335"/>
          </p15:clr>
        </p15:guide>
        <p15:guide id="2" pos="454">
          <p15:clr>
            <a:srgbClr val="EA4335"/>
          </p15:clr>
        </p15:guide>
        <p15:guide id="3" orient="horz" pos="2900">
          <p15:clr>
            <a:srgbClr val="EA4335"/>
          </p15:clr>
        </p15:guide>
        <p15:guide id="4" pos="5306">
          <p15:clr>
            <a:srgbClr val="EA4335"/>
          </p15:clr>
        </p15:guide>
        <p15:guide id="5" orient="horz" pos="1620">
          <p15:clr>
            <a:srgbClr val="EA4335"/>
          </p15:clr>
        </p15:guide>
        <p15:guide id="6" pos="288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7.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18.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 Id="rId3" Type="http://schemas.openxmlformats.org/officeDocument/2006/relationships/image" Target="../media/image5.jpg"/><Relationship Id="rId4" Type="http://schemas.openxmlformats.org/officeDocument/2006/relationships/image" Target="../media/image1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3.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13.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3.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9.jp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10.jpg"/><Relationship Id="rId4" Type="http://schemas.openxmlformats.org/officeDocument/2006/relationships/image" Target="../media/image14.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 Id="rId3" Type="http://schemas.openxmlformats.org/officeDocument/2006/relationships/image" Target="../media/image10.jpg"/><Relationship Id="rId4" Type="http://schemas.openxmlformats.org/officeDocument/2006/relationships/image" Target="../media/image14.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10.jpg"/><Relationship Id="rId4"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 Id="rId3" Type="http://schemas.openxmlformats.org/officeDocument/2006/relationships/image" Target="../media/image22.jpg"/><Relationship Id="rId4" Type="http://schemas.openxmlformats.org/officeDocument/2006/relationships/image" Target="../media/image11.png"/><Relationship Id="rId5" Type="http://schemas.openxmlformats.org/officeDocument/2006/relationships/image" Target="../media/image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image" Target="../media/image22.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1.xml"/><Relationship Id="rId3" Type="http://schemas.openxmlformats.org/officeDocument/2006/relationships/image" Target="../media/image19.jpg"/><Relationship Id="rId4" Type="http://schemas.openxmlformats.org/officeDocument/2006/relationships/image" Target="../media/image21.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2.xml"/><Relationship Id="rId3" Type="http://schemas.openxmlformats.org/officeDocument/2006/relationships/image" Target="../media/image19.jpg"/><Relationship Id="rId4" Type="http://schemas.openxmlformats.org/officeDocument/2006/relationships/image" Target="../media/image17.png"/><Relationship Id="rId5" Type="http://schemas.openxmlformats.org/officeDocument/2006/relationships/image" Target="../media/image16.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3.xml"/><Relationship Id="rId3" Type="http://schemas.openxmlformats.org/officeDocument/2006/relationships/image" Target="../media/image19.jpg"/><Relationship Id="rId4" Type="http://schemas.openxmlformats.org/officeDocument/2006/relationships/image" Target="../media/image15.png"/><Relationship Id="rId5"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7.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 Id="rId3" Type="http://schemas.openxmlformats.org/officeDocument/2006/relationships/image" Target="../media/image23.jp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7.xml"/><Relationship Id="rId3" Type="http://schemas.openxmlformats.org/officeDocument/2006/relationships/image" Target="../media/image24.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28.xml"/><Relationship Id="rId3" Type="http://schemas.openxmlformats.org/officeDocument/2006/relationships/image" Target="../media/image19.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23" name="Shape 223"/>
        <p:cNvGrpSpPr/>
        <p:nvPr/>
      </p:nvGrpSpPr>
      <p:grpSpPr>
        <a:xfrm>
          <a:off x="0" y="0"/>
          <a:ext cx="0" cy="0"/>
          <a:chOff x="0" y="0"/>
          <a:chExt cx="0" cy="0"/>
        </a:xfrm>
      </p:grpSpPr>
      <p:sp>
        <p:nvSpPr>
          <p:cNvPr id="224" name="Google Shape;224;p29"/>
          <p:cNvSpPr txBox="1"/>
          <p:nvPr>
            <p:ph type="ctrTitle"/>
          </p:nvPr>
        </p:nvSpPr>
        <p:spPr>
          <a:xfrm>
            <a:off x="1061475" y="916950"/>
            <a:ext cx="7021200" cy="22443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Should you invest in Nursing Homes?</a:t>
            </a:r>
            <a:endParaRPr/>
          </a:p>
        </p:txBody>
      </p:sp>
      <p:sp>
        <p:nvSpPr>
          <p:cNvPr id="225" name="Google Shape;225;p29"/>
          <p:cNvSpPr/>
          <p:nvPr/>
        </p:nvSpPr>
        <p:spPr>
          <a:xfrm>
            <a:off x="2432350" y="3161400"/>
            <a:ext cx="4143600" cy="957300"/>
          </a:xfrm>
          <a:prstGeom prst="roundRect">
            <a:avLst>
              <a:gd fmla="val 50000"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29"/>
          <p:cNvSpPr txBox="1"/>
          <p:nvPr>
            <p:ph idx="1" type="subTitle"/>
          </p:nvPr>
        </p:nvSpPr>
        <p:spPr>
          <a:xfrm rot="-604">
            <a:off x="3717675" y="3230146"/>
            <a:ext cx="1708800" cy="9567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Analysis by:</a:t>
            </a:r>
            <a:br>
              <a:rPr lang="en"/>
            </a:br>
            <a:r>
              <a:rPr lang="en"/>
              <a:t>Diana Manukyan</a:t>
            </a:r>
            <a:endParaRPr/>
          </a:p>
          <a:p>
            <a:pPr indent="0" lvl="0" marL="0" rtl="0" algn="ctr">
              <a:spcBef>
                <a:spcPts val="0"/>
              </a:spcBef>
              <a:spcAft>
                <a:spcPts val="0"/>
              </a:spcAft>
              <a:buNone/>
            </a:pPr>
            <a:r>
              <a:rPr lang="en"/>
              <a:t>Julian Amberg</a:t>
            </a:r>
            <a:endParaRPr/>
          </a:p>
          <a:p>
            <a:pPr indent="0" lvl="0" marL="0" rtl="0" algn="ctr">
              <a:spcBef>
                <a:spcPts val="0"/>
              </a:spcBef>
              <a:spcAft>
                <a:spcPts val="0"/>
              </a:spcAft>
              <a:buNone/>
            </a:pPr>
            <a:r>
              <a:rPr lang="en"/>
              <a:t>Jeffrey Brown</a:t>
            </a:r>
            <a:endParaRPr/>
          </a:p>
          <a:p>
            <a:pPr indent="0" lvl="0" marL="0" rtl="0" algn="ctr">
              <a:spcBef>
                <a:spcPts val="0"/>
              </a:spcBef>
              <a:spcAft>
                <a:spcPts val="0"/>
              </a:spcAft>
              <a:buNone/>
            </a:pPr>
            <a:r>
              <a:t/>
            </a:r>
            <a:endParaRPr/>
          </a:p>
        </p:txBody>
      </p:sp>
      <p:sp>
        <p:nvSpPr>
          <p:cNvPr id="227" name="Google Shape;227;p29"/>
          <p:cNvSpPr txBox="1"/>
          <p:nvPr>
            <p:ph idx="1" type="subTitle"/>
          </p:nvPr>
        </p:nvSpPr>
        <p:spPr>
          <a:xfrm rot="-414">
            <a:off x="6424650" y="4031988"/>
            <a:ext cx="2493300" cy="9567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en"/>
              <a:t>BANA620: Group Project</a:t>
            </a:r>
            <a:endParaRPr/>
          </a:p>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31" name="Shape 231"/>
        <p:cNvGrpSpPr/>
        <p:nvPr/>
      </p:nvGrpSpPr>
      <p:grpSpPr>
        <a:xfrm>
          <a:off x="0" y="0"/>
          <a:ext cx="0" cy="0"/>
          <a:chOff x="0" y="0"/>
          <a:chExt cx="0" cy="0"/>
        </a:xfrm>
      </p:grpSpPr>
      <p:sp>
        <p:nvSpPr>
          <p:cNvPr id="232" name="Google Shape;232;p30"/>
          <p:cNvSpPr/>
          <p:nvPr/>
        </p:nvSpPr>
        <p:spPr>
          <a:xfrm>
            <a:off x="4772399" y="3319950"/>
            <a:ext cx="3651600" cy="978600"/>
          </a:xfrm>
          <a:prstGeom prst="roundRect">
            <a:avLst>
              <a:gd fmla="val 19326"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30"/>
          <p:cNvSpPr/>
          <p:nvPr/>
        </p:nvSpPr>
        <p:spPr>
          <a:xfrm>
            <a:off x="719724" y="3319950"/>
            <a:ext cx="3651600" cy="978600"/>
          </a:xfrm>
          <a:prstGeom prst="roundRect">
            <a:avLst>
              <a:gd fmla="val 19326"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0"/>
          <p:cNvSpPr/>
          <p:nvPr/>
        </p:nvSpPr>
        <p:spPr>
          <a:xfrm>
            <a:off x="4772399" y="1745675"/>
            <a:ext cx="3651600" cy="978600"/>
          </a:xfrm>
          <a:prstGeom prst="roundRect">
            <a:avLst>
              <a:gd fmla="val 19326"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30"/>
          <p:cNvSpPr/>
          <p:nvPr/>
        </p:nvSpPr>
        <p:spPr>
          <a:xfrm>
            <a:off x="719724" y="1745675"/>
            <a:ext cx="3651600" cy="978600"/>
          </a:xfrm>
          <a:prstGeom prst="roundRect">
            <a:avLst>
              <a:gd fmla="val 19326"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30"/>
          <p:cNvSpPr txBox="1"/>
          <p:nvPr>
            <p:ph type="title"/>
          </p:nvPr>
        </p:nvSpPr>
        <p:spPr>
          <a:xfrm>
            <a:off x="720023" y="2170912"/>
            <a:ext cx="36510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Introduction and Project Overview</a:t>
            </a:r>
            <a:endParaRPr/>
          </a:p>
        </p:txBody>
      </p:sp>
      <p:sp>
        <p:nvSpPr>
          <p:cNvPr id="237" name="Google Shape;237;p30"/>
          <p:cNvSpPr txBox="1"/>
          <p:nvPr>
            <p:ph idx="4" type="title"/>
          </p:nvPr>
        </p:nvSpPr>
        <p:spPr>
          <a:xfrm>
            <a:off x="721658" y="3545387"/>
            <a:ext cx="36480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Analysis and Findings</a:t>
            </a:r>
            <a:endParaRPr/>
          </a:p>
        </p:txBody>
      </p:sp>
      <p:sp>
        <p:nvSpPr>
          <p:cNvPr id="238" name="Google Shape;238;p30"/>
          <p:cNvSpPr txBox="1"/>
          <p:nvPr>
            <p:ph idx="6" type="title"/>
          </p:nvPr>
        </p:nvSpPr>
        <p:spPr>
          <a:xfrm>
            <a:off x="4774203" y="3770837"/>
            <a:ext cx="36483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Recommendations and </a:t>
            </a:r>
            <a:r>
              <a:rPr lang="en"/>
              <a:t>Conclusion</a:t>
            </a:r>
            <a:endParaRPr/>
          </a:p>
        </p:txBody>
      </p:sp>
      <p:sp>
        <p:nvSpPr>
          <p:cNvPr id="239" name="Google Shape;239;p30"/>
          <p:cNvSpPr txBox="1"/>
          <p:nvPr>
            <p:ph idx="8" type="title"/>
          </p:nvPr>
        </p:nvSpPr>
        <p:spPr>
          <a:xfrm>
            <a:off x="4774053" y="2170912"/>
            <a:ext cx="3648300" cy="527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Methodology and Data Description</a:t>
            </a:r>
            <a:endParaRPr/>
          </a:p>
        </p:txBody>
      </p:sp>
      <p:sp>
        <p:nvSpPr>
          <p:cNvPr id="240" name="Google Shape;240;p30"/>
          <p:cNvSpPr txBox="1"/>
          <p:nvPr>
            <p:ph idx="15" type="title"/>
          </p:nvPr>
        </p:nvSpPr>
        <p:spPr>
          <a:xfrm>
            <a:off x="720000" y="748500"/>
            <a:ext cx="7704000" cy="56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241" name="Google Shape;241;p30"/>
          <p:cNvSpPr txBox="1"/>
          <p:nvPr>
            <p:ph idx="14" type="title"/>
          </p:nvPr>
        </p:nvSpPr>
        <p:spPr>
          <a:xfrm rot="1949">
            <a:off x="2016474" y="1313100"/>
            <a:ext cx="1058100" cy="530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242" name="Google Shape;242;p30"/>
          <p:cNvSpPr txBox="1"/>
          <p:nvPr>
            <p:ph idx="2" type="title"/>
          </p:nvPr>
        </p:nvSpPr>
        <p:spPr>
          <a:xfrm rot="972">
            <a:off x="6068103" y="2893597"/>
            <a:ext cx="1060500" cy="5271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243" name="Google Shape;243;p30"/>
          <p:cNvSpPr txBox="1"/>
          <p:nvPr>
            <p:ph idx="3" type="title"/>
          </p:nvPr>
        </p:nvSpPr>
        <p:spPr>
          <a:xfrm>
            <a:off x="2015258" y="2891947"/>
            <a:ext cx="1060800" cy="530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244" name="Google Shape;244;p30"/>
          <p:cNvSpPr txBox="1"/>
          <p:nvPr>
            <p:ph idx="13" type="title"/>
          </p:nvPr>
        </p:nvSpPr>
        <p:spPr>
          <a:xfrm rot="972">
            <a:off x="6067953" y="1313250"/>
            <a:ext cx="1060500" cy="530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48" name="Shape 248"/>
        <p:cNvGrpSpPr/>
        <p:nvPr/>
      </p:nvGrpSpPr>
      <p:grpSpPr>
        <a:xfrm>
          <a:off x="0" y="0"/>
          <a:ext cx="0" cy="0"/>
          <a:chOff x="0" y="0"/>
          <a:chExt cx="0" cy="0"/>
        </a:xfrm>
      </p:grpSpPr>
      <p:sp>
        <p:nvSpPr>
          <p:cNvPr id="249" name="Google Shape;249;p31"/>
          <p:cNvSpPr/>
          <p:nvPr/>
        </p:nvSpPr>
        <p:spPr>
          <a:xfrm>
            <a:off x="2067075" y="1848850"/>
            <a:ext cx="5010000" cy="1818300"/>
          </a:xfrm>
          <a:prstGeom prst="roundRect">
            <a:avLst>
              <a:gd fmla="val 11368"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31"/>
          <p:cNvSpPr txBox="1"/>
          <p:nvPr>
            <p:ph type="title"/>
          </p:nvPr>
        </p:nvSpPr>
        <p:spPr>
          <a:xfrm>
            <a:off x="2067075" y="1988325"/>
            <a:ext cx="5010000" cy="142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000"/>
              <a:t>Introduction and Project Overview</a:t>
            </a:r>
            <a:endParaRPr sz="5000"/>
          </a:p>
        </p:txBody>
      </p:sp>
      <p:sp>
        <p:nvSpPr>
          <p:cNvPr id="251" name="Google Shape;251;p31"/>
          <p:cNvSpPr txBox="1"/>
          <p:nvPr>
            <p:ph idx="2" type="title"/>
          </p:nvPr>
        </p:nvSpPr>
        <p:spPr>
          <a:xfrm>
            <a:off x="3796851" y="940885"/>
            <a:ext cx="1550100" cy="122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01</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55" name="Shape 255"/>
        <p:cNvGrpSpPr/>
        <p:nvPr/>
      </p:nvGrpSpPr>
      <p:grpSpPr>
        <a:xfrm>
          <a:off x="0" y="0"/>
          <a:ext cx="0" cy="0"/>
          <a:chOff x="0" y="0"/>
          <a:chExt cx="0" cy="0"/>
        </a:xfrm>
      </p:grpSpPr>
      <p:sp>
        <p:nvSpPr>
          <p:cNvPr id="256" name="Google Shape;256;p32"/>
          <p:cNvSpPr txBox="1"/>
          <p:nvPr>
            <p:ph type="title"/>
          </p:nvPr>
        </p:nvSpPr>
        <p:spPr>
          <a:xfrm>
            <a:off x="744825" y="995449"/>
            <a:ext cx="4162800" cy="6312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3300"/>
              <a:t>Context</a:t>
            </a:r>
            <a:endParaRPr sz="3300"/>
          </a:p>
        </p:txBody>
      </p:sp>
      <p:sp>
        <p:nvSpPr>
          <p:cNvPr id="257" name="Google Shape;257;p32"/>
          <p:cNvSpPr txBox="1"/>
          <p:nvPr>
            <p:ph idx="1" type="subTitle"/>
          </p:nvPr>
        </p:nvSpPr>
        <p:spPr>
          <a:xfrm>
            <a:off x="746025" y="1626648"/>
            <a:ext cx="4160400" cy="2603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 </a:t>
            </a:r>
            <a:r>
              <a:rPr lang="en"/>
              <a:t>The U.S. is experiencing an </a:t>
            </a:r>
            <a:r>
              <a:rPr b="1" lang="en"/>
              <a:t>increased demand</a:t>
            </a:r>
            <a:r>
              <a:rPr lang="en"/>
              <a:t> for elder care services due to the aging baby boomer population.</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a:t>
            </a:r>
            <a:r>
              <a:rPr lang="en"/>
              <a:t>Nursing homes are becoming a focal point for both </a:t>
            </a:r>
            <a:r>
              <a:rPr b="1" lang="en"/>
              <a:t>private investment</a:t>
            </a:r>
            <a:r>
              <a:rPr lang="en"/>
              <a:t> and </a:t>
            </a:r>
            <a:r>
              <a:rPr b="1" lang="en"/>
              <a:t>public health planning</a:t>
            </a:r>
            <a:r>
              <a:rPr lang="en"/>
              <a:t>.</a:t>
            </a:r>
            <a:endParaRPr/>
          </a:p>
          <a:p>
            <a:pPr indent="0" lvl="0" marL="0" rtl="0" algn="l">
              <a:spcBef>
                <a:spcPts val="0"/>
              </a:spcBef>
              <a:spcAft>
                <a:spcPts val="0"/>
              </a:spcAft>
              <a:buNone/>
            </a:pPr>
            <a:r>
              <a:t/>
            </a:r>
            <a:endParaRPr/>
          </a:p>
          <a:p>
            <a:pPr indent="0" lvl="0" marL="0" rtl="0" algn="l">
              <a:spcBef>
                <a:spcPts val="0"/>
              </a:spcBef>
              <a:spcAft>
                <a:spcPts val="0"/>
              </a:spcAft>
              <a:buNone/>
            </a:pPr>
            <a:r>
              <a:rPr i="1" lang="en"/>
              <a:t>Opportunity:</a:t>
            </a:r>
            <a:endParaRPr i="1"/>
          </a:p>
          <a:p>
            <a:pPr indent="0" lvl="0" marL="0" rtl="0" algn="l">
              <a:spcBef>
                <a:spcPts val="0"/>
              </a:spcBef>
              <a:spcAft>
                <a:spcPts val="0"/>
              </a:spcAft>
              <a:buNone/>
            </a:pPr>
            <a:r>
              <a:t/>
            </a:r>
            <a:endParaRPr i="1"/>
          </a:p>
          <a:p>
            <a:pPr indent="0" lvl="0" marL="0" rtl="0" algn="l">
              <a:spcBef>
                <a:spcPts val="0"/>
              </a:spcBef>
              <a:spcAft>
                <a:spcPts val="0"/>
              </a:spcAft>
              <a:buNone/>
            </a:pPr>
            <a:r>
              <a:rPr lang="en"/>
              <a:t>→ If the industry proves to be financially sustainable and resilient to shocks (e.g., COVID-19), it could offer </a:t>
            </a:r>
            <a:r>
              <a:rPr b="1" lang="en"/>
              <a:t>strong long-term returns for investors.</a:t>
            </a:r>
            <a:endParaRPr b="1"/>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1" name="Shape 261"/>
        <p:cNvGrpSpPr/>
        <p:nvPr/>
      </p:nvGrpSpPr>
      <p:grpSpPr>
        <a:xfrm>
          <a:off x="0" y="0"/>
          <a:ext cx="0" cy="0"/>
          <a:chOff x="0" y="0"/>
          <a:chExt cx="0" cy="0"/>
        </a:xfrm>
      </p:grpSpPr>
      <p:sp>
        <p:nvSpPr>
          <p:cNvPr id="262" name="Google Shape;262;p33"/>
          <p:cNvSpPr txBox="1"/>
          <p:nvPr>
            <p:ph type="title"/>
          </p:nvPr>
        </p:nvSpPr>
        <p:spPr>
          <a:xfrm>
            <a:off x="720000" y="540000"/>
            <a:ext cx="7704000" cy="56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Project Purpose and Objectives</a:t>
            </a:r>
            <a:endParaRPr/>
          </a:p>
        </p:txBody>
      </p:sp>
      <p:sp>
        <p:nvSpPr>
          <p:cNvPr id="263" name="Google Shape;263;p33"/>
          <p:cNvSpPr txBox="1"/>
          <p:nvPr>
            <p:ph idx="1" type="subTitle"/>
          </p:nvPr>
        </p:nvSpPr>
        <p:spPr>
          <a:xfrm rot="-227">
            <a:off x="4204300" y="1202140"/>
            <a:ext cx="4551900" cy="258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Purpose:</a:t>
            </a:r>
            <a:endParaRPr b="1" i="1"/>
          </a:p>
          <a:p>
            <a:pPr indent="0" lvl="0" marL="0" rtl="0" algn="l">
              <a:spcBef>
                <a:spcPts val="0"/>
              </a:spcBef>
              <a:spcAft>
                <a:spcPts val="0"/>
              </a:spcAft>
              <a:buNone/>
            </a:pPr>
            <a:r>
              <a:t/>
            </a:r>
            <a:endParaRPr/>
          </a:p>
          <a:p>
            <a:pPr indent="0" lvl="0" marL="0" rtl="0" algn="l">
              <a:spcBef>
                <a:spcPts val="0"/>
              </a:spcBef>
              <a:spcAft>
                <a:spcPts val="0"/>
              </a:spcAft>
              <a:buNone/>
            </a:pPr>
            <a:r>
              <a:rPr lang="en"/>
              <a:t>Determine whether it is advisable for our client to invest in nursing homes.</a:t>
            </a:r>
            <a:endParaRPr/>
          </a:p>
          <a:p>
            <a:pPr indent="0" lvl="0" marL="0" rtl="0" algn="l">
              <a:spcBef>
                <a:spcPts val="0"/>
              </a:spcBef>
              <a:spcAft>
                <a:spcPts val="0"/>
              </a:spcAft>
              <a:buNone/>
            </a:pPr>
            <a:r>
              <a:t/>
            </a:r>
            <a:endParaRPr/>
          </a:p>
          <a:p>
            <a:pPr indent="0" lvl="0" marL="0" rtl="0" algn="l">
              <a:spcBef>
                <a:spcPts val="0"/>
              </a:spcBef>
              <a:spcAft>
                <a:spcPts val="0"/>
              </a:spcAft>
              <a:buNone/>
            </a:pPr>
            <a:r>
              <a:rPr b="1" i="1" lang="en"/>
              <a:t>Objectives:</a:t>
            </a:r>
            <a:endParaRPr b="1" i="1"/>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Evaluate overall financial performance of U.S. nursing homes (2015–2021)</a:t>
            </a:r>
            <a:endParaRPr/>
          </a:p>
          <a:p>
            <a:pPr indent="-317500" lvl="0" marL="457200" rtl="0" algn="l">
              <a:spcBef>
                <a:spcPts val="0"/>
              </a:spcBef>
              <a:spcAft>
                <a:spcPts val="0"/>
              </a:spcAft>
              <a:buSzPts val="1400"/>
              <a:buChar char="○"/>
            </a:pPr>
            <a:r>
              <a:rPr lang="en"/>
              <a:t>Identify the key factors influencing financial outcomes</a:t>
            </a:r>
            <a:endParaRPr/>
          </a:p>
          <a:p>
            <a:pPr indent="-317500" lvl="0" marL="457200" rtl="0" algn="l">
              <a:spcBef>
                <a:spcPts val="0"/>
              </a:spcBef>
              <a:spcAft>
                <a:spcPts val="0"/>
              </a:spcAft>
              <a:buSzPts val="1400"/>
              <a:buChar char="○"/>
            </a:pPr>
            <a:r>
              <a:rPr lang="en"/>
              <a:t>Determine which factors are most significant</a:t>
            </a:r>
            <a:endParaRPr/>
          </a:p>
          <a:p>
            <a:pPr indent="-317500" lvl="0" marL="457200" rtl="0" algn="l">
              <a:spcBef>
                <a:spcPts val="0"/>
              </a:spcBef>
              <a:spcAft>
                <a:spcPts val="0"/>
              </a:spcAft>
              <a:buSzPts val="1400"/>
              <a:buChar char="○"/>
            </a:pPr>
            <a:r>
              <a:rPr lang="en"/>
              <a:t>Analyze long-term trends in performance and drivers</a:t>
            </a:r>
            <a:endParaRPr/>
          </a:p>
          <a:p>
            <a:pPr indent="-317500" lvl="0" marL="457200" rtl="0" algn="l">
              <a:spcBef>
                <a:spcPts val="0"/>
              </a:spcBef>
              <a:spcAft>
                <a:spcPts val="0"/>
              </a:spcAft>
              <a:buSzPts val="1400"/>
              <a:buChar char="○"/>
            </a:pPr>
            <a:r>
              <a:rPr lang="en"/>
              <a:t>Examine the impact of COVID-19 on the sector</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264" name="Google Shape;264;p33"/>
          <p:cNvPicPr preferRelativeResize="0"/>
          <p:nvPr>
            <p:ph idx="2" type="pic"/>
          </p:nvPr>
        </p:nvPicPr>
        <p:blipFill rotWithShape="1">
          <a:blip r:embed="rId4">
            <a:alphaModFix/>
          </a:blip>
          <a:srcRect b="5532" l="26245" r="17129" t="2411"/>
          <a:stretch/>
        </p:blipFill>
        <p:spPr>
          <a:xfrm>
            <a:off x="1068000" y="1473675"/>
            <a:ext cx="2778900" cy="2541300"/>
          </a:xfrm>
          <a:prstGeom prst="roundRect">
            <a:avLst>
              <a:gd fmla="val 16667" name="adj"/>
            </a:avLst>
          </a:prstGeom>
          <a:ln cap="flat" cmpd="sng" w="9525">
            <a:solidFill>
              <a:schemeClr val="dk1"/>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68" name="Shape 268"/>
        <p:cNvGrpSpPr/>
        <p:nvPr/>
      </p:nvGrpSpPr>
      <p:grpSpPr>
        <a:xfrm>
          <a:off x="0" y="0"/>
          <a:ext cx="0" cy="0"/>
          <a:chOff x="0" y="0"/>
          <a:chExt cx="0" cy="0"/>
        </a:xfrm>
      </p:grpSpPr>
      <p:sp>
        <p:nvSpPr>
          <p:cNvPr id="269" name="Google Shape;269;p34"/>
          <p:cNvSpPr txBox="1"/>
          <p:nvPr>
            <p:ph type="title"/>
          </p:nvPr>
        </p:nvSpPr>
        <p:spPr>
          <a:xfrm>
            <a:off x="720000" y="540000"/>
            <a:ext cx="7704000" cy="56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Project Purpose and Objectives</a:t>
            </a:r>
            <a:endParaRPr/>
          </a:p>
        </p:txBody>
      </p:sp>
      <p:sp>
        <p:nvSpPr>
          <p:cNvPr id="270" name="Google Shape;270;p34"/>
          <p:cNvSpPr txBox="1"/>
          <p:nvPr>
            <p:ph idx="1" type="subTitle"/>
          </p:nvPr>
        </p:nvSpPr>
        <p:spPr>
          <a:xfrm rot="-227">
            <a:off x="4194950" y="1449365"/>
            <a:ext cx="4551900" cy="2589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Why this Matters:</a:t>
            </a:r>
            <a:endParaRPr b="1" i="1"/>
          </a:p>
          <a:p>
            <a:pPr indent="0" lvl="0" marL="0" rtl="0" algn="l">
              <a:spcBef>
                <a:spcPts val="0"/>
              </a:spcBef>
              <a:spcAft>
                <a:spcPts val="0"/>
              </a:spcAft>
              <a:buNone/>
            </a:pPr>
            <a:r>
              <a:t/>
            </a:r>
            <a:endParaRPr/>
          </a:p>
          <a:p>
            <a:pPr indent="-317500" lvl="0" marL="457200" rtl="0" algn="l">
              <a:spcBef>
                <a:spcPts val="0"/>
              </a:spcBef>
              <a:spcAft>
                <a:spcPts val="0"/>
              </a:spcAft>
              <a:buSzPts val="1400"/>
              <a:buChar char="○"/>
            </a:pPr>
            <a:r>
              <a:rPr lang="en"/>
              <a:t>H</a:t>
            </a:r>
            <a:r>
              <a:rPr lang="en"/>
              <a:t>elps make data-driven investment choices in a high-stakes, expanding sector.</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Supports strategy development for a sector critical to the well-being of an aging population.</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Helps stakeholders understand the financial dynamics and risk factors in long-term care.</a:t>
            </a:r>
            <a:endParaRPr/>
          </a:p>
          <a:p>
            <a:pPr indent="0" lvl="0" marL="0" rtl="0" algn="l">
              <a:spcBef>
                <a:spcPts val="0"/>
              </a:spcBef>
              <a:spcAft>
                <a:spcPts val="0"/>
              </a:spcAft>
              <a:buNone/>
            </a:pPr>
            <a:r>
              <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271" name="Google Shape;271;p34"/>
          <p:cNvPicPr preferRelativeResize="0"/>
          <p:nvPr>
            <p:ph idx="2" type="pic"/>
          </p:nvPr>
        </p:nvPicPr>
        <p:blipFill rotWithShape="1">
          <a:blip r:embed="rId4">
            <a:alphaModFix/>
          </a:blip>
          <a:srcRect b="5532" l="26245" r="17129" t="2411"/>
          <a:stretch/>
        </p:blipFill>
        <p:spPr>
          <a:xfrm>
            <a:off x="1068000" y="1473675"/>
            <a:ext cx="2778900" cy="2541300"/>
          </a:xfrm>
          <a:prstGeom prst="roundRect">
            <a:avLst>
              <a:gd fmla="val 16667" name="adj"/>
            </a:avLst>
          </a:prstGeom>
          <a:ln cap="flat" cmpd="sng" w="9525">
            <a:solidFill>
              <a:schemeClr val="dk1"/>
            </a:solidFill>
            <a:prstDash val="solid"/>
            <a:round/>
            <a:headEnd len="sm" w="sm" type="none"/>
            <a:tailEnd len="sm" w="sm" type="none"/>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75" name="Shape 275"/>
        <p:cNvGrpSpPr/>
        <p:nvPr/>
      </p:nvGrpSpPr>
      <p:grpSpPr>
        <a:xfrm>
          <a:off x="0" y="0"/>
          <a:ext cx="0" cy="0"/>
          <a:chOff x="0" y="0"/>
          <a:chExt cx="0" cy="0"/>
        </a:xfrm>
      </p:grpSpPr>
      <p:sp>
        <p:nvSpPr>
          <p:cNvPr id="276" name="Google Shape;276;p35"/>
          <p:cNvSpPr/>
          <p:nvPr/>
        </p:nvSpPr>
        <p:spPr>
          <a:xfrm>
            <a:off x="2067075" y="1848850"/>
            <a:ext cx="5010000" cy="1818300"/>
          </a:xfrm>
          <a:prstGeom prst="roundRect">
            <a:avLst>
              <a:gd fmla="val 11368"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35"/>
          <p:cNvSpPr txBox="1"/>
          <p:nvPr>
            <p:ph type="title"/>
          </p:nvPr>
        </p:nvSpPr>
        <p:spPr>
          <a:xfrm>
            <a:off x="2067075" y="1988325"/>
            <a:ext cx="5010000" cy="142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000"/>
              <a:t>Methodology and Data Description </a:t>
            </a:r>
            <a:endParaRPr sz="5000"/>
          </a:p>
        </p:txBody>
      </p:sp>
      <p:sp>
        <p:nvSpPr>
          <p:cNvPr id="278" name="Google Shape;278;p35"/>
          <p:cNvSpPr txBox="1"/>
          <p:nvPr>
            <p:ph idx="2" type="title"/>
          </p:nvPr>
        </p:nvSpPr>
        <p:spPr>
          <a:xfrm>
            <a:off x="3796851" y="940885"/>
            <a:ext cx="1550100" cy="122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02</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82" name="Shape 282"/>
        <p:cNvGrpSpPr/>
        <p:nvPr/>
      </p:nvGrpSpPr>
      <p:grpSpPr>
        <a:xfrm>
          <a:off x="0" y="0"/>
          <a:ext cx="0" cy="0"/>
          <a:chOff x="0" y="0"/>
          <a:chExt cx="0" cy="0"/>
        </a:xfrm>
      </p:grpSpPr>
      <p:cxnSp>
        <p:nvCxnSpPr>
          <p:cNvPr id="283" name="Google Shape;283;p36"/>
          <p:cNvCxnSpPr>
            <a:endCxn id="284" idx="1"/>
          </p:cNvCxnSpPr>
          <p:nvPr/>
        </p:nvCxnSpPr>
        <p:spPr>
          <a:xfrm>
            <a:off x="3725400" y="540000"/>
            <a:ext cx="4358400" cy="0"/>
          </a:xfrm>
          <a:prstGeom prst="straightConnector1">
            <a:avLst/>
          </a:prstGeom>
          <a:noFill/>
          <a:ln cap="flat" cmpd="sng" w="9525">
            <a:solidFill>
              <a:schemeClr val="dk2"/>
            </a:solidFill>
            <a:prstDash val="solid"/>
            <a:round/>
            <a:headEnd len="med" w="med" type="none"/>
            <a:tailEnd len="med" w="med" type="none"/>
          </a:ln>
        </p:spPr>
      </p:cxnSp>
      <p:sp>
        <p:nvSpPr>
          <p:cNvPr id="285" name="Google Shape;285;p36"/>
          <p:cNvSpPr/>
          <p:nvPr/>
        </p:nvSpPr>
        <p:spPr>
          <a:xfrm>
            <a:off x="936550" y="1735425"/>
            <a:ext cx="3435000" cy="2780700"/>
          </a:xfrm>
          <a:prstGeom prst="roundRect">
            <a:avLst>
              <a:gd fmla="val 11368"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36"/>
          <p:cNvSpPr/>
          <p:nvPr/>
        </p:nvSpPr>
        <p:spPr>
          <a:xfrm>
            <a:off x="4772600" y="1735425"/>
            <a:ext cx="3435000" cy="2780700"/>
          </a:xfrm>
          <a:prstGeom prst="roundRect">
            <a:avLst>
              <a:gd fmla="val 11368"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36"/>
          <p:cNvSpPr txBox="1"/>
          <p:nvPr>
            <p:ph idx="1" type="subTitle"/>
          </p:nvPr>
        </p:nvSpPr>
        <p:spPr>
          <a:xfrm>
            <a:off x="1113700" y="2392275"/>
            <a:ext cx="3080700" cy="18939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Data sourced from CMS via Provider Data Catalog and Care Compare</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Covers 2015–2021, across financial, quality, staffing, and inspection metrics</a:t>
            </a:r>
            <a:endParaRPr/>
          </a:p>
          <a:p>
            <a:pPr indent="0" lvl="0" marL="457200" rtl="0" algn="l">
              <a:spcBef>
                <a:spcPts val="0"/>
              </a:spcBef>
              <a:spcAft>
                <a:spcPts val="0"/>
              </a:spcAft>
              <a:buNone/>
            </a:pPr>
            <a:r>
              <a:t/>
            </a:r>
            <a:endParaRPr/>
          </a:p>
          <a:p>
            <a:pPr indent="-317500" lvl="0" marL="457200" rtl="0" algn="l">
              <a:spcBef>
                <a:spcPts val="0"/>
              </a:spcBef>
              <a:spcAft>
                <a:spcPts val="0"/>
              </a:spcAft>
              <a:buSzPts val="1400"/>
              <a:buChar char="●"/>
            </a:pPr>
            <a:r>
              <a:rPr lang="en"/>
              <a:t>All data was in CSV format</a:t>
            </a:r>
            <a:endParaRPr/>
          </a:p>
        </p:txBody>
      </p:sp>
      <p:sp>
        <p:nvSpPr>
          <p:cNvPr id="288" name="Google Shape;288;p36"/>
          <p:cNvSpPr txBox="1"/>
          <p:nvPr>
            <p:ph idx="2" type="subTitle"/>
          </p:nvPr>
        </p:nvSpPr>
        <p:spPr>
          <a:xfrm>
            <a:off x="4949750" y="2392275"/>
            <a:ext cx="3080700" cy="2573400"/>
          </a:xfrm>
          <a:prstGeom prst="rect">
            <a:avLst/>
          </a:prstGeom>
        </p:spPr>
        <p:txBody>
          <a:bodyPr anchorCtr="0" anchor="t" bIns="91425" lIns="91425" spcFirstLastPara="1" rIns="91425" wrap="square" tIns="91425">
            <a:noAutofit/>
          </a:bodyPr>
          <a:lstStyle/>
          <a:p>
            <a:pPr indent="-317500" lvl="0" marL="457200" rtl="0" algn="l">
              <a:spcBef>
                <a:spcPts val="0"/>
              </a:spcBef>
              <a:spcAft>
                <a:spcPts val="0"/>
              </a:spcAft>
              <a:buSzPts val="1400"/>
              <a:buChar char="●"/>
            </a:pPr>
            <a:r>
              <a:rPr lang="en"/>
              <a:t>Descriptive Statistics</a:t>
            </a:r>
            <a:endParaRPr/>
          </a:p>
          <a:p>
            <a:pPr indent="-317500" lvl="0" marL="457200" rtl="0" algn="l">
              <a:spcBef>
                <a:spcPts val="0"/>
              </a:spcBef>
              <a:spcAft>
                <a:spcPts val="0"/>
              </a:spcAft>
              <a:buSzPts val="1400"/>
              <a:buChar char="●"/>
            </a:pPr>
            <a:r>
              <a:rPr lang="en"/>
              <a:t>Correlation Analysis</a:t>
            </a:r>
            <a:endParaRPr/>
          </a:p>
          <a:p>
            <a:pPr indent="-317500" lvl="0" marL="457200" rtl="0" algn="l">
              <a:spcBef>
                <a:spcPts val="0"/>
              </a:spcBef>
              <a:spcAft>
                <a:spcPts val="0"/>
              </a:spcAft>
              <a:buSzPts val="1400"/>
              <a:buChar char="●"/>
            </a:pPr>
            <a:r>
              <a:rPr lang="en"/>
              <a:t>Trend &amp; Time-Series Analysis</a:t>
            </a:r>
            <a:endParaRPr/>
          </a:p>
          <a:p>
            <a:pPr indent="-317500" lvl="0" marL="457200" rtl="0" algn="l">
              <a:spcBef>
                <a:spcPts val="0"/>
              </a:spcBef>
              <a:spcAft>
                <a:spcPts val="0"/>
              </a:spcAft>
              <a:buSzPts val="1400"/>
              <a:buChar char="●"/>
            </a:pPr>
            <a:r>
              <a:rPr lang="en"/>
              <a:t>Regression Modeling (OLS)</a:t>
            </a:r>
            <a:endParaRPr/>
          </a:p>
          <a:p>
            <a:pPr indent="-317500" lvl="0" marL="457200" rtl="0" algn="l">
              <a:spcBef>
                <a:spcPts val="0"/>
              </a:spcBef>
              <a:spcAft>
                <a:spcPts val="0"/>
              </a:spcAft>
              <a:buSzPts val="1400"/>
              <a:buChar char="●"/>
            </a:pPr>
            <a:r>
              <a:rPr lang="en"/>
              <a:t>Categorical Modeling (Logistic, Decision Tree, Random Forest)</a:t>
            </a:r>
            <a:endParaRPr/>
          </a:p>
          <a:p>
            <a:pPr indent="-317500" lvl="0" marL="457200" rtl="0" algn="l">
              <a:spcBef>
                <a:spcPts val="0"/>
              </a:spcBef>
              <a:spcAft>
                <a:spcPts val="0"/>
              </a:spcAft>
              <a:buSzPts val="1400"/>
              <a:buChar char="●"/>
            </a:pPr>
            <a:r>
              <a:rPr lang="en"/>
              <a:t>Machine Learning (Random Forest, Lasso, Ridge, ElasticNet)</a:t>
            </a:r>
            <a:endParaRPr/>
          </a:p>
          <a:p>
            <a:pPr indent="-317500" lvl="0" marL="457200" rtl="0" algn="l">
              <a:spcBef>
                <a:spcPts val="0"/>
              </a:spcBef>
              <a:spcAft>
                <a:spcPts val="0"/>
              </a:spcAft>
              <a:buSzPts val="1400"/>
              <a:buChar char="●"/>
            </a:pPr>
            <a:r>
              <a:rPr lang="en"/>
              <a:t>COVID-19 Impact Assessment</a:t>
            </a:r>
            <a:endParaRPr/>
          </a:p>
          <a:p>
            <a:pPr indent="0" lvl="0" marL="457200" rtl="0" algn="l">
              <a:spcBef>
                <a:spcPts val="0"/>
              </a:spcBef>
              <a:spcAft>
                <a:spcPts val="0"/>
              </a:spcAft>
              <a:buNone/>
            </a:pPr>
            <a:r>
              <a:t/>
            </a:r>
            <a:endParaRPr/>
          </a:p>
          <a:p>
            <a:pPr indent="0" lvl="0" marL="0" rtl="0" algn="l">
              <a:spcBef>
                <a:spcPts val="0"/>
              </a:spcBef>
              <a:spcAft>
                <a:spcPts val="0"/>
              </a:spcAft>
              <a:buNone/>
            </a:pPr>
            <a:r>
              <a:t/>
            </a:r>
            <a:endParaRPr/>
          </a:p>
        </p:txBody>
      </p:sp>
      <p:sp>
        <p:nvSpPr>
          <p:cNvPr id="289" name="Google Shape;289;p36"/>
          <p:cNvSpPr txBox="1"/>
          <p:nvPr>
            <p:ph type="title"/>
          </p:nvPr>
        </p:nvSpPr>
        <p:spPr>
          <a:xfrm>
            <a:off x="1113250" y="1903585"/>
            <a:ext cx="3081600" cy="48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Data Collection</a:t>
            </a:r>
            <a:endParaRPr/>
          </a:p>
        </p:txBody>
      </p:sp>
      <p:sp>
        <p:nvSpPr>
          <p:cNvPr id="290" name="Google Shape;290;p36"/>
          <p:cNvSpPr txBox="1"/>
          <p:nvPr>
            <p:ph idx="3" type="title"/>
          </p:nvPr>
        </p:nvSpPr>
        <p:spPr>
          <a:xfrm>
            <a:off x="4786550" y="1903575"/>
            <a:ext cx="3407100" cy="488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500"/>
              <a:t>Data Analysis Techniques</a:t>
            </a:r>
            <a:endParaRPr sz="2500"/>
          </a:p>
        </p:txBody>
      </p:sp>
      <p:sp>
        <p:nvSpPr>
          <p:cNvPr id="291" name="Google Shape;291;p36"/>
          <p:cNvSpPr/>
          <p:nvPr/>
        </p:nvSpPr>
        <p:spPr>
          <a:xfrm>
            <a:off x="6234029" y="1263188"/>
            <a:ext cx="512139" cy="472257"/>
          </a:xfrm>
          <a:custGeom>
            <a:rect b="b" l="l" r="r" t="t"/>
            <a:pathLst>
              <a:path extrusionOk="0" h="9608" w="9605">
                <a:moveTo>
                  <a:pt x="6576" y="2456"/>
                </a:moveTo>
                <a:cubicBezTo>
                  <a:pt x="6762" y="2456"/>
                  <a:pt x="6916" y="2589"/>
                  <a:pt x="6950" y="2764"/>
                </a:cubicBezTo>
                <a:cubicBezTo>
                  <a:pt x="6843" y="2720"/>
                  <a:pt x="6727" y="2697"/>
                  <a:pt x="6607" y="2697"/>
                </a:cubicBezTo>
                <a:cubicBezTo>
                  <a:pt x="6602" y="2697"/>
                  <a:pt x="6597" y="2697"/>
                  <a:pt x="6592" y="2697"/>
                </a:cubicBezTo>
                <a:cubicBezTo>
                  <a:pt x="6589" y="2697"/>
                  <a:pt x="6587" y="2697"/>
                  <a:pt x="6584" y="2697"/>
                </a:cubicBezTo>
                <a:cubicBezTo>
                  <a:pt x="6450" y="2697"/>
                  <a:pt x="6319" y="2724"/>
                  <a:pt x="6199" y="2780"/>
                </a:cubicBezTo>
                <a:cubicBezTo>
                  <a:pt x="6227" y="2597"/>
                  <a:pt x="6385" y="2456"/>
                  <a:pt x="6576" y="2456"/>
                </a:cubicBezTo>
                <a:close/>
                <a:moveTo>
                  <a:pt x="2380" y="2928"/>
                </a:moveTo>
                <a:cubicBezTo>
                  <a:pt x="2460" y="2928"/>
                  <a:pt x="2524" y="2992"/>
                  <a:pt x="2524" y="3073"/>
                </a:cubicBezTo>
                <a:cubicBezTo>
                  <a:pt x="2529" y="3138"/>
                  <a:pt x="2475" y="3222"/>
                  <a:pt x="2380" y="3228"/>
                </a:cubicBezTo>
                <a:lnTo>
                  <a:pt x="2196" y="3228"/>
                </a:lnTo>
                <a:lnTo>
                  <a:pt x="2196" y="2928"/>
                </a:lnTo>
                <a:close/>
                <a:moveTo>
                  <a:pt x="4034" y="2929"/>
                </a:moveTo>
                <a:lnTo>
                  <a:pt x="4034" y="3229"/>
                </a:lnTo>
                <a:lnTo>
                  <a:pt x="3852" y="3229"/>
                </a:lnTo>
                <a:cubicBezTo>
                  <a:pt x="3851" y="3229"/>
                  <a:pt x="3851" y="3229"/>
                  <a:pt x="3850" y="3229"/>
                </a:cubicBezTo>
                <a:cubicBezTo>
                  <a:pt x="3788" y="3229"/>
                  <a:pt x="3704" y="3166"/>
                  <a:pt x="3706" y="3075"/>
                </a:cubicBezTo>
                <a:cubicBezTo>
                  <a:pt x="3706" y="2994"/>
                  <a:pt x="3770" y="2929"/>
                  <a:pt x="3852" y="2929"/>
                </a:cubicBezTo>
                <a:close/>
                <a:moveTo>
                  <a:pt x="6576" y="2979"/>
                </a:moveTo>
                <a:cubicBezTo>
                  <a:pt x="6582" y="2979"/>
                  <a:pt x="6589" y="2979"/>
                  <a:pt x="6595" y="2980"/>
                </a:cubicBezTo>
                <a:cubicBezTo>
                  <a:pt x="6600" y="2979"/>
                  <a:pt x="6606" y="2979"/>
                  <a:pt x="6611" y="2979"/>
                </a:cubicBezTo>
                <a:cubicBezTo>
                  <a:pt x="6754" y="2979"/>
                  <a:pt x="6929" y="3044"/>
                  <a:pt x="7045" y="3160"/>
                </a:cubicBezTo>
                <a:cubicBezTo>
                  <a:pt x="7151" y="3263"/>
                  <a:pt x="7215" y="3395"/>
                  <a:pt x="7235" y="3539"/>
                </a:cubicBezTo>
                <a:cubicBezTo>
                  <a:pt x="7190" y="3551"/>
                  <a:pt x="7141" y="3560"/>
                  <a:pt x="7092" y="3560"/>
                </a:cubicBezTo>
                <a:cubicBezTo>
                  <a:pt x="6954" y="3560"/>
                  <a:pt x="6808" y="3497"/>
                  <a:pt x="6696" y="3295"/>
                </a:cubicBezTo>
                <a:cubicBezTo>
                  <a:pt x="6671" y="3250"/>
                  <a:pt x="6623" y="3222"/>
                  <a:pt x="6572" y="3222"/>
                </a:cubicBezTo>
                <a:cubicBezTo>
                  <a:pt x="6521" y="3222"/>
                  <a:pt x="6474" y="3250"/>
                  <a:pt x="6448" y="3295"/>
                </a:cubicBezTo>
                <a:cubicBezTo>
                  <a:pt x="6336" y="3498"/>
                  <a:pt x="6189" y="3559"/>
                  <a:pt x="6051" y="3559"/>
                </a:cubicBezTo>
                <a:cubicBezTo>
                  <a:pt x="6015" y="3559"/>
                  <a:pt x="5980" y="3555"/>
                  <a:pt x="5946" y="3548"/>
                </a:cubicBezTo>
                <a:cubicBezTo>
                  <a:pt x="5965" y="3401"/>
                  <a:pt x="6031" y="3264"/>
                  <a:pt x="6138" y="3160"/>
                </a:cubicBezTo>
                <a:cubicBezTo>
                  <a:pt x="6241" y="3056"/>
                  <a:pt x="6415" y="2979"/>
                  <a:pt x="6576" y="2979"/>
                </a:cubicBezTo>
                <a:close/>
                <a:moveTo>
                  <a:pt x="3138" y="2517"/>
                </a:moveTo>
                <a:cubicBezTo>
                  <a:pt x="3322" y="2517"/>
                  <a:pt x="3496" y="2593"/>
                  <a:pt x="3623" y="2722"/>
                </a:cubicBezTo>
                <a:cubicBezTo>
                  <a:pt x="3517" y="2800"/>
                  <a:pt x="3448" y="2924"/>
                  <a:pt x="3448" y="3065"/>
                </a:cubicBezTo>
                <a:cubicBezTo>
                  <a:pt x="3440" y="3275"/>
                  <a:pt x="3612" y="3475"/>
                  <a:pt x="3827" y="3497"/>
                </a:cubicBezTo>
                <a:lnTo>
                  <a:pt x="3827" y="3683"/>
                </a:lnTo>
                <a:cubicBezTo>
                  <a:pt x="3827" y="3978"/>
                  <a:pt x="3702" y="4018"/>
                  <a:pt x="3568" y="4018"/>
                </a:cubicBezTo>
                <a:cubicBezTo>
                  <a:pt x="3511" y="4018"/>
                  <a:pt x="3460" y="4052"/>
                  <a:pt x="3438" y="4104"/>
                </a:cubicBezTo>
                <a:cubicBezTo>
                  <a:pt x="3389" y="4218"/>
                  <a:pt x="3263" y="4295"/>
                  <a:pt x="3125" y="4295"/>
                </a:cubicBezTo>
                <a:cubicBezTo>
                  <a:pt x="2988" y="4295"/>
                  <a:pt x="2863" y="4219"/>
                  <a:pt x="2808" y="4100"/>
                </a:cubicBezTo>
                <a:cubicBezTo>
                  <a:pt x="2784" y="4050"/>
                  <a:pt x="2734" y="4019"/>
                  <a:pt x="2681" y="4019"/>
                </a:cubicBezTo>
                <a:cubicBezTo>
                  <a:pt x="2596" y="4019"/>
                  <a:pt x="2422" y="4019"/>
                  <a:pt x="2422" y="3685"/>
                </a:cubicBezTo>
                <a:lnTo>
                  <a:pt x="2422" y="3498"/>
                </a:lnTo>
                <a:cubicBezTo>
                  <a:pt x="2629" y="3481"/>
                  <a:pt x="2812" y="3288"/>
                  <a:pt x="2807" y="3065"/>
                </a:cubicBezTo>
                <a:cubicBezTo>
                  <a:pt x="2807" y="2923"/>
                  <a:pt x="2735" y="2796"/>
                  <a:pt x="2628" y="2720"/>
                </a:cubicBezTo>
                <a:cubicBezTo>
                  <a:pt x="2756" y="2590"/>
                  <a:pt x="2930" y="2517"/>
                  <a:pt x="3113" y="2517"/>
                </a:cubicBezTo>
                <a:cubicBezTo>
                  <a:pt x="3115" y="2517"/>
                  <a:pt x="3118" y="2517"/>
                  <a:pt x="3121" y="2517"/>
                </a:cubicBezTo>
                <a:lnTo>
                  <a:pt x="3127" y="2517"/>
                </a:lnTo>
                <a:cubicBezTo>
                  <a:pt x="3131" y="2517"/>
                  <a:pt x="3134" y="2517"/>
                  <a:pt x="3138" y="2517"/>
                </a:cubicBezTo>
                <a:close/>
                <a:moveTo>
                  <a:pt x="6577" y="3602"/>
                </a:moveTo>
                <a:cubicBezTo>
                  <a:pt x="6716" y="3756"/>
                  <a:pt x="6896" y="3838"/>
                  <a:pt x="7094" y="3838"/>
                </a:cubicBezTo>
                <a:cubicBezTo>
                  <a:pt x="7144" y="3838"/>
                  <a:pt x="7193" y="3833"/>
                  <a:pt x="7244" y="3824"/>
                </a:cubicBezTo>
                <a:lnTo>
                  <a:pt x="7244" y="4061"/>
                </a:lnTo>
                <a:cubicBezTo>
                  <a:pt x="7244" y="4328"/>
                  <a:pt x="7131" y="4364"/>
                  <a:pt x="7010" y="4364"/>
                </a:cubicBezTo>
                <a:cubicBezTo>
                  <a:pt x="6965" y="4364"/>
                  <a:pt x="6922" y="4386"/>
                  <a:pt x="6897" y="4423"/>
                </a:cubicBezTo>
                <a:cubicBezTo>
                  <a:pt x="6843" y="4499"/>
                  <a:pt x="6748" y="4589"/>
                  <a:pt x="6597" y="4589"/>
                </a:cubicBezTo>
                <a:cubicBezTo>
                  <a:pt x="6445" y="4589"/>
                  <a:pt x="6350" y="4499"/>
                  <a:pt x="6297" y="4423"/>
                </a:cubicBezTo>
                <a:cubicBezTo>
                  <a:pt x="6271" y="4386"/>
                  <a:pt x="6229" y="4364"/>
                  <a:pt x="6184" y="4364"/>
                </a:cubicBezTo>
                <a:cubicBezTo>
                  <a:pt x="6063" y="4364"/>
                  <a:pt x="5950" y="4327"/>
                  <a:pt x="5950" y="4061"/>
                </a:cubicBezTo>
                <a:lnTo>
                  <a:pt x="5948" y="3829"/>
                </a:lnTo>
                <a:lnTo>
                  <a:pt x="5948" y="3829"/>
                </a:lnTo>
                <a:cubicBezTo>
                  <a:pt x="5986" y="3834"/>
                  <a:pt x="6023" y="3837"/>
                  <a:pt x="6060" y="3837"/>
                </a:cubicBezTo>
                <a:cubicBezTo>
                  <a:pt x="6259" y="3837"/>
                  <a:pt x="6438" y="3755"/>
                  <a:pt x="6577" y="3602"/>
                </a:cubicBezTo>
                <a:close/>
                <a:moveTo>
                  <a:pt x="6129" y="4661"/>
                </a:moveTo>
                <a:cubicBezTo>
                  <a:pt x="6220" y="4758"/>
                  <a:pt x="6331" y="4823"/>
                  <a:pt x="6455" y="4851"/>
                </a:cubicBezTo>
                <a:lnTo>
                  <a:pt x="6455" y="5667"/>
                </a:lnTo>
                <a:lnTo>
                  <a:pt x="6264" y="5667"/>
                </a:lnTo>
                <a:lnTo>
                  <a:pt x="6020" y="4701"/>
                </a:lnTo>
                <a:cubicBezTo>
                  <a:pt x="6055" y="4688"/>
                  <a:pt x="6092" y="4673"/>
                  <a:pt x="6129" y="4661"/>
                </a:cubicBezTo>
                <a:close/>
                <a:moveTo>
                  <a:pt x="7057" y="4667"/>
                </a:moveTo>
                <a:cubicBezTo>
                  <a:pt x="7096" y="4679"/>
                  <a:pt x="7133" y="4694"/>
                  <a:pt x="7168" y="4710"/>
                </a:cubicBezTo>
                <a:lnTo>
                  <a:pt x="6925" y="5667"/>
                </a:lnTo>
                <a:lnTo>
                  <a:pt x="6735" y="5667"/>
                </a:lnTo>
                <a:lnTo>
                  <a:pt x="6735" y="4851"/>
                </a:lnTo>
                <a:cubicBezTo>
                  <a:pt x="6857" y="4823"/>
                  <a:pt x="6966" y="4762"/>
                  <a:pt x="7057" y="4667"/>
                </a:cubicBezTo>
                <a:close/>
                <a:moveTo>
                  <a:pt x="3511" y="5691"/>
                </a:moveTo>
                <a:lnTo>
                  <a:pt x="3811" y="5873"/>
                </a:lnTo>
                <a:lnTo>
                  <a:pt x="3811" y="6107"/>
                </a:lnTo>
                <a:lnTo>
                  <a:pt x="3585" y="5970"/>
                </a:lnTo>
                <a:cubicBezTo>
                  <a:pt x="3563" y="5955"/>
                  <a:pt x="3537" y="5948"/>
                  <a:pt x="3512" y="5948"/>
                </a:cubicBezTo>
                <a:cubicBezTo>
                  <a:pt x="3486" y="5948"/>
                  <a:pt x="3461" y="5955"/>
                  <a:pt x="3438" y="5970"/>
                </a:cubicBezTo>
                <a:lnTo>
                  <a:pt x="3113" y="6167"/>
                </a:lnTo>
                <a:lnTo>
                  <a:pt x="2787" y="5970"/>
                </a:lnTo>
                <a:cubicBezTo>
                  <a:pt x="2764" y="5955"/>
                  <a:pt x="2739" y="5948"/>
                  <a:pt x="2714" y="5948"/>
                </a:cubicBezTo>
                <a:cubicBezTo>
                  <a:pt x="2688" y="5948"/>
                  <a:pt x="2663" y="5955"/>
                  <a:pt x="2640" y="5970"/>
                </a:cubicBezTo>
                <a:lnTo>
                  <a:pt x="2403" y="6113"/>
                </a:lnTo>
                <a:lnTo>
                  <a:pt x="2403" y="5880"/>
                </a:lnTo>
                <a:lnTo>
                  <a:pt x="2713" y="5691"/>
                </a:lnTo>
                <a:lnTo>
                  <a:pt x="3039" y="5888"/>
                </a:lnTo>
                <a:cubicBezTo>
                  <a:pt x="3061" y="5903"/>
                  <a:pt x="3087" y="5910"/>
                  <a:pt x="3112" y="5910"/>
                </a:cubicBezTo>
                <a:cubicBezTo>
                  <a:pt x="3137" y="5910"/>
                  <a:pt x="3163" y="5903"/>
                  <a:pt x="3185" y="5888"/>
                </a:cubicBezTo>
                <a:lnTo>
                  <a:pt x="3511" y="5691"/>
                </a:lnTo>
                <a:close/>
                <a:moveTo>
                  <a:pt x="5767" y="4847"/>
                </a:moveTo>
                <a:lnTo>
                  <a:pt x="5973" y="5667"/>
                </a:lnTo>
                <a:lnTo>
                  <a:pt x="5763" y="5667"/>
                </a:lnTo>
                <a:cubicBezTo>
                  <a:pt x="5691" y="5667"/>
                  <a:pt x="5627" y="5719"/>
                  <a:pt x="5619" y="5790"/>
                </a:cubicBezTo>
                <a:cubicBezTo>
                  <a:pt x="5608" y="5876"/>
                  <a:pt x="5675" y="5949"/>
                  <a:pt x="5758" y="5949"/>
                </a:cubicBezTo>
                <a:lnTo>
                  <a:pt x="6455" y="5949"/>
                </a:lnTo>
                <a:lnTo>
                  <a:pt x="6455" y="6418"/>
                </a:lnTo>
                <a:lnTo>
                  <a:pt x="5578" y="6418"/>
                </a:lnTo>
                <a:cubicBezTo>
                  <a:pt x="5399" y="6418"/>
                  <a:pt x="5255" y="6276"/>
                  <a:pt x="5255" y="6099"/>
                </a:cubicBezTo>
                <a:lnTo>
                  <a:pt x="5255" y="5870"/>
                </a:lnTo>
                <a:cubicBezTo>
                  <a:pt x="5255" y="5453"/>
                  <a:pt x="5450" y="5079"/>
                  <a:pt x="5767" y="4847"/>
                </a:cubicBezTo>
                <a:close/>
                <a:moveTo>
                  <a:pt x="7420" y="4857"/>
                </a:moveTo>
                <a:cubicBezTo>
                  <a:pt x="7729" y="5091"/>
                  <a:pt x="7917" y="5460"/>
                  <a:pt x="7917" y="5870"/>
                </a:cubicBezTo>
                <a:lnTo>
                  <a:pt x="7917" y="6112"/>
                </a:lnTo>
                <a:cubicBezTo>
                  <a:pt x="7917" y="6291"/>
                  <a:pt x="7772" y="6435"/>
                  <a:pt x="7594" y="6435"/>
                </a:cubicBezTo>
                <a:lnTo>
                  <a:pt x="6735" y="6435"/>
                </a:lnTo>
                <a:lnTo>
                  <a:pt x="6735" y="5946"/>
                </a:lnTo>
                <a:lnTo>
                  <a:pt x="7394" y="5946"/>
                </a:lnTo>
                <a:cubicBezTo>
                  <a:pt x="7466" y="5946"/>
                  <a:pt x="7530" y="5896"/>
                  <a:pt x="7539" y="5824"/>
                </a:cubicBezTo>
                <a:cubicBezTo>
                  <a:pt x="7549" y="5739"/>
                  <a:pt x="7482" y="5666"/>
                  <a:pt x="7399" y="5666"/>
                </a:cubicBezTo>
                <a:lnTo>
                  <a:pt x="7215" y="5666"/>
                </a:lnTo>
                <a:lnTo>
                  <a:pt x="7420" y="4857"/>
                </a:lnTo>
                <a:close/>
                <a:moveTo>
                  <a:pt x="3511" y="6251"/>
                </a:moveTo>
                <a:lnTo>
                  <a:pt x="3811" y="6432"/>
                </a:lnTo>
                <a:lnTo>
                  <a:pt x="3811" y="7034"/>
                </a:lnTo>
                <a:lnTo>
                  <a:pt x="2475" y="7034"/>
                </a:lnTo>
                <a:cubicBezTo>
                  <a:pt x="2475" y="7034"/>
                  <a:pt x="2475" y="7031"/>
                  <a:pt x="2478" y="7028"/>
                </a:cubicBezTo>
                <a:lnTo>
                  <a:pt x="2478" y="6957"/>
                </a:lnTo>
                <a:cubicBezTo>
                  <a:pt x="2475" y="6878"/>
                  <a:pt x="2452" y="6805"/>
                  <a:pt x="2414" y="6742"/>
                </a:cubicBezTo>
                <a:lnTo>
                  <a:pt x="2403" y="6742"/>
                </a:lnTo>
                <a:lnTo>
                  <a:pt x="2403" y="6440"/>
                </a:lnTo>
                <a:lnTo>
                  <a:pt x="2713" y="6251"/>
                </a:lnTo>
                <a:lnTo>
                  <a:pt x="3039" y="6450"/>
                </a:lnTo>
                <a:cubicBezTo>
                  <a:pt x="3061" y="6463"/>
                  <a:pt x="3087" y="6470"/>
                  <a:pt x="3112" y="6470"/>
                </a:cubicBezTo>
                <a:cubicBezTo>
                  <a:pt x="3137" y="6470"/>
                  <a:pt x="3163" y="6463"/>
                  <a:pt x="3185" y="6450"/>
                </a:cubicBezTo>
                <a:lnTo>
                  <a:pt x="3511" y="6251"/>
                </a:lnTo>
                <a:close/>
                <a:moveTo>
                  <a:pt x="2064" y="6831"/>
                </a:moveTo>
                <a:cubicBezTo>
                  <a:pt x="2137" y="6831"/>
                  <a:pt x="2196" y="6890"/>
                  <a:pt x="2196" y="6962"/>
                </a:cubicBezTo>
                <a:lnTo>
                  <a:pt x="2196" y="7028"/>
                </a:lnTo>
                <a:cubicBezTo>
                  <a:pt x="2196" y="7033"/>
                  <a:pt x="2192" y="7037"/>
                  <a:pt x="2187" y="7037"/>
                </a:cubicBezTo>
                <a:lnTo>
                  <a:pt x="1717" y="7037"/>
                </a:lnTo>
                <a:cubicBezTo>
                  <a:pt x="1712" y="7037"/>
                  <a:pt x="1708" y="7033"/>
                  <a:pt x="1708" y="7028"/>
                </a:cubicBezTo>
                <a:lnTo>
                  <a:pt x="1708" y="6962"/>
                </a:lnTo>
                <a:cubicBezTo>
                  <a:pt x="1708" y="6890"/>
                  <a:pt x="1768" y="6831"/>
                  <a:pt x="1840" y="6831"/>
                </a:cubicBezTo>
                <a:close/>
                <a:moveTo>
                  <a:pt x="4335" y="6924"/>
                </a:moveTo>
                <a:lnTo>
                  <a:pt x="4335" y="7046"/>
                </a:lnTo>
                <a:cubicBezTo>
                  <a:pt x="4335" y="7175"/>
                  <a:pt x="4229" y="7280"/>
                  <a:pt x="4101" y="7280"/>
                </a:cubicBezTo>
                <a:lnTo>
                  <a:pt x="4091" y="7280"/>
                </a:lnTo>
                <a:lnTo>
                  <a:pt x="4091" y="6924"/>
                </a:lnTo>
                <a:close/>
                <a:moveTo>
                  <a:pt x="2946" y="7318"/>
                </a:moveTo>
                <a:lnTo>
                  <a:pt x="2946" y="8868"/>
                </a:lnTo>
                <a:cubicBezTo>
                  <a:pt x="2845" y="8800"/>
                  <a:pt x="2723" y="8761"/>
                  <a:pt x="2592" y="8761"/>
                </a:cubicBezTo>
                <a:cubicBezTo>
                  <a:pt x="2587" y="8761"/>
                  <a:pt x="2583" y="8761"/>
                  <a:pt x="2578" y="8761"/>
                </a:cubicBezTo>
                <a:cubicBezTo>
                  <a:pt x="2509" y="8761"/>
                  <a:pt x="2418" y="8776"/>
                  <a:pt x="2328" y="8812"/>
                </a:cubicBezTo>
                <a:lnTo>
                  <a:pt x="2328" y="7318"/>
                </a:lnTo>
                <a:close/>
                <a:moveTo>
                  <a:pt x="3809" y="7318"/>
                </a:moveTo>
                <a:lnTo>
                  <a:pt x="3809" y="8809"/>
                </a:lnTo>
                <a:cubicBezTo>
                  <a:pt x="3737" y="8778"/>
                  <a:pt x="3657" y="8761"/>
                  <a:pt x="3572" y="8761"/>
                </a:cubicBezTo>
                <a:cubicBezTo>
                  <a:pt x="3568" y="8761"/>
                  <a:pt x="3563" y="8761"/>
                  <a:pt x="3559" y="8761"/>
                </a:cubicBezTo>
                <a:cubicBezTo>
                  <a:pt x="3454" y="8761"/>
                  <a:pt x="3315" y="8796"/>
                  <a:pt x="3209" y="8868"/>
                </a:cubicBezTo>
                <a:lnTo>
                  <a:pt x="3209" y="7318"/>
                </a:lnTo>
                <a:close/>
                <a:moveTo>
                  <a:pt x="2045" y="7318"/>
                </a:moveTo>
                <a:lnTo>
                  <a:pt x="2045" y="9326"/>
                </a:lnTo>
                <a:lnTo>
                  <a:pt x="1859" y="9326"/>
                </a:lnTo>
                <a:lnTo>
                  <a:pt x="1859" y="7318"/>
                </a:lnTo>
                <a:close/>
                <a:moveTo>
                  <a:pt x="2576" y="9047"/>
                </a:moveTo>
                <a:cubicBezTo>
                  <a:pt x="2580" y="9047"/>
                  <a:pt x="2584" y="9047"/>
                  <a:pt x="2588" y="9047"/>
                </a:cubicBezTo>
                <a:cubicBezTo>
                  <a:pt x="2757" y="9047"/>
                  <a:pt x="2898" y="9168"/>
                  <a:pt x="2931" y="9326"/>
                </a:cubicBezTo>
                <a:lnTo>
                  <a:pt x="2328" y="9326"/>
                </a:lnTo>
                <a:lnTo>
                  <a:pt x="2328" y="9151"/>
                </a:lnTo>
                <a:cubicBezTo>
                  <a:pt x="2376" y="9101"/>
                  <a:pt x="2475" y="9047"/>
                  <a:pt x="2576" y="9047"/>
                </a:cubicBezTo>
                <a:close/>
                <a:moveTo>
                  <a:pt x="3581" y="9047"/>
                </a:moveTo>
                <a:cubicBezTo>
                  <a:pt x="3732" y="9047"/>
                  <a:pt x="3891" y="9169"/>
                  <a:pt x="3922" y="9326"/>
                </a:cubicBezTo>
                <a:lnTo>
                  <a:pt x="3225" y="9326"/>
                </a:lnTo>
                <a:cubicBezTo>
                  <a:pt x="3258" y="9167"/>
                  <a:pt x="3399" y="9047"/>
                  <a:pt x="3568" y="9047"/>
                </a:cubicBezTo>
                <a:cubicBezTo>
                  <a:pt x="3572" y="9047"/>
                  <a:pt x="3577" y="9047"/>
                  <a:pt x="3581" y="9047"/>
                </a:cubicBezTo>
                <a:close/>
                <a:moveTo>
                  <a:pt x="4804" y="0"/>
                </a:moveTo>
                <a:cubicBezTo>
                  <a:pt x="4785" y="0"/>
                  <a:pt x="4765" y="5"/>
                  <a:pt x="4746" y="14"/>
                </a:cubicBezTo>
                <a:lnTo>
                  <a:pt x="2196" y="1169"/>
                </a:lnTo>
                <a:cubicBezTo>
                  <a:pt x="2130" y="1199"/>
                  <a:pt x="2093" y="1271"/>
                  <a:pt x="2114" y="1340"/>
                </a:cubicBezTo>
                <a:cubicBezTo>
                  <a:pt x="2134" y="1402"/>
                  <a:pt x="2190" y="1440"/>
                  <a:pt x="2250" y="1440"/>
                </a:cubicBezTo>
                <a:cubicBezTo>
                  <a:pt x="2269" y="1440"/>
                  <a:pt x="2288" y="1436"/>
                  <a:pt x="2307" y="1428"/>
                </a:cubicBezTo>
                <a:lnTo>
                  <a:pt x="4803" y="295"/>
                </a:lnTo>
                <a:lnTo>
                  <a:pt x="9324" y="2343"/>
                </a:lnTo>
                <a:lnTo>
                  <a:pt x="9324" y="2841"/>
                </a:lnTo>
                <a:lnTo>
                  <a:pt x="4861" y="819"/>
                </a:lnTo>
                <a:cubicBezTo>
                  <a:pt x="4843" y="810"/>
                  <a:pt x="4823" y="806"/>
                  <a:pt x="4803" y="806"/>
                </a:cubicBezTo>
                <a:cubicBezTo>
                  <a:pt x="4784" y="806"/>
                  <a:pt x="4764" y="810"/>
                  <a:pt x="4745" y="819"/>
                </a:cubicBezTo>
                <a:lnTo>
                  <a:pt x="282" y="2841"/>
                </a:lnTo>
                <a:lnTo>
                  <a:pt x="282" y="2343"/>
                </a:lnTo>
                <a:lnTo>
                  <a:pt x="1699" y="1703"/>
                </a:lnTo>
                <a:cubicBezTo>
                  <a:pt x="1760" y="1676"/>
                  <a:pt x="1796" y="1609"/>
                  <a:pt x="1782" y="1545"/>
                </a:cubicBezTo>
                <a:cubicBezTo>
                  <a:pt x="1767" y="1475"/>
                  <a:pt x="1707" y="1432"/>
                  <a:pt x="1643" y="1432"/>
                </a:cubicBezTo>
                <a:cubicBezTo>
                  <a:pt x="1624" y="1432"/>
                  <a:pt x="1604" y="1436"/>
                  <a:pt x="1585" y="1444"/>
                </a:cubicBezTo>
                <a:lnTo>
                  <a:pt x="138" y="2100"/>
                </a:lnTo>
                <a:cubicBezTo>
                  <a:pt x="55" y="2138"/>
                  <a:pt x="1" y="2221"/>
                  <a:pt x="1" y="2314"/>
                </a:cubicBezTo>
                <a:lnTo>
                  <a:pt x="1" y="2908"/>
                </a:lnTo>
                <a:cubicBezTo>
                  <a:pt x="1" y="2973"/>
                  <a:pt x="24" y="3038"/>
                  <a:pt x="71" y="3082"/>
                </a:cubicBezTo>
                <a:cubicBezTo>
                  <a:pt x="118" y="3126"/>
                  <a:pt x="176" y="3148"/>
                  <a:pt x="234" y="3148"/>
                </a:cubicBezTo>
                <a:cubicBezTo>
                  <a:pt x="267" y="3148"/>
                  <a:pt x="299" y="3142"/>
                  <a:pt x="330" y="3127"/>
                </a:cubicBezTo>
                <a:lnTo>
                  <a:pt x="544" y="3031"/>
                </a:lnTo>
                <a:lnTo>
                  <a:pt x="544" y="6774"/>
                </a:lnTo>
                <a:cubicBezTo>
                  <a:pt x="544" y="6846"/>
                  <a:pt x="595" y="6910"/>
                  <a:pt x="666" y="6919"/>
                </a:cubicBezTo>
                <a:cubicBezTo>
                  <a:pt x="672" y="6920"/>
                  <a:pt x="678" y="6920"/>
                  <a:pt x="684" y="6920"/>
                </a:cubicBezTo>
                <a:cubicBezTo>
                  <a:pt x="762" y="6920"/>
                  <a:pt x="825" y="6856"/>
                  <a:pt x="825" y="6779"/>
                </a:cubicBezTo>
                <a:lnTo>
                  <a:pt x="825" y="2906"/>
                </a:lnTo>
                <a:lnTo>
                  <a:pt x="4801" y="1104"/>
                </a:lnTo>
                <a:lnTo>
                  <a:pt x="8777" y="2906"/>
                </a:lnTo>
                <a:lnTo>
                  <a:pt x="8777" y="9326"/>
                </a:lnTo>
                <a:lnTo>
                  <a:pt x="8002" y="9326"/>
                </a:lnTo>
                <a:lnTo>
                  <a:pt x="7920" y="8571"/>
                </a:lnTo>
                <a:cubicBezTo>
                  <a:pt x="7912" y="8500"/>
                  <a:pt x="7851" y="8446"/>
                  <a:pt x="7779" y="8446"/>
                </a:cubicBezTo>
                <a:cubicBezTo>
                  <a:pt x="7774" y="8446"/>
                  <a:pt x="7769" y="8446"/>
                  <a:pt x="7764" y="8447"/>
                </a:cubicBezTo>
                <a:cubicBezTo>
                  <a:pt x="7687" y="8455"/>
                  <a:pt x="7631" y="8525"/>
                  <a:pt x="7639" y="8602"/>
                </a:cubicBezTo>
                <a:lnTo>
                  <a:pt x="7719" y="9325"/>
                </a:lnTo>
                <a:lnTo>
                  <a:pt x="5450" y="9325"/>
                </a:lnTo>
                <a:lnTo>
                  <a:pt x="5674" y="7278"/>
                </a:lnTo>
                <a:cubicBezTo>
                  <a:pt x="5695" y="7074"/>
                  <a:pt x="5769" y="6882"/>
                  <a:pt x="5890" y="6717"/>
                </a:cubicBezTo>
                <a:lnTo>
                  <a:pt x="7275" y="6717"/>
                </a:lnTo>
                <a:cubicBezTo>
                  <a:pt x="7397" y="6880"/>
                  <a:pt x="7472" y="7074"/>
                  <a:pt x="7493" y="7279"/>
                </a:cubicBezTo>
                <a:lnTo>
                  <a:pt x="7566" y="7939"/>
                </a:lnTo>
                <a:cubicBezTo>
                  <a:pt x="7573" y="8012"/>
                  <a:pt x="7634" y="8065"/>
                  <a:pt x="7705" y="8065"/>
                </a:cubicBezTo>
                <a:cubicBezTo>
                  <a:pt x="7710" y="8065"/>
                  <a:pt x="7715" y="8065"/>
                  <a:pt x="7721" y="8064"/>
                </a:cubicBezTo>
                <a:cubicBezTo>
                  <a:pt x="7799" y="8056"/>
                  <a:pt x="7854" y="7986"/>
                  <a:pt x="7846" y="7909"/>
                </a:cubicBezTo>
                <a:lnTo>
                  <a:pt x="7773" y="7249"/>
                </a:lnTo>
                <a:cubicBezTo>
                  <a:pt x="7755" y="7062"/>
                  <a:pt x="7698" y="6882"/>
                  <a:pt x="7609" y="6717"/>
                </a:cubicBezTo>
                <a:cubicBezTo>
                  <a:pt x="7933" y="6705"/>
                  <a:pt x="8194" y="6439"/>
                  <a:pt x="8194" y="6113"/>
                </a:cubicBezTo>
                <a:lnTo>
                  <a:pt x="8194" y="5882"/>
                </a:lnTo>
                <a:cubicBezTo>
                  <a:pt x="8194" y="5543"/>
                  <a:pt x="8088" y="5222"/>
                  <a:pt x="7884" y="4952"/>
                </a:cubicBezTo>
                <a:cubicBezTo>
                  <a:pt x="7746" y="4768"/>
                  <a:pt x="7573" y="4620"/>
                  <a:pt x="7372" y="4515"/>
                </a:cubicBezTo>
                <a:cubicBezTo>
                  <a:pt x="7467" y="4414"/>
                  <a:pt x="7519" y="4266"/>
                  <a:pt x="7519" y="4073"/>
                </a:cubicBezTo>
                <a:lnTo>
                  <a:pt x="7519" y="3625"/>
                </a:lnTo>
                <a:cubicBezTo>
                  <a:pt x="7519" y="3376"/>
                  <a:pt x="7418" y="3134"/>
                  <a:pt x="7240" y="2958"/>
                </a:cubicBezTo>
                <a:cubicBezTo>
                  <a:pt x="7235" y="2954"/>
                  <a:pt x="7231" y="2950"/>
                  <a:pt x="7226" y="2947"/>
                </a:cubicBezTo>
                <a:cubicBezTo>
                  <a:pt x="7233" y="2911"/>
                  <a:pt x="7235" y="2874"/>
                  <a:pt x="7235" y="2838"/>
                </a:cubicBezTo>
                <a:cubicBezTo>
                  <a:pt x="7235" y="2474"/>
                  <a:pt x="6939" y="2178"/>
                  <a:pt x="6575" y="2178"/>
                </a:cubicBezTo>
                <a:cubicBezTo>
                  <a:pt x="6211" y="2178"/>
                  <a:pt x="5914" y="2474"/>
                  <a:pt x="5914" y="2838"/>
                </a:cubicBezTo>
                <a:cubicBezTo>
                  <a:pt x="5914" y="2885"/>
                  <a:pt x="5920" y="2929"/>
                  <a:pt x="5928" y="2973"/>
                </a:cubicBezTo>
                <a:cubicBezTo>
                  <a:pt x="5759" y="3145"/>
                  <a:pt x="5662" y="3383"/>
                  <a:pt x="5662" y="3625"/>
                </a:cubicBezTo>
                <a:lnTo>
                  <a:pt x="5662" y="4060"/>
                </a:lnTo>
                <a:cubicBezTo>
                  <a:pt x="5662" y="4248"/>
                  <a:pt x="5711" y="4395"/>
                  <a:pt x="5801" y="4496"/>
                </a:cubicBezTo>
                <a:cubicBezTo>
                  <a:pt x="5598" y="4601"/>
                  <a:pt x="5420" y="4753"/>
                  <a:pt x="5278" y="4942"/>
                </a:cubicBezTo>
                <a:cubicBezTo>
                  <a:pt x="5077" y="5213"/>
                  <a:pt x="4968" y="5537"/>
                  <a:pt x="4968" y="5877"/>
                </a:cubicBezTo>
                <a:lnTo>
                  <a:pt x="4968" y="6097"/>
                </a:lnTo>
                <a:cubicBezTo>
                  <a:pt x="4968" y="6431"/>
                  <a:pt x="5236" y="6703"/>
                  <a:pt x="5564" y="6704"/>
                </a:cubicBezTo>
                <a:cubicBezTo>
                  <a:pt x="5477" y="6869"/>
                  <a:pt x="5421" y="7049"/>
                  <a:pt x="5403" y="7238"/>
                </a:cubicBezTo>
                <a:lnTo>
                  <a:pt x="5177" y="9325"/>
                </a:lnTo>
                <a:lnTo>
                  <a:pt x="4211" y="9325"/>
                </a:lnTo>
                <a:cubicBezTo>
                  <a:pt x="4200" y="9219"/>
                  <a:pt x="4161" y="9120"/>
                  <a:pt x="4105" y="9037"/>
                </a:cubicBezTo>
                <a:lnTo>
                  <a:pt x="4105" y="7563"/>
                </a:lnTo>
                <a:lnTo>
                  <a:pt x="4095" y="7563"/>
                </a:lnTo>
                <a:cubicBezTo>
                  <a:pt x="4380" y="7563"/>
                  <a:pt x="4611" y="7332"/>
                  <a:pt x="4611" y="7047"/>
                </a:cubicBezTo>
                <a:lnTo>
                  <a:pt x="4611" y="6907"/>
                </a:lnTo>
                <a:cubicBezTo>
                  <a:pt x="4688" y="6874"/>
                  <a:pt x="4743" y="6797"/>
                  <a:pt x="4743" y="6709"/>
                </a:cubicBezTo>
                <a:lnTo>
                  <a:pt x="4743" y="6142"/>
                </a:lnTo>
                <a:cubicBezTo>
                  <a:pt x="4743" y="6069"/>
                  <a:pt x="4692" y="6006"/>
                  <a:pt x="4620" y="5997"/>
                </a:cubicBezTo>
                <a:cubicBezTo>
                  <a:pt x="4614" y="5996"/>
                  <a:pt x="4608" y="5996"/>
                  <a:pt x="4602" y="5996"/>
                </a:cubicBezTo>
                <a:cubicBezTo>
                  <a:pt x="4525" y="5996"/>
                  <a:pt x="4462" y="6060"/>
                  <a:pt x="4462" y="6136"/>
                </a:cubicBezTo>
                <a:lnTo>
                  <a:pt x="4462" y="6643"/>
                </a:lnTo>
                <a:lnTo>
                  <a:pt x="4087" y="6643"/>
                </a:lnTo>
                <a:lnTo>
                  <a:pt x="4087" y="5328"/>
                </a:lnTo>
                <a:cubicBezTo>
                  <a:pt x="4087" y="5255"/>
                  <a:pt x="4036" y="5192"/>
                  <a:pt x="3965" y="5184"/>
                </a:cubicBezTo>
                <a:cubicBezTo>
                  <a:pt x="3958" y="5183"/>
                  <a:pt x="3952" y="5182"/>
                  <a:pt x="3945" y="5182"/>
                </a:cubicBezTo>
                <a:cubicBezTo>
                  <a:pt x="3869" y="5182"/>
                  <a:pt x="3806" y="5246"/>
                  <a:pt x="3806" y="5323"/>
                </a:cubicBezTo>
                <a:lnTo>
                  <a:pt x="3806" y="5544"/>
                </a:lnTo>
                <a:lnTo>
                  <a:pt x="3581" y="5407"/>
                </a:lnTo>
                <a:cubicBezTo>
                  <a:pt x="3558" y="5394"/>
                  <a:pt x="3533" y="5387"/>
                  <a:pt x="3508" y="5387"/>
                </a:cubicBezTo>
                <a:cubicBezTo>
                  <a:pt x="3482" y="5387"/>
                  <a:pt x="3457" y="5394"/>
                  <a:pt x="3435" y="5407"/>
                </a:cubicBezTo>
                <a:lnTo>
                  <a:pt x="3109" y="5606"/>
                </a:lnTo>
                <a:lnTo>
                  <a:pt x="2783" y="5407"/>
                </a:lnTo>
                <a:cubicBezTo>
                  <a:pt x="2761" y="5394"/>
                  <a:pt x="2735" y="5387"/>
                  <a:pt x="2710" y="5387"/>
                </a:cubicBezTo>
                <a:cubicBezTo>
                  <a:pt x="2685" y="5387"/>
                  <a:pt x="2659" y="5394"/>
                  <a:pt x="2636" y="5407"/>
                </a:cubicBezTo>
                <a:lnTo>
                  <a:pt x="2399" y="5551"/>
                </a:lnTo>
                <a:lnTo>
                  <a:pt x="2399" y="5328"/>
                </a:lnTo>
                <a:cubicBezTo>
                  <a:pt x="2399" y="5265"/>
                  <a:pt x="2358" y="5207"/>
                  <a:pt x="2297" y="5194"/>
                </a:cubicBezTo>
                <a:cubicBezTo>
                  <a:pt x="2287" y="5192"/>
                  <a:pt x="2277" y="5191"/>
                  <a:pt x="2267" y="5191"/>
                </a:cubicBezTo>
                <a:cubicBezTo>
                  <a:pt x="2196" y="5191"/>
                  <a:pt x="2137" y="5254"/>
                  <a:pt x="2137" y="5331"/>
                </a:cubicBezTo>
                <a:lnTo>
                  <a:pt x="2137" y="6556"/>
                </a:lnTo>
                <a:cubicBezTo>
                  <a:pt x="2115" y="6552"/>
                  <a:pt x="2093" y="6550"/>
                  <a:pt x="2070" y="6550"/>
                </a:cubicBezTo>
                <a:lnTo>
                  <a:pt x="1832" y="6550"/>
                </a:lnTo>
                <a:cubicBezTo>
                  <a:pt x="1808" y="6550"/>
                  <a:pt x="1783" y="6552"/>
                  <a:pt x="1761" y="6556"/>
                </a:cubicBezTo>
                <a:lnTo>
                  <a:pt x="1761" y="5153"/>
                </a:lnTo>
                <a:cubicBezTo>
                  <a:pt x="1761" y="4744"/>
                  <a:pt x="2013" y="4380"/>
                  <a:pt x="2390" y="4234"/>
                </a:cubicBezTo>
                <a:cubicBezTo>
                  <a:pt x="2446" y="4266"/>
                  <a:pt x="2512" y="4285"/>
                  <a:pt x="2586" y="4294"/>
                </a:cubicBezTo>
                <a:cubicBezTo>
                  <a:pt x="2699" y="4467"/>
                  <a:pt x="2897" y="4575"/>
                  <a:pt x="3111" y="4575"/>
                </a:cubicBezTo>
                <a:cubicBezTo>
                  <a:pt x="3327" y="4575"/>
                  <a:pt x="3530" y="4466"/>
                  <a:pt x="3639" y="4294"/>
                </a:cubicBezTo>
                <a:cubicBezTo>
                  <a:pt x="3711" y="4285"/>
                  <a:pt x="3776" y="4266"/>
                  <a:pt x="3832" y="4234"/>
                </a:cubicBezTo>
                <a:cubicBezTo>
                  <a:pt x="4210" y="4380"/>
                  <a:pt x="4460" y="4743"/>
                  <a:pt x="4460" y="5153"/>
                </a:cubicBezTo>
                <a:lnTo>
                  <a:pt x="4460" y="5479"/>
                </a:lnTo>
                <a:cubicBezTo>
                  <a:pt x="4460" y="5551"/>
                  <a:pt x="4512" y="5614"/>
                  <a:pt x="4583" y="5624"/>
                </a:cubicBezTo>
                <a:cubicBezTo>
                  <a:pt x="4589" y="5624"/>
                  <a:pt x="4595" y="5625"/>
                  <a:pt x="4601" y="5625"/>
                </a:cubicBezTo>
                <a:cubicBezTo>
                  <a:pt x="4679" y="5625"/>
                  <a:pt x="4741" y="5561"/>
                  <a:pt x="4741" y="5484"/>
                </a:cubicBezTo>
                <a:lnTo>
                  <a:pt x="4741" y="5154"/>
                </a:lnTo>
                <a:cubicBezTo>
                  <a:pt x="4741" y="4659"/>
                  <a:pt x="4459" y="4218"/>
                  <a:pt x="4023" y="4007"/>
                </a:cubicBezTo>
                <a:cubicBezTo>
                  <a:pt x="4064" y="3915"/>
                  <a:pt x="4085" y="3807"/>
                  <a:pt x="4085" y="3677"/>
                </a:cubicBezTo>
                <a:lnTo>
                  <a:pt x="4085" y="3497"/>
                </a:lnTo>
                <a:cubicBezTo>
                  <a:pt x="4213" y="3472"/>
                  <a:pt x="4311" y="3362"/>
                  <a:pt x="4311" y="3229"/>
                </a:cubicBezTo>
                <a:lnTo>
                  <a:pt x="4311" y="2918"/>
                </a:lnTo>
                <a:cubicBezTo>
                  <a:pt x="4311" y="2769"/>
                  <a:pt x="4189" y="2647"/>
                  <a:pt x="4038" y="2647"/>
                </a:cubicBezTo>
                <a:lnTo>
                  <a:pt x="3908" y="2647"/>
                </a:lnTo>
                <a:cubicBezTo>
                  <a:pt x="3908" y="2647"/>
                  <a:pt x="3432" y="2242"/>
                  <a:pt x="3119" y="2242"/>
                </a:cubicBezTo>
                <a:cubicBezTo>
                  <a:pt x="3117" y="2242"/>
                  <a:pt x="3115" y="2242"/>
                  <a:pt x="3113" y="2242"/>
                </a:cubicBezTo>
                <a:cubicBezTo>
                  <a:pt x="3108" y="2242"/>
                  <a:pt x="3103" y="2242"/>
                  <a:pt x="3097" y="2242"/>
                </a:cubicBezTo>
                <a:cubicBezTo>
                  <a:pt x="2789" y="2242"/>
                  <a:pt x="2500" y="2392"/>
                  <a:pt x="2319" y="2647"/>
                </a:cubicBezTo>
                <a:lnTo>
                  <a:pt x="2188" y="2647"/>
                </a:lnTo>
                <a:cubicBezTo>
                  <a:pt x="2186" y="2647"/>
                  <a:pt x="2184" y="2647"/>
                  <a:pt x="2182" y="2647"/>
                </a:cubicBezTo>
                <a:cubicBezTo>
                  <a:pt x="2035" y="2647"/>
                  <a:pt x="1917" y="2769"/>
                  <a:pt x="1911" y="2917"/>
                </a:cubicBezTo>
                <a:lnTo>
                  <a:pt x="1911" y="3228"/>
                </a:lnTo>
                <a:cubicBezTo>
                  <a:pt x="1917" y="3357"/>
                  <a:pt x="2137" y="3493"/>
                  <a:pt x="2137" y="3493"/>
                </a:cubicBezTo>
                <a:lnTo>
                  <a:pt x="2137" y="3677"/>
                </a:lnTo>
                <a:cubicBezTo>
                  <a:pt x="2137" y="3805"/>
                  <a:pt x="2158" y="3915"/>
                  <a:pt x="2198" y="4006"/>
                </a:cubicBezTo>
                <a:cubicBezTo>
                  <a:pt x="1764" y="4217"/>
                  <a:pt x="1480" y="4660"/>
                  <a:pt x="1480" y="5154"/>
                </a:cubicBezTo>
                <a:lnTo>
                  <a:pt x="1480" y="6751"/>
                </a:lnTo>
                <a:cubicBezTo>
                  <a:pt x="1444" y="6809"/>
                  <a:pt x="1423" y="6878"/>
                  <a:pt x="1423" y="6952"/>
                </a:cubicBezTo>
                <a:lnTo>
                  <a:pt x="1423" y="7032"/>
                </a:lnTo>
                <a:cubicBezTo>
                  <a:pt x="1423" y="7142"/>
                  <a:pt x="1484" y="7235"/>
                  <a:pt x="1574" y="7285"/>
                </a:cubicBezTo>
                <a:lnTo>
                  <a:pt x="1574" y="9326"/>
                </a:lnTo>
                <a:lnTo>
                  <a:pt x="824" y="9326"/>
                </a:lnTo>
                <a:lnTo>
                  <a:pt x="824" y="7443"/>
                </a:lnTo>
                <a:cubicBezTo>
                  <a:pt x="824" y="7370"/>
                  <a:pt x="772" y="7306"/>
                  <a:pt x="700" y="7297"/>
                </a:cubicBezTo>
                <a:cubicBezTo>
                  <a:pt x="694" y="7296"/>
                  <a:pt x="688" y="7296"/>
                  <a:pt x="683" y="7296"/>
                </a:cubicBezTo>
                <a:cubicBezTo>
                  <a:pt x="605" y="7296"/>
                  <a:pt x="542" y="7360"/>
                  <a:pt x="542" y="7437"/>
                </a:cubicBezTo>
                <a:lnTo>
                  <a:pt x="542" y="9466"/>
                </a:lnTo>
                <a:cubicBezTo>
                  <a:pt x="542" y="9544"/>
                  <a:pt x="605" y="9608"/>
                  <a:pt x="683" y="9608"/>
                </a:cubicBezTo>
                <a:lnTo>
                  <a:pt x="8966" y="9608"/>
                </a:lnTo>
                <a:cubicBezTo>
                  <a:pt x="9017" y="9608"/>
                  <a:pt x="9060" y="9565"/>
                  <a:pt x="9060" y="9514"/>
                </a:cubicBezTo>
                <a:lnTo>
                  <a:pt x="9060" y="3033"/>
                </a:lnTo>
                <a:lnTo>
                  <a:pt x="9292" y="3139"/>
                </a:lnTo>
                <a:cubicBezTo>
                  <a:pt x="9313" y="3149"/>
                  <a:pt x="9336" y="3154"/>
                  <a:pt x="9359" y="3154"/>
                </a:cubicBezTo>
                <a:cubicBezTo>
                  <a:pt x="9361" y="3154"/>
                  <a:pt x="9363" y="3154"/>
                  <a:pt x="9365" y="3154"/>
                </a:cubicBezTo>
                <a:cubicBezTo>
                  <a:pt x="9508" y="3148"/>
                  <a:pt x="9603" y="3040"/>
                  <a:pt x="9603" y="2916"/>
                </a:cubicBezTo>
                <a:lnTo>
                  <a:pt x="9603" y="2313"/>
                </a:lnTo>
                <a:cubicBezTo>
                  <a:pt x="9605" y="2221"/>
                  <a:pt x="9551" y="2137"/>
                  <a:pt x="9468" y="2100"/>
                </a:cubicBezTo>
                <a:lnTo>
                  <a:pt x="4862" y="14"/>
                </a:lnTo>
                <a:cubicBezTo>
                  <a:pt x="4844" y="5"/>
                  <a:pt x="4824" y="0"/>
                  <a:pt x="4804"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92" name="Google Shape;292;p36"/>
          <p:cNvGrpSpPr/>
          <p:nvPr/>
        </p:nvGrpSpPr>
        <p:grpSpPr>
          <a:xfrm>
            <a:off x="2397975" y="1246686"/>
            <a:ext cx="512154" cy="488752"/>
            <a:chOff x="8060349" y="2143974"/>
            <a:chExt cx="357650" cy="341307"/>
          </a:xfrm>
        </p:grpSpPr>
        <p:sp>
          <p:nvSpPr>
            <p:cNvPr id="293" name="Google Shape;293;p36"/>
            <p:cNvSpPr/>
            <p:nvPr/>
          </p:nvSpPr>
          <p:spPr>
            <a:xfrm>
              <a:off x="8248318" y="2143974"/>
              <a:ext cx="169681" cy="341272"/>
            </a:xfrm>
            <a:custGeom>
              <a:rect b="b" l="l" r="r" t="t"/>
              <a:pathLst>
                <a:path extrusionOk="0" h="9616" w="4407">
                  <a:moveTo>
                    <a:pt x="2788" y="289"/>
                  </a:moveTo>
                  <a:cubicBezTo>
                    <a:pt x="3104" y="289"/>
                    <a:pt x="3360" y="575"/>
                    <a:pt x="3360" y="927"/>
                  </a:cubicBezTo>
                  <a:cubicBezTo>
                    <a:pt x="3360" y="1018"/>
                    <a:pt x="3343" y="1104"/>
                    <a:pt x="3312" y="1183"/>
                  </a:cubicBezTo>
                  <a:lnTo>
                    <a:pt x="3057" y="772"/>
                  </a:lnTo>
                  <a:cubicBezTo>
                    <a:pt x="2951" y="599"/>
                    <a:pt x="2763" y="495"/>
                    <a:pt x="2559" y="495"/>
                  </a:cubicBezTo>
                  <a:lnTo>
                    <a:pt x="2367" y="495"/>
                  </a:lnTo>
                  <a:cubicBezTo>
                    <a:pt x="2472" y="369"/>
                    <a:pt x="2622" y="289"/>
                    <a:pt x="2788" y="289"/>
                  </a:cubicBezTo>
                  <a:close/>
                  <a:moveTo>
                    <a:pt x="2558" y="776"/>
                  </a:moveTo>
                  <a:cubicBezTo>
                    <a:pt x="2664" y="776"/>
                    <a:pt x="2762" y="830"/>
                    <a:pt x="2816" y="920"/>
                  </a:cubicBezTo>
                  <a:lnTo>
                    <a:pt x="3133" y="1433"/>
                  </a:lnTo>
                  <a:cubicBezTo>
                    <a:pt x="3037" y="1515"/>
                    <a:pt x="2917" y="1563"/>
                    <a:pt x="2787" y="1563"/>
                  </a:cubicBezTo>
                  <a:cubicBezTo>
                    <a:pt x="2545" y="1563"/>
                    <a:pt x="2392" y="1560"/>
                    <a:pt x="2321" y="1495"/>
                  </a:cubicBezTo>
                  <a:cubicBezTo>
                    <a:pt x="2249" y="1429"/>
                    <a:pt x="2215" y="1254"/>
                    <a:pt x="2215" y="927"/>
                  </a:cubicBezTo>
                  <a:cubicBezTo>
                    <a:pt x="2215" y="875"/>
                    <a:pt x="2221" y="825"/>
                    <a:pt x="2231" y="776"/>
                  </a:cubicBezTo>
                  <a:close/>
                  <a:moveTo>
                    <a:pt x="3766" y="493"/>
                  </a:moveTo>
                  <a:cubicBezTo>
                    <a:pt x="3834" y="493"/>
                    <a:pt x="3901" y="513"/>
                    <a:pt x="3959" y="552"/>
                  </a:cubicBezTo>
                  <a:cubicBezTo>
                    <a:pt x="4051" y="614"/>
                    <a:pt x="4104" y="713"/>
                    <a:pt x="4104" y="822"/>
                  </a:cubicBezTo>
                  <a:lnTo>
                    <a:pt x="4104" y="1602"/>
                  </a:lnTo>
                  <a:cubicBezTo>
                    <a:pt x="4104" y="1613"/>
                    <a:pt x="4099" y="1620"/>
                    <a:pt x="4090" y="1625"/>
                  </a:cubicBezTo>
                  <a:cubicBezTo>
                    <a:pt x="4086" y="1628"/>
                    <a:pt x="4081" y="1629"/>
                    <a:pt x="4077" y="1629"/>
                  </a:cubicBezTo>
                  <a:cubicBezTo>
                    <a:pt x="4072" y="1629"/>
                    <a:pt x="4067" y="1628"/>
                    <a:pt x="4062" y="1624"/>
                  </a:cubicBezTo>
                  <a:cubicBezTo>
                    <a:pt x="3961" y="1561"/>
                    <a:pt x="3900" y="1452"/>
                    <a:pt x="3898" y="1335"/>
                  </a:cubicBezTo>
                  <a:lnTo>
                    <a:pt x="3896" y="1148"/>
                  </a:lnTo>
                  <a:cubicBezTo>
                    <a:pt x="3893" y="969"/>
                    <a:pt x="3775" y="817"/>
                    <a:pt x="3610" y="760"/>
                  </a:cubicBezTo>
                  <a:cubicBezTo>
                    <a:pt x="3598" y="686"/>
                    <a:pt x="3579" y="617"/>
                    <a:pt x="3549" y="549"/>
                  </a:cubicBezTo>
                  <a:lnTo>
                    <a:pt x="3648" y="513"/>
                  </a:lnTo>
                  <a:cubicBezTo>
                    <a:pt x="3687" y="499"/>
                    <a:pt x="3727" y="493"/>
                    <a:pt x="3766" y="493"/>
                  </a:cubicBezTo>
                  <a:close/>
                  <a:moveTo>
                    <a:pt x="2959" y="1826"/>
                  </a:moveTo>
                  <a:lnTo>
                    <a:pt x="2959" y="2127"/>
                  </a:lnTo>
                  <a:lnTo>
                    <a:pt x="2679" y="2127"/>
                  </a:lnTo>
                  <a:lnTo>
                    <a:pt x="2679" y="1845"/>
                  </a:lnTo>
                  <a:lnTo>
                    <a:pt x="2790" y="1845"/>
                  </a:lnTo>
                  <a:cubicBezTo>
                    <a:pt x="2848" y="1845"/>
                    <a:pt x="2905" y="1837"/>
                    <a:pt x="2959" y="1826"/>
                  </a:cubicBezTo>
                  <a:close/>
                  <a:moveTo>
                    <a:pt x="1365" y="3008"/>
                  </a:moveTo>
                  <a:lnTo>
                    <a:pt x="1365" y="3074"/>
                  </a:lnTo>
                  <a:cubicBezTo>
                    <a:pt x="1365" y="3368"/>
                    <a:pt x="1126" y="3607"/>
                    <a:pt x="831" y="3607"/>
                  </a:cubicBezTo>
                  <a:cubicBezTo>
                    <a:pt x="817" y="3607"/>
                    <a:pt x="803" y="3607"/>
                    <a:pt x="789" y="3606"/>
                  </a:cubicBezTo>
                  <a:cubicBezTo>
                    <a:pt x="508" y="3585"/>
                    <a:pt x="295" y="3344"/>
                    <a:pt x="295" y="3063"/>
                  </a:cubicBezTo>
                  <a:lnTo>
                    <a:pt x="295" y="3008"/>
                  </a:lnTo>
                  <a:close/>
                  <a:moveTo>
                    <a:pt x="2303" y="2718"/>
                  </a:moveTo>
                  <a:lnTo>
                    <a:pt x="2303" y="3609"/>
                  </a:lnTo>
                  <a:lnTo>
                    <a:pt x="2097" y="3609"/>
                  </a:lnTo>
                  <a:lnTo>
                    <a:pt x="2097" y="3192"/>
                  </a:lnTo>
                  <a:cubicBezTo>
                    <a:pt x="2094" y="3034"/>
                    <a:pt x="2173" y="2841"/>
                    <a:pt x="2303" y="2718"/>
                  </a:cubicBezTo>
                  <a:close/>
                  <a:moveTo>
                    <a:pt x="1328" y="3890"/>
                  </a:moveTo>
                  <a:lnTo>
                    <a:pt x="1328" y="4115"/>
                  </a:lnTo>
                  <a:lnTo>
                    <a:pt x="737" y="4115"/>
                  </a:lnTo>
                  <a:cubicBezTo>
                    <a:pt x="585" y="4115"/>
                    <a:pt x="456" y="4021"/>
                    <a:pt x="400" y="3890"/>
                  </a:cubicBezTo>
                  <a:close/>
                  <a:moveTo>
                    <a:pt x="2819" y="2407"/>
                  </a:moveTo>
                  <a:cubicBezTo>
                    <a:pt x="2942" y="2407"/>
                    <a:pt x="3036" y="2511"/>
                    <a:pt x="3035" y="2645"/>
                  </a:cubicBezTo>
                  <a:lnTo>
                    <a:pt x="3035" y="3937"/>
                  </a:lnTo>
                  <a:cubicBezTo>
                    <a:pt x="3033" y="4184"/>
                    <a:pt x="2845" y="4378"/>
                    <a:pt x="2605" y="4378"/>
                  </a:cubicBezTo>
                  <a:lnTo>
                    <a:pt x="1609" y="4378"/>
                  </a:lnTo>
                  <a:lnTo>
                    <a:pt x="1609" y="3890"/>
                  </a:lnTo>
                  <a:lnTo>
                    <a:pt x="2444" y="3890"/>
                  </a:lnTo>
                  <a:cubicBezTo>
                    <a:pt x="2521" y="3890"/>
                    <a:pt x="2585" y="3826"/>
                    <a:pt x="2585" y="3749"/>
                  </a:cubicBezTo>
                  <a:lnTo>
                    <a:pt x="2585" y="2642"/>
                  </a:lnTo>
                  <a:cubicBezTo>
                    <a:pt x="2585" y="2513"/>
                    <a:pt x="2689" y="2407"/>
                    <a:pt x="2817" y="2407"/>
                  </a:cubicBezTo>
                  <a:close/>
                  <a:moveTo>
                    <a:pt x="2847" y="9049"/>
                  </a:moveTo>
                  <a:lnTo>
                    <a:pt x="2847" y="9331"/>
                  </a:lnTo>
                  <a:lnTo>
                    <a:pt x="1769" y="9331"/>
                  </a:lnTo>
                  <a:cubicBezTo>
                    <a:pt x="1807" y="9169"/>
                    <a:pt x="1952" y="9049"/>
                    <a:pt x="2125" y="9049"/>
                  </a:cubicBezTo>
                  <a:close/>
                  <a:moveTo>
                    <a:pt x="2794" y="1"/>
                  </a:moveTo>
                  <a:cubicBezTo>
                    <a:pt x="2320" y="1"/>
                    <a:pt x="1936" y="415"/>
                    <a:pt x="1936" y="924"/>
                  </a:cubicBezTo>
                  <a:cubicBezTo>
                    <a:pt x="1936" y="1286"/>
                    <a:pt x="1971" y="1556"/>
                    <a:pt x="2135" y="1706"/>
                  </a:cubicBezTo>
                  <a:cubicBezTo>
                    <a:pt x="2208" y="1772"/>
                    <a:pt x="2297" y="1806"/>
                    <a:pt x="2398" y="1825"/>
                  </a:cubicBezTo>
                  <a:lnTo>
                    <a:pt x="2398" y="2201"/>
                  </a:lnTo>
                  <a:lnTo>
                    <a:pt x="2072" y="2554"/>
                  </a:lnTo>
                  <a:cubicBezTo>
                    <a:pt x="1907" y="2732"/>
                    <a:pt x="1817" y="2964"/>
                    <a:pt x="1817" y="3208"/>
                  </a:cubicBezTo>
                  <a:lnTo>
                    <a:pt x="1817" y="3609"/>
                  </a:lnTo>
                  <a:lnTo>
                    <a:pt x="1447" y="3609"/>
                  </a:lnTo>
                  <a:cubicBezTo>
                    <a:pt x="1571" y="3465"/>
                    <a:pt x="1648" y="3280"/>
                    <a:pt x="1648" y="3075"/>
                  </a:cubicBezTo>
                  <a:lnTo>
                    <a:pt x="1648" y="2876"/>
                  </a:lnTo>
                  <a:cubicBezTo>
                    <a:pt x="1648" y="2876"/>
                    <a:pt x="1591" y="2734"/>
                    <a:pt x="1513" y="2728"/>
                  </a:cubicBezTo>
                  <a:lnTo>
                    <a:pt x="580" y="2728"/>
                  </a:lnTo>
                  <a:lnTo>
                    <a:pt x="284" y="2225"/>
                  </a:lnTo>
                  <a:cubicBezTo>
                    <a:pt x="257" y="2179"/>
                    <a:pt x="209" y="2154"/>
                    <a:pt x="161" y="2154"/>
                  </a:cubicBezTo>
                  <a:cubicBezTo>
                    <a:pt x="137" y="2154"/>
                    <a:pt x="113" y="2160"/>
                    <a:pt x="91" y="2173"/>
                  </a:cubicBezTo>
                  <a:cubicBezTo>
                    <a:pt x="24" y="2212"/>
                    <a:pt x="1" y="2299"/>
                    <a:pt x="40" y="2365"/>
                  </a:cubicBezTo>
                  <a:lnTo>
                    <a:pt x="254" y="2747"/>
                  </a:lnTo>
                  <a:lnTo>
                    <a:pt x="156" y="2747"/>
                  </a:lnTo>
                  <a:cubicBezTo>
                    <a:pt x="78" y="2747"/>
                    <a:pt x="15" y="2810"/>
                    <a:pt x="15" y="2887"/>
                  </a:cubicBezTo>
                  <a:lnTo>
                    <a:pt x="15" y="3091"/>
                  </a:lnTo>
                  <a:cubicBezTo>
                    <a:pt x="15" y="3293"/>
                    <a:pt x="89" y="3478"/>
                    <a:pt x="214" y="3619"/>
                  </a:cubicBezTo>
                  <a:cubicBezTo>
                    <a:pt x="143" y="3628"/>
                    <a:pt x="89" y="3686"/>
                    <a:pt x="89" y="3758"/>
                  </a:cubicBezTo>
                  <a:cubicBezTo>
                    <a:pt x="89" y="4111"/>
                    <a:pt x="378" y="4398"/>
                    <a:pt x="729" y="4398"/>
                  </a:cubicBezTo>
                  <a:lnTo>
                    <a:pt x="1328" y="4398"/>
                  </a:lnTo>
                  <a:lnTo>
                    <a:pt x="1328" y="4500"/>
                  </a:lnTo>
                  <a:cubicBezTo>
                    <a:pt x="1328" y="4579"/>
                    <a:pt x="1391" y="4642"/>
                    <a:pt x="1470" y="4642"/>
                  </a:cubicBezTo>
                  <a:lnTo>
                    <a:pt x="1816" y="4642"/>
                  </a:lnTo>
                  <a:lnTo>
                    <a:pt x="1816" y="5458"/>
                  </a:lnTo>
                  <a:cubicBezTo>
                    <a:pt x="1816" y="5535"/>
                    <a:pt x="1879" y="5599"/>
                    <a:pt x="1957" y="5599"/>
                  </a:cubicBezTo>
                  <a:lnTo>
                    <a:pt x="2003" y="5599"/>
                  </a:lnTo>
                  <a:lnTo>
                    <a:pt x="2041" y="7121"/>
                  </a:lnTo>
                  <a:cubicBezTo>
                    <a:pt x="2042" y="7197"/>
                    <a:pt x="2106" y="7258"/>
                    <a:pt x="2183" y="7258"/>
                  </a:cubicBezTo>
                  <a:lnTo>
                    <a:pt x="2187" y="7258"/>
                  </a:lnTo>
                  <a:cubicBezTo>
                    <a:pt x="2264" y="7257"/>
                    <a:pt x="2325" y="7192"/>
                    <a:pt x="2324" y="7115"/>
                  </a:cubicBezTo>
                  <a:lnTo>
                    <a:pt x="2285" y="5601"/>
                  </a:lnTo>
                  <a:lnTo>
                    <a:pt x="3400" y="5601"/>
                  </a:lnTo>
                  <a:cubicBezTo>
                    <a:pt x="3430" y="5725"/>
                    <a:pt x="3433" y="5857"/>
                    <a:pt x="3409" y="5984"/>
                  </a:cubicBezTo>
                  <a:lnTo>
                    <a:pt x="2875" y="8771"/>
                  </a:lnTo>
                  <a:lnTo>
                    <a:pt x="2366" y="8771"/>
                  </a:lnTo>
                  <a:lnTo>
                    <a:pt x="2341" y="7771"/>
                  </a:lnTo>
                  <a:cubicBezTo>
                    <a:pt x="2340" y="7695"/>
                    <a:pt x="2277" y="7634"/>
                    <a:pt x="2200" y="7634"/>
                  </a:cubicBezTo>
                  <a:lnTo>
                    <a:pt x="2195" y="7634"/>
                  </a:lnTo>
                  <a:cubicBezTo>
                    <a:pt x="2118" y="7635"/>
                    <a:pt x="2057" y="7700"/>
                    <a:pt x="2058" y="7778"/>
                  </a:cubicBezTo>
                  <a:lnTo>
                    <a:pt x="2084" y="8772"/>
                  </a:lnTo>
                  <a:cubicBezTo>
                    <a:pt x="1747" y="8795"/>
                    <a:pt x="1480" y="9075"/>
                    <a:pt x="1480" y="9418"/>
                  </a:cubicBezTo>
                  <a:cubicBezTo>
                    <a:pt x="1480" y="9527"/>
                    <a:pt x="1569" y="9615"/>
                    <a:pt x="1676" y="9615"/>
                  </a:cubicBezTo>
                  <a:lnTo>
                    <a:pt x="2933" y="9615"/>
                  </a:lnTo>
                  <a:cubicBezTo>
                    <a:pt x="3042" y="9615"/>
                    <a:pt x="3129" y="9527"/>
                    <a:pt x="3129" y="9418"/>
                  </a:cubicBezTo>
                  <a:lnTo>
                    <a:pt x="3129" y="8925"/>
                  </a:lnTo>
                  <a:lnTo>
                    <a:pt x="3683" y="6039"/>
                  </a:lnTo>
                  <a:cubicBezTo>
                    <a:pt x="3712" y="5893"/>
                    <a:pt x="3712" y="5744"/>
                    <a:pt x="3685" y="5599"/>
                  </a:cubicBezTo>
                  <a:cubicBezTo>
                    <a:pt x="3752" y="5588"/>
                    <a:pt x="3803" y="5530"/>
                    <a:pt x="3803" y="5461"/>
                  </a:cubicBezTo>
                  <a:lnTo>
                    <a:pt x="3803" y="4676"/>
                  </a:lnTo>
                  <a:cubicBezTo>
                    <a:pt x="3803" y="4604"/>
                    <a:pt x="3752" y="4541"/>
                    <a:pt x="3681" y="4531"/>
                  </a:cubicBezTo>
                  <a:cubicBezTo>
                    <a:pt x="3675" y="4530"/>
                    <a:pt x="3669" y="4530"/>
                    <a:pt x="3663" y="4530"/>
                  </a:cubicBezTo>
                  <a:cubicBezTo>
                    <a:pt x="3586" y="4530"/>
                    <a:pt x="3523" y="4594"/>
                    <a:pt x="3523" y="4670"/>
                  </a:cubicBezTo>
                  <a:lnTo>
                    <a:pt x="3523" y="5319"/>
                  </a:lnTo>
                  <a:lnTo>
                    <a:pt x="2097" y="5319"/>
                  </a:lnTo>
                  <a:lnTo>
                    <a:pt x="2097" y="4644"/>
                  </a:lnTo>
                  <a:lnTo>
                    <a:pt x="2635" y="4644"/>
                  </a:lnTo>
                  <a:cubicBezTo>
                    <a:pt x="3015" y="4644"/>
                    <a:pt x="3314" y="4330"/>
                    <a:pt x="3317" y="3925"/>
                  </a:cubicBezTo>
                  <a:lnTo>
                    <a:pt x="3317" y="2691"/>
                  </a:lnTo>
                  <a:cubicBezTo>
                    <a:pt x="3449" y="2879"/>
                    <a:pt x="3523" y="3109"/>
                    <a:pt x="3523" y="3344"/>
                  </a:cubicBezTo>
                  <a:lnTo>
                    <a:pt x="3523" y="4013"/>
                  </a:lnTo>
                  <a:cubicBezTo>
                    <a:pt x="3523" y="4071"/>
                    <a:pt x="3558" y="4125"/>
                    <a:pt x="3611" y="4147"/>
                  </a:cubicBezTo>
                  <a:cubicBezTo>
                    <a:pt x="3632" y="4155"/>
                    <a:pt x="3653" y="4159"/>
                    <a:pt x="3673" y="4159"/>
                  </a:cubicBezTo>
                  <a:cubicBezTo>
                    <a:pt x="3756" y="4159"/>
                    <a:pt x="3823" y="4093"/>
                    <a:pt x="3823" y="4010"/>
                  </a:cubicBezTo>
                  <a:lnTo>
                    <a:pt x="3823" y="3361"/>
                  </a:lnTo>
                  <a:cubicBezTo>
                    <a:pt x="3823" y="2987"/>
                    <a:pt x="3670" y="2623"/>
                    <a:pt x="3406" y="2363"/>
                  </a:cubicBezTo>
                  <a:lnTo>
                    <a:pt x="3243" y="2204"/>
                  </a:lnTo>
                  <a:lnTo>
                    <a:pt x="3243" y="1713"/>
                  </a:lnTo>
                  <a:cubicBezTo>
                    <a:pt x="3436" y="1583"/>
                    <a:pt x="3579" y="1373"/>
                    <a:pt x="3628" y="1128"/>
                  </a:cubicBezTo>
                  <a:cubicBezTo>
                    <a:pt x="3637" y="1129"/>
                    <a:pt x="3637" y="1344"/>
                    <a:pt x="3637" y="1354"/>
                  </a:cubicBezTo>
                  <a:cubicBezTo>
                    <a:pt x="3639" y="1567"/>
                    <a:pt x="3747" y="1763"/>
                    <a:pt x="3927" y="1879"/>
                  </a:cubicBezTo>
                  <a:cubicBezTo>
                    <a:pt x="3977" y="1911"/>
                    <a:pt x="4035" y="1929"/>
                    <a:pt x="4096" y="1929"/>
                  </a:cubicBezTo>
                  <a:cubicBezTo>
                    <a:pt x="4178" y="1929"/>
                    <a:pt x="4262" y="1894"/>
                    <a:pt x="4326" y="1827"/>
                  </a:cubicBezTo>
                  <a:cubicBezTo>
                    <a:pt x="4380" y="1769"/>
                    <a:pt x="4407" y="1693"/>
                    <a:pt x="4407" y="1614"/>
                  </a:cubicBezTo>
                  <a:lnTo>
                    <a:pt x="4407" y="837"/>
                  </a:lnTo>
                  <a:cubicBezTo>
                    <a:pt x="4404" y="629"/>
                    <a:pt x="4307" y="442"/>
                    <a:pt x="4141" y="327"/>
                  </a:cubicBezTo>
                  <a:cubicBezTo>
                    <a:pt x="4037" y="254"/>
                    <a:pt x="3914" y="217"/>
                    <a:pt x="3791" y="217"/>
                  </a:cubicBezTo>
                  <a:cubicBezTo>
                    <a:pt x="3719" y="217"/>
                    <a:pt x="3647" y="229"/>
                    <a:pt x="3579" y="255"/>
                  </a:cubicBezTo>
                  <a:lnTo>
                    <a:pt x="3433" y="310"/>
                  </a:lnTo>
                  <a:cubicBezTo>
                    <a:pt x="3276" y="120"/>
                    <a:pt x="3048" y="1"/>
                    <a:pt x="2794" y="1"/>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36"/>
            <p:cNvSpPr/>
            <p:nvPr/>
          </p:nvSpPr>
          <p:spPr>
            <a:xfrm>
              <a:off x="8060349" y="2191459"/>
              <a:ext cx="223315" cy="293822"/>
            </a:xfrm>
            <a:custGeom>
              <a:rect b="b" l="l" r="r" t="t"/>
              <a:pathLst>
                <a:path extrusionOk="0" h="8279" w="5800">
                  <a:moveTo>
                    <a:pt x="1616" y="771"/>
                  </a:moveTo>
                  <a:cubicBezTo>
                    <a:pt x="1698" y="771"/>
                    <a:pt x="1768" y="827"/>
                    <a:pt x="1779" y="906"/>
                  </a:cubicBezTo>
                  <a:cubicBezTo>
                    <a:pt x="1794" y="1005"/>
                    <a:pt x="1717" y="1089"/>
                    <a:pt x="1621" y="1089"/>
                  </a:cubicBezTo>
                  <a:lnTo>
                    <a:pt x="1250" y="1089"/>
                  </a:lnTo>
                  <a:cubicBezTo>
                    <a:pt x="1169" y="1089"/>
                    <a:pt x="1098" y="1032"/>
                    <a:pt x="1088" y="953"/>
                  </a:cubicBezTo>
                  <a:cubicBezTo>
                    <a:pt x="1073" y="855"/>
                    <a:pt x="1150" y="771"/>
                    <a:pt x="1246" y="771"/>
                  </a:cubicBezTo>
                  <a:close/>
                  <a:moveTo>
                    <a:pt x="2070" y="272"/>
                  </a:moveTo>
                  <a:cubicBezTo>
                    <a:pt x="2464" y="272"/>
                    <a:pt x="2782" y="626"/>
                    <a:pt x="2782" y="1063"/>
                  </a:cubicBezTo>
                  <a:cubicBezTo>
                    <a:pt x="2782" y="1469"/>
                    <a:pt x="2742" y="1679"/>
                    <a:pt x="2647" y="1766"/>
                  </a:cubicBezTo>
                  <a:cubicBezTo>
                    <a:pt x="2555" y="1849"/>
                    <a:pt x="2369" y="1854"/>
                    <a:pt x="2070" y="1854"/>
                  </a:cubicBezTo>
                  <a:cubicBezTo>
                    <a:pt x="2069" y="1854"/>
                    <a:pt x="2069" y="1854"/>
                    <a:pt x="2068" y="1854"/>
                  </a:cubicBezTo>
                  <a:cubicBezTo>
                    <a:pt x="1777" y="1854"/>
                    <a:pt x="1521" y="1658"/>
                    <a:pt x="1414" y="1370"/>
                  </a:cubicBezTo>
                  <a:lnTo>
                    <a:pt x="1611" y="1370"/>
                  </a:lnTo>
                  <a:cubicBezTo>
                    <a:pt x="1837" y="1370"/>
                    <a:pt x="2043" y="1187"/>
                    <a:pt x="2060" y="963"/>
                  </a:cubicBezTo>
                  <a:cubicBezTo>
                    <a:pt x="2080" y="704"/>
                    <a:pt x="1874" y="488"/>
                    <a:pt x="1621" y="488"/>
                  </a:cubicBezTo>
                  <a:lnTo>
                    <a:pt x="1583" y="488"/>
                  </a:lnTo>
                  <a:cubicBezTo>
                    <a:pt x="1713" y="352"/>
                    <a:pt x="1888" y="272"/>
                    <a:pt x="2070" y="272"/>
                  </a:cubicBezTo>
                  <a:close/>
                  <a:moveTo>
                    <a:pt x="1914" y="2135"/>
                  </a:moveTo>
                  <a:cubicBezTo>
                    <a:pt x="1963" y="2142"/>
                    <a:pt x="2014" y="2147"/>
                    <a:pt x="2064" y="2147"/>
                  </a:cubicBezTo>
                  <a:cubicBezTo>
                    <a:pt x="2135" y="2147"/>
                    <a:pt x="2204" y="2147"/>
                    <a:pt x="2269" y="2145"/>
                  </a:cubicBezTo>
                  <a:lnTo>
                    <a:pt x="2269" y="2441"/>
                  </a:lnTo>
                  <a:lnTo>
                    <a:pt x="1914" y="2441"/>
                  </a:lnTo>
                  <a:lnTo>
                    <a:pt x="1914" y="2135"/>
                  </a:lnTo>
                  <a:close/>
                  <a:moveTo>
                    <a:pt x="2351" y="2720"/>
                  </a:moveTo>
                  <a:cubicBezTo>
                    <a:pt x="2610" y="2988"/>
                    <a:pt x="2757" y="3351"/>
                    <a:pt x="2757" y="3723"/>
                  </a:cubicBezTo>
                  <a:lnTo>
                    <a:pt x="2759" y="3921"/>
                  </a:lnTo>
                  <a:lnTo>
                    <a:pt x="2290" y="3921"/>
                  </a:lnTo>
                  <a:lnTo>
                    <a:pt x="2284" y="2950"/>
                  </a:lnTo>
                  <a:cubicBezTo>
                    <a:pt x="2284" y="2868"/>
                    <a:pt x="2264" y="2791"/>
                    <a:pt x="2228" y="2720"/>
                  </a:cubicBezTo>
                  <a:close/>
                  <a:moveTo>
                    <a:pt x="1098" y="3094"/>
                  </a:moveTo>
                  <a:cubicBezTo>
                    <a:pt x="1186" y="3094"/>
                    <a:pt x="1256" y="3164"/>
                    <a:pt x="1257" y="3251"/>
                  </a:cubicBezTo>
                  <a:lnTo>
                    <a:pt x="1257" y="4154"/>
                  </a:lnTo>
                  <a:cubicBezTo>
                    <a:pt x="1151" y="4203"/>
                    <a:pt x="1051" y="4259"/>
                    <a:pt x="956" y="4322"/>
                  </a:cubicBezTo>
                  <a:lnTo>
                    <a:pt x="956" y="3239"/>
                  </a:lnTo>
                  <a:lnTo>
                    <a:pt x="957" y="3239"/>
                  </a:lnTo>
                  <a:cubicBezTo>
                    <a:pt x="957" y="3167"/>
                    <a:pt x="1017" y="3098"/>
                    <a:pt x="1089" y="3094"/>
                  </a:cubicBezTo>
                  <a:cubicBezTo>
                    <a:pt x="1092" y="3094"/>
                    <a:pt x="1095" y="3094"/>
                    <a:pt x="1098" y="3094"/>
                  </a:cubicBezTo>
                  <a:close/>
                  <a:moveTo>
                    <a:pt x="1774" y="2707"/>
                  </a:moveTo>
                  <a:cubicBezTo>
                    <a:pt x="1903" y="2707"/>
                    <a:pt x="2007" y="2810"/>
                    <a:pt x="2009" y="2940"/>
                  </a:cubicBezTo>
                  <a:lnTo>
                    <a:pt x="2014" y="4060"/>
                  </a:lnTo>
                  <a:cubicBezTo>
                    <a:pt x="2014" y="4138"/>
                    <a:pt x="2077" y="4202"/>
                    <a:pt x="2154" y="4202"/>
                  </a:cubicBezTo>
                  <a:lnTo>
                    <a:pt x="2974" y="4202"/>
                  </a:lnTo>
                  <a:lnTo>
                    <a:pt x="2974" y="4651"/>
                  </a:lnTo>
                  <a:lnTo>
                    <a:pt x="1963" y="4651"/>
                  </a:lnTo>
                  <a:cubicBezTo>
                    <a:pt x="1729" y="4651"/>
                    <a:pt x="1539" y="4460"/>
                    <a:pt x="1539" y="4227"/>
                  </a:cubicBezTo>
                  <a:lnTo>
                    <a:pt x="1539" y="2942"/>
                  </a:lnTo>
                  <a:cubicBezTo>
                    <a:pt x="1539" y="2881"/>
                    <a:pt x="1563" y="2821"/>
                    <a:pt x="1608" y="2776"/>
                  </a:cubicBezTo>
                  <a:cubicBezTo>
                    <a:pt x="1636" y="2747"/>
                    <a:pt x="1698" y="2710"/>
                    <a:pt x="1774" y="2707"/>
                  </a:cubicBezTo>
                  <a:close/>
                  <a:moveTo>
                    <a:pt x="3519" y="4353"/>
                  </a:moveTo>
                  <a:cubicBezTo>
                    <a:pt x="3713" y="4353"/>
                    <a:pt x="3877" y="4477"/>
                    <a:pt x="3936" y="4653"/>
                  </a:cubicBezTo>
                  <a:lnTo>
                    <a:pt x="3246" y="4653"/>
                  </a:lnTo>
                  <a:lnTo>
                    <a:pt x="3246" y="4353"/>
                  </a:lnTo>
                  <a:close/>
                  <a:moveTo>
                    <a:pt x="1701" y="4882"/>
                  </a:moveTo>
                  <a:cubicBezTo>
                    <a:pt x="1782" y="4917"/>
                    <a:pt x="1870" y="4934"/>
                    <a:pt x="1961" y="4934"/>
                  </a:cubicBezTo>
                  <a:lnTo>
                    <a:pt x="2027" y="4934"/>
                  </a:lnTo>
                  <a:lnTo>
                    <a:pt x="2027" y="5510"/>
                  </a:lnTo>
                  <a:cubicBezTo>
                    <a:pt x="1958" y="5525"/>
                    <a:pt x="1895" y="5551"/>
                    <a:pt x="1837" y="5585"/>
                  </a:cubicBezTo>
                  <a:lnTo>
                    <a:pt x="1339" y="5087"/>
                  </a:lnTo>
                  <a:cubicBezTo>
                    <a:pt x="1445" y="5000"/>
                    <a:pt x="1568" y="4932"/>
                    <a:pt x="1701" y="4882"/>
                  </a:cubicBezTo>
                  <a:close/>
                  <a:moveTo>
                    <a:pt x="2732" y="4932"/>
                  </a:moveTo>
                  <a:lnTo>
                    <a:pt x="2732" y="4934"/>
                  </a:lnTo>
                  <a:cubicBezTo>
                    <a:pt x="2823" y="4978"/>
                    <a:pt x="2909" y="5034"/>
                    <a:pt x="2987" y="5097"/>
                  </a:cubicBezTo>
                  <a:lnTo>
                    <a:pt x="2491" y="5593"/>
                  </a:lnTo>
                  <a:cubicBezTo>
                    <a:pt x="2435" y="5557"/>
                    <a:pt x="2374" y="5531"/>
                    <a:pt x="2310" y="5514"/>
                  </a:cubicBezTo>
                  <a:lnTo>
                    <a:pt x="2310" y="4932"/>
                  </a:lnTo>
                  <a:close/>
                  <a:moveTo>
                    <a:pt x="1146" y="5278"/>
                  </a:moveTo>
                  <a:lnTo>
                    <a:pt x="1643" y="5775"/>
                  </a:lnTo>
                  <a:cubicBezTo>
                    <a:pt x="1606" y="5833"/>
                    <a:pt x="1578" y="5898"/>
                    <a:pt x="1563" y="5967"/>
                  </a:cubicBezTo>
                  <a:lnTo>
                    <a:pt x="860" y="5967"/>
                  </a:lnTo>
                  <a:cubicBezTo>
                    <a:pt x="886" y="5709"/>
                    <a:pt x="989" y="5471"/>
                    <a:pt x="1146" y="5278"/>
                  </a:cubicBezTo>
                  <a:close/>
                  <a:moveTo>
                    <a:pt x="3191" y="5288"/>
                  </a:moveTo>
                  <a:cubicBezTo>
                    <a:pt x="3344" y="5481"/>
                    <a:pt x="3442" y="5716"/>
                    <a:pt x="3470" y="5967"/>
                  </a:cubicBezTo>
                  <a:lnTo>
                    <a:pt x="2766" y="5967"/>
                  </a:lnTo>
                  <a:cubicBezTo>
                    <a:pt x="2753" y="5901"/>
                    <a:pt x="2727" y="5841"/>
                    <a:pt x="2693" y="5785"/>
                  </a:cubicBezTo>
                  <a:lnTo>
                    <a:pt x="3191" y="5288"/>
                  </a:lnTo>
                  <a:close/>
                  <a:moveTo>
                    <a:pt x="2165" y="5776"/>
                  </a:moveTo>
                  <a:cubicBezTo>
                    <a:pt x="2352" y="5776"/>
                    <a:pt x="2503" y="5928"/>
                    <a:pt x="2503" y="6115"/>
                  </a:cubicBezTo>
                  <a:cubicBezTo>
                    <a:pt x="2503" y="6300"/>
                    <a:pt x="2352" y="6452"/>
                    <a:pt x="2165" y="6452"/>
                  </a:cubicBezTo>
                  <a:cubicBezTo>
                    <a:pt x="1979" y="6452"/>
                    <a:pt x="1827" y="6300"/>
                    <a:pt x="1827" y="6115"/>
                  </a:cubicBezTo>
                  <a:cubicBezTo>
                    <a:pt x="1827" y="5928"/>
                    <a:pt x="1979" y="5776"/>
                    <a:pt x="2165" y="5776"/>
                  </a:cubicBezTo>
                  <a:close/>
                  <a:moveTo>
                    <a:pt x="3471" y="6246"/>
                  </a:moveTo>
                  <a:cubicBezTo>
                    <a:pt x="3444" y="6502"/>
                    <a:pt x="3344" y="6734"/>
                    <a:pt x="3192" y="6924"/>
                  </a:cubicBezTo>
                  <a:lnTo>
                    <a:pt x="2694" y="6427"/>
                  </a:lnTo>
                  <a:cubicBezTo>
                    <a:pt x="2727" y="6371"/>
                    <a:pt x="2752" y="6311"/>
                    <a:pt x="2769" y="6246"/>
                  </a:cubicBezTo>
                  <a:close/>
                  <a:moveTo>
                    <a:pt x="1563" y="6247"/>
                  </a:moveTo>
                  <a:cubicBezTo>
                    <a:pt x="1578" y="6316"/>
                    <a:pt x="1606" y="6380"/>
                    <a:pt x="1643" y="6438"/>
                  </a:cubicBezTo>
                  <a:lnTo>
                    <a:pt x="1147" y="6934"/>
                  </a:lnTo>
                  <a:cubicBezTo>
                    <a:pt x="991" y="6743"/>
                    <a:pt x="887" y="6506"/>
                    <a:pt x="860" y="6247"/>
                  </a:cubicBezTo>
                  <a:close/>
                  <a:moveTo>
                    <a:pt x="4850" y="7109"/>
                  </a:moveTo>
                  <a:cubicBezTo>
                    <a:pt x="5023" y="7109"/>
                    <a:pt x="5169" y="7230"/>
                    <a:pt x="5207" y="7391"/>
                  </a:cubicBezTo>
                  <a:lnTo>
                    <a:pt x="4130" y="7391"/>
                  </a:lnTo>
                  <a:lnTo>
                    <a:pt x="4130" y="7109"/>
                  </a:lnTo>
                  <a:close/>
                  <a:moveTo>
                    <a:pt x="2490" y="6635"/>
                  </a:moveTo>
                  <a:lnTo>
                    <a:pt x="2986" y="7131"/>
                  </a:lnTo>
                  <a:cubicBezTo>
                    <a:pt x="2796" y="7286"/>
                    <a:pt x="2562" y="7388"/>
                    <a:pt x="2307" y="7418"/>
                  </a:cubicBezTo>
                  <a:lnTo>
                    <a:pt x="2307" y="6714"/>
                  </a:lnTo>
                  <a:cubicBezTo>
                    <a:pt x="2374" y="6698"/>
                    <a:pt x="2434" y="6671"/>
                    <a:pt x="2490" y="6635"/>
                  </a:cubicBezTo>
                  <a:close/>
                  <a:moveTo>
                    <a:pt x="1837" y="6643"/>
                  </a:moveTo>
                  <a:cubicBezTo>
                    <a:pt x="1895" y="6679"/>
                    <a:pt x="1958" y="6703"/>
                    <a:pt x="2027" y="6718"/>
                  </a:cubicBezTo>
                  <a:lnTo>
                    <a:pt x="2027" y="7420"/>
                  </a:lnTo>
                  <a:cubicBezTo>
                    <a:pt x="1768" y="7393"/>
                    <a:pt x="1532" y="7293"/>
                    <a:pt x="1340" y="7139"/>
                  </a:cubicBezTo>
                  <a:lnTo>
                    <a:pt x="1837" y="6643"/>
                  </a:lnTo>
                  <a:close/>
                  <a:moveTo>
                    <a:pt x="5403" y="7673"/>
                  </a:moveTo>
                  <a:cubicBezTo>
                    <a:pt x="5461" y="7673"/>
                    <a:pt x="5507" y="7726"/>
                    <a:pt x="5496" y="7787"/>
                  </a:cubicBezTo>
                  <a:cubicBezTo>
                    <a:pt x="5486" y="7830"/>
                    <a:pt x="5445" y="7861"/>
                    <a:pt x="5399" y="7861"/>
                  </a:cubicBezTo>
                  <a:lnTo>
                    <a:pt x="4127" y="7861"/>
                  </a:lnTo>
                  <a:lnTo>
                    <a:pt x="4127" y="7673"/>
                  </a:lnTo>
                  <a:close/>
                  <a:moveTo>
                    <a:pt x="2063" y="0"/>
                  </a:moveTo>
                  <a:cubicBezTo>
                    <a:pt x="1720" y="0"/>
                    <a:pt x="1404" y="188"/>
                    <a:pt x="1224" y="497"/>
                  </a:cubicBezTo>
                  <a:cubicBezTo>
                    <a:pt x="988" y="505"/>
                    <a:pt x="797" y="699"/>
                    <a:pt x="797" y="937"/>
                  </a:cubicBezTo>
                  <a:cubicBezTo>
                    <a:pt x="797" y="1135"/>
                    <a:pt x="925" y="1301"/>
                    <a:pt x="1104" y="1358"/>
                  </a:cubicBezTo>
                  <a:cubicBezTo>
                    <a:pt x="1182" y="1663"/>
                    <a:pt x="1377" y="1908"/>
                    <a:pt x="1631" y="2040"/>
                  </a:cubicBezTo>
                  <a:lnTo>
                    <a:pt x="1631" y="2459"/>
                  </a:lnTo>
                  <a:cubicBezTo>
                    <a:pt x="1474" y="2501"/>
                    <a:pt x="1304" y="2654"/>
                    <a:pt x="1267" y="2849"/>
                  </a:cubicBezTo>
                  <a:cubicBezTo>
                    <a:pt x="1215" y="2827"/>
                    <a:pt x="1158" y="2814"/>
                    <a:pt x="1098" y="2814"/>
                  </a:cubicBezTo>
                  <a:cubicBezTo>
                    <a:pt x="1088" y="2814"/>
                    <a:pt x="1078" y="2815"/>
                    <a:pt x="1068" y="2815"/>
                  </a:cubicBezTo>
                  <a:cubicBezTo>
                    <a:pt x="845" y="2830"/>
                    <a:pt x="675" y="3021"/>
                    <a:pt x="675" y="3245"/>
                  </a:cubicBezTo>
                  <a:lnTo>
                    <a:pt x="675" y="4549"/>
                  </a:lnTo>
                  <a:cubicBezTo>
                    <a:pt x="251" y="4949"/>
                    <a:pt x="0" y="5510"/>
                    <a:pt x="0" y="6118"/>
                  </a:cubicBezTo>
                  <a:cubicBezTo>
                    <a:pt x="0" y="6315"/>
                    <a:pt x="26" y="6508"/>
                    <a:pt x="79" y="6697"/>
                  </a:cubicBezTo>
                  <a:cubicBezTo>
                    <a:pt x="94" y="6750"/>
                    <a:pt x="145" y="6801"/>
                    <a:pt x="212" y="6801"/>
                  </a:cubicBezTo>
                  <a:cubicBezTo>
                    <a:pt x="224" y="6801"/>
                    <a:pt x="238" y="6799"/>
                    <a:pt x="251" y="6795"/>
                  </a:cubicBezTo>
                  <a:cubicBezTo>
                    <a:pt x="327" y="6774"/>
                    <a:pt x="370" y="6696"/>
                    <a:pt x="349" y="6622"/>
                  </a:cubicBezTo>
                  <a:cubicBezTo>
                    <a:pt x="304" y="6458"/>
                    <a:pt x="281" y="6290"/>
                    <a:pt x="281" y="6119"/>
                  </a:cubicBezTo>
                  <a:cubicBezTo>
                    <a:pt x="281" y="5411"/>
                    <a:pt x="672" y="4776"/>
                    <a:pt x="1290" y="4455"/>
                  </a:cubicBezTo>
                  <a:cubicBezTo>
                    <a:pt x="1321" y="4546"/>
                    <a:pt x="1368" y="4629"/>
                    <a:pt x="1431" y="4699"/>
                  </a:cubicBezTo>
                  <a:cubicBezTo>
                    <a:pt x="902" y="4968"/>
                    <a:pt x="560" y="5512"/>
                    <a:pt x="560" y="6121"/>
                  </a:cubicBezTo>
                  <a:cubicBezTo>
                    <a:pt x="560" y="6991"/>
                    <a:pt x="1288" y="7714"/>
                    <a:pt x="2156" y="7714"/>
                  </a:cubicBezTo>
                  <a:cubicBezTo>
                    <a:pt x="2165" y="7714"/>
                    <a:pt x="2175" y="7714"/>
                    <a:pt x="2184" y="7714"/>
                  </a:cubicBezTo>
                  <a:cubicBezTo>
                    <a:pt x="3049" y="7698"/>
                    <a:pt x="3749" y="6988"/>
                    <a:pt x="3749" y="6120"/>
                  </a:cubicBezTo>
                  <a:cubicBezTo>
                    <a:pt x="3749" y="5663"/>
                    <a:pt x="3552" y="5236"/>
                    <a:pt x="3224" y="4938"/>
                  </a:cubicBezTo>
                  <a:lnTo>
                    <a:pt x="3612" y="4938"/>
                  </a:lnTo>
                  <a:cubicBezTo>
                    <a:pt x="3785" y="5151"/>
                    <a:pt x="3910" y="5402"/>
                    <a:pt x="3976" y="5667"/>
                  </a:cubicBezTo>
                  <a:cubicBezTo>
                    <a:pt x="3988" y="5713"/>
                    <a:pt x="4043" y="5774"/>
                    <a:pt x="4113" y="5774"/>
                  </a:cubicBezTo>
                  <a:cubicBezTo>
                    <a:pt x="4124" y="5774"/>
                    <a:pt x="4135" y="5773"/>
                    <a:pt x="4146" y="5770"/>
                  </a:cubicBezTo>
                  <a:cubicBezTo>
                    <a:pt x="4221" y="5752"/>
                    <a:pt x="4268" y="5675"/>
                    <a:pt x="4249" y="5600"/>
                  </a:cubicBezTo>
                  <a:cubicBezTo>
                    <a:pt x="4191" y="5365"/>
                    <a:pt x="4092" y="5141"/>
                    <a:pt x="3959" y="4938"/>
                  </a:cubicBezTo>
                  <a:lnTo>
                    <a:pt x="4402" y="4938"/>
                  </a:lnTo>
                  <a:cubicBezTo>
                    <a:pt x="4491" y="4938"/>
                    <a:pt x="4579" y="4971"/>
                    <a:pt x="4642" y="5034"/>
                  </a:cubicBezTo>
                  <a:cubicBezTo>
                    <a:pt x="4712" y="5104"/>
                    <a:pt x="4745" y="5198"/>
                    <a:pt x="4737" y="5295"/>
                  </a:cubicBezTo>
                  <a:lnTo>
                    <a:pt x="4603" y="6833"/>
                  </a:lnTo>
                  <a:lnTo>
                    <a:pt x="4190" y="6833"/>
                  </a:lnTo>
                  <a:cubicBezTo>
                    <a:pt x="4250" y="6661"/>
                    <a:pt x="4289" y="6481"/>
                    <a:pt x="4303" y="6296"/>
                  </a:cubicBezTo>
                  <a:cubicBezTo>
                    <a:pt x="4310" y="6218"/>
                    <a:pt x="4252" y="6151"/>
                    <a:pt x="4174" y="6144"/>
                  </a:cubicBezTo>
                  <a:cubicBezTo>
                    <a:pt x="4170" y="6144"/>
                    <a:pt x="4166" y="6144"/>
                    <a:pt x="4162" y="6144"/>
                  </a:cubicBezTo>
                  <a:cubicBezTo>
                    <a:pt x="4089" y="6144"/>
                    <a:pt x="4028" y="6200"/>
                    <a:pt x="4022" y="6274"/>
                  </a:cubicBezTo>
                  <a:cubicBezTo>
                    <a:pt x="3944" y="7240"/>
                    <a:pt x="3123" y="7996"/>
                    <a:pt x="2152" y="7996"/>
                  </a:cubicBezTo>
                  <a:cubicBezTo>
                    <a:pt x="1530" y="7996"/>
                    <a:pt x="949" y="7688"/>
                    <a:pt x="598" y="7172"/>
                  </a:cubicBezTo>
                  <a:cubicBezTo>
                    <a:pt x="571" y="7132"/>
                    <a:pt x="528" y="7110"/>
                    <a:pt x="483" y="7110"/>
                  </a:cubicBezTo>
                  <a:cubicBezTo>
                    <a:pt x="456" y="7110"/>
                    <a:pt x="428" y="7118"/>
                    <a:pt x="403" y="7135"/>
                  </a:cubicBezTo>
                  <a:cubicBezTo>
                    <a:pt x="339" y="7178"/>
                    <a:pt x="323" y="7266"/>
                    <a:pt x="366" y="7330"/>
                  </a:cubicBezTo>
                  <a:cubicBezTo>
                    <a:pt x="769" y="7924"/>
                    <a:pt x="1437" y="8278"/>
                    <a:pt x="2153" y="8278"/>
                  </a:cubicBezTo>
                  <a:cubicBezTo>
                    <a:pt x="2700" y="8278"/>
                    <a:pt x="3220" y="8074"/>
                    <a:pt x="3620" y="7703"/>
                  </a:cubicBezTo>
                  <a:cubicBezTo>
                    <a:pt x="3700" y="7629"/>
                    <a:pt x="3774" y="7549"/>
                    <a:pt x="3842" y="7465"/>
                  </a:cubicBezTo>
                  <a:lnTo>
                    <a:pt x="3842" y="8006"/>
                  </a:lnTo>
                  <a:cubicBezTo>
                    <a:pt x="3842" y="8084"/>
                    <a:pt x="3905" y="8148"/>
                    <a:pt x="3983" y="8148"/>
                  </a:cubicBezTo>
                  <a:lnTo>
                    <a:pt x="5391" y="8148"/>
                  </a:lnTo>
                  <a:cubicBezTo>
                    <a:pt x="5582" y="8148"/>
                    <a:pt x="5749" y="8008"/>
                    <a:pt x="5771" y="7820"/>
                  </a:cubicBezTo>
                  <a:cubicBezTo>
                    <a:pt x="5800" y="7618"/>
                    <a:pt x="5671" y="7446"/>
                    <a:pt x="5493" y="7403"/>
                  </a:cubicBezTo>
                  <a:cubicBezTo>
                    <a:pt x="5457" y="7094"/>
                    <a:pt x="5204" y="6850"/>
                    <a:pt x="4890" y="6830"/>
                  </a:cubicBezTo>
                  <a:lnTo>
                    <a:pt x="5020" y="5315"/>
                  </a:lnTo>
                  <a:cubicBezTo>
                    <a:pt x="5035" y="5145"/>
                    <a:pt x="4977" y="4976"/>
                    <a:pt x="4862" y="4851"/>
                  </a:cubicBezTo>
                  <a:cubicBezTo>
                    <a:pt x="4748" y="4725"/>
                    <a:pt x="4584" y="4653"/>
                    <a:pt x="4412" y="4653"/>
                  </a:cubicBezTo>
                  <a:lnTo>
                    <a:pt x="4232" y="4653"/>
                  </a:lnTo>
                  <a:cubicBezTo>
                    <a:pt x="4165" y="4322"/>
                    <a:pt x="3873" y="4071"/>
                    <a:pt x="3524" y="4071"/>
                  </a:cubicBezTo>
                  <a:lnTo>
                    <a:pt x="3245" y="4071"/>
                  </a:lnTo>
                  <a:cubicBezTo>
                    <a:pt x="3248" y="4008"/>
                    <a:pt x="3195" y="3926"/>
                    <a:pt x="3104" y="3921"/>
                  </a:cubicBezTo>
                  <a:lnTo>
                    <a:pt x="3039" y="3921"/>
                  </a:lnTo>
                  <a:lnTo>
                    <a:pt x="3039" y="3717"/>
                  </a:lnTo>
                  <a:cubicBezTo>
                    <a:pt x="3039" y="3261"/>
                    <a:pt x="2861" y="2815"/>
                    <a:pt x="2550" y="2488"/>
                  </a:cubicBezTo>
                  <a:lnTo>
                    <a:pt x="2550" y="2114"/>
                  </a:lnTo>
                  <a:cubicBezTo>
                    <a:pt x="2657" y="2092"/>
                    <a:pt x="2751" y="2053"/>
                    <a:pt x="2829" y="1984"/>
                  </a:cubicBezTo>
                  <a:cubicBezTo>
                    <a:pt x="2993" y="1834"/>
                    <a:pt x="3057" y="1579"/>
                    <a:pt x="3057" y="1072"/>
                  </a:cubicBezTo>
                  <a:cubicBezTo>
                    <a:pt x="3057" y="480"/>
                    <a:pt x="2611" y="0"/>
                    <a:pt x="2063" y="0"/>
                  </a:cubicBez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95" name="Google Shape;295;p36"/>
          <p:cNvSpPr txBox="1"/>
          <p:nvPr>
            <p:ph idx="4294967295" type="title"/>
          </p:nvPr>
        </p:nvSpPr>
        <p:spPr>
          <a:xfrm>
            <a:off x="720000" y="611188"/>
            <a:ext cx="7704000" cy="56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Methodology</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299" name="Shape 299"/>
        <p:cNvGrpSpPr/>
        <p:nvPr/>
      </p:nvGrpSpPr>
      <p:grpSpPr>
        <a:xfrm>
          <a:off x="0" y="0"/>
          <a:ext cx="0" cy="0"/>
          <a:chOff x="0" y="0"/>
          <a:chExt cx="0" cy="0"/>
        </a:xfrm>
      </p:grpSpPr>
      <p:sp>
        <p:nvSpPr>
          <p:cNvPr id="300" name="Google Shape;300;p37"/>
          <p:cNvSpPr txBox="1"/>
          <p:nvPr>
            <p:ph type="title"/>
          </p:nvPr>
        </p:nvSpPr>
        <p:spPr>
          <a:xfrm>
            <a:off x="720000" y="490575"/>
            <a:ext cx="7704000" cy="56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4000"/>
              <a:t>Datasets</a:t>
            </a:r>
            <a:endParaRPr sz="4000"/>
          </a:p>
        </p:txBody>
      </p:sp>
      <p:graphicFrame>
        <p:nvGraphicFramePr>
          <p:cNvPr id="301" name="Google Shape;301;p37"/>
          <p:cNvGraphicFramePr/>
          <p:nvPr/>
        </p:nvGraphicFramePr>
        <p:xfrm>
          <a:off x="597775" y="1297075"/>
          <a:ext cx="3000000" cy="3000000"/>
        </p:xfrm>
        <a:graphic>
          <a:graphicData uri="http://schemas.openxmlformats.org/drawingml/2006/table">
            <a:tbl>
              <a:tblPr>
                <a:noFill/>
                <a:tableStyleId>{4B2A4E12-AF26-4A6D-92E8-1941F74E98CE}</a:tableStyleId>
              </a:tblPr>
              <a:tblGrid>
                <a:gridCol w="1664800"/>
                <a:gridCol w="6320100"/>
              </a:tblGrid>
              <a:tr h="538125">
                <a:tc>
                  <a:txBody>
                    <a:bodyPr/>
                    <a:lstStyle/>
                    <a:p>
                      <a:pPr indent="0" lvl="0" marL="0" rtl="0" algn="ctr">
                        <a:spcBef>
                          <a:spcPts val="0"/>
                        </a:spcBef>
                        <a:spcAft>
                          <a:spcPts val="0"/>
                        </a:spcAft>
                        <a:buClr>
                          <a:schemeClr val="dk1"/>
                        </a:buClr>
                        <a:buSzPts val="1100"/>
                        <a:buFont typeface="Arial"/>
                        <a:buNone/>
                      </a:pPr>
                      <a:r>
                        <a:rPr lang="en" sz="1000">
                          <a:solidFill>
                            <a:schemeClr val="lt1"/>
                          </a:solidFill>
                          <a:latin typeface="Arapey"/>
                          <a:ea typeface="Arapey"/>
                          <a:cs typeface="Arapey"/>
                          <a:sym typeface="Arapey"/>
                        </a:rPr>
                        <a:t>01</a:t>
                      </a:r>
                      <a:endParaRPr sz="1000">
                        <a:solidFill>
                          <a:schemeClr val="lt1"/>
                        </a:solidFill>
                        <a:latin typeface="Arapey"/>
                        <a:ea typeface="Arapey"/>
                        <a:cs typeface="Arapey"/>
                        <a:sym typeface="Arapey"/>
                      </a:endParaRPr>
                    </a:p>
                    <a:p>
                      <a:pPr indent="0" lvl="0" marL="0" rtl="0" algn="ctr">
                        <a:spcBef>
                          <a:spcPts val="0"/>
                        </a:spcBef>
                        <a:spcAft>
                          <a:spcPts val="0"/>
                        </a:spcAft>
                        <a:buClr>
                          <a:schemeClr val="dk1"/>
                        </a:buClr>
                        <a:buSzPts val="1100"/>
                        <a:buFont typeface="Arial"/>
                        <a:buNone/>
                      </a:pPr>
                      <a:r>
                        <a:rPr lang="en" sz="1500">
                          <a:solidFill>
                            <a:schemeClr val="lt1"/>
                          </a:solidFill>
                          <a:latin typeface="Arapey"/>
                          <a:ea typeface="Arapey"/>
                          <a:cs typeface="Arapey"/>
                          <a:sym typeface="Arapey"/>
                        </a:rPr>
                        <a:t>CostReport</a:t>
                      </a:r>
                      <a:endParaRPr sz="2600">
                        <a:solidFill>
                          <a:schemeClr val="lt1"/>
                        </a:solidFill>
                        <a:latin typeface="Arapey"/>
                        <a:ea typeface="Arapey"/>
                        <a:cs typeface="Arapey"/>
                        <a:sym typeface="Arapey"/>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Didact Gothic"/>
                          <a:ea typeface="Didact Gothic"/>
                          <a:cs typeface="Didact Gothic"/>
                          <a:sym typeface="Didact Gothic"/>
                        </a:rPr>
                        <a:t>Gives data on financial performance and expenses, including total revenue, operating expenses, profit margins, and capital costs.</a:t>
                      </a:r>
                      <a:endParaRPr>
                        <a:solidFill>
                          <a:schemeClr val="lt1"/>
                        </a:solidFill>
                        <a:latin typeface="Didact Gothic"/>
                        <a:ea typeface="Didact Gothic"/>
                        <a:cs typeface="Didact Gothic"/>
                        <a:sym typeface="Didact Gothic"/>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38125">
                <a:tc>
                  <a:txBody>
                    <a:bodyPr/>
                    <a:lstStyle/>
                    <a:p>
                      <a:pPr indent="0" lvl="0" marL="0" rtl="0" algn="ctr">
                        <a:spcBef>
                          <a:spcPts val="0"/>
                        </a:spcBef>
                        <a:spcAft>
                          <a:spcPts val="0"/>
                        </a:spcAft>
                        <a:buClr>
                          <a:schemeClr val="dk1"/>
                        </a:buClr>
                        <a:buSzPts val="1100"/>
                        <a:buFont typeface="Arial"/>
                        <a:buNone/>
                      </a:pPr>
                      <a:r>
                        <a:rPr lang="en" sz="1000">
                          <a:solidFill>
                            <a:schemeClr val="lt1"/>
                          </a:solidFill>
                          <a:latin typeface="Arapey"/>
                          <a:ea typeface="Arapey"/>
                          <a:cs typeface="Arapey"/>
                          <a:sym typeface="Arapey"/>
                        </a:rPr>
                        <a:t>02</a:t>
                      </a:r>
                      <a:endParaRPr sz="1000">
                        <a:solidFill>
                          <a:schemeClr val="lt1"/>
                        </a:solidFill>
                        <a:latin typeface="Arapey"/>
                        <a:ea typeface="Arapey"/>
                        <a:cs typeface="Arapey"/>
                        <a:sym typeface="Arapey"/>
                      </a:endParaRPr>
                    </a:p>
                    <a:p>
                      <a:pPr indent="0" lvl="0" marL="0" rtl="0" algn="ctr">
                        <a:spcBef>
                          <a:spcPts val="0"/>
                        </a:spcBef>
                        <a:spcAft>
                          <a:spcPts val="0"/>
                        </a:spcAft>
                        <a:buNone/>
                      </a:pPr>
                      <a:r>
                        <a:rPr lang="en" sz="1500">
                          <a:solidFill>
                            <a:schemeClr val="lt1"/>
                          </a:solidFill>
                          <a:latin typeface="Arapey"/>
                          <a:ea typeface="Arapey"/>
                          <a:cs typeface="Arapey"/>
                          <a:sym typeface="Arapey"/>
                        </a:rPr>
                        <a:t>ProviderInfo</a:t>
                      </a:r>
                      <a:endParaRPr sz="1000">
                        <a:solidFill>
                          <a:schemeClr val="lt1"/>
                        </a:solidFill>
                        <a:latin typeface="Arapey"/>
                        <a:ea typeface="Arapey"/>
                        <a:cs typeface="Arapey"/>
                        <a:sym typeface="Arapey"/>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Didact Gothic"/>
                          <a:ea typeface="Didact Gothic"/>
                          <a:cs typeface="Didact Gothic"/>
                          <a:sym typeface="Didact Gothic"/>
                        </a:rPr>
                        <a:t>Includes facility details on nursing homes, such as facility name, address, ownership type, capacity, and certification status.</a:t>
                      </a:r>
                      <a:endParaRPr>
                        <a:solidFill>
                          <a:schemeClr val="lt1"/>
                        </a:solidFill>
                        <a:latin typeface="Didact Gothic"/>
                        <a:ea typeface="Didact Gothic"/>
                        <a:cs typeface="Didact Gothic"/>
                        <a:sym typeface="Didact Gothic"/>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38125">
                <a:tc>
                  <a:txBody>
                    <a:bodyPr/>
                    <a:lstStyle/>
                    <a:p>
                      <a:pPr indent="0" lvl="0" marL="0" rtl="0" algn="ctr">
                        <a:spcBef>
                          <a:spcPts val="0"/>
                        </a:spcBef>
                        <a:spcAft>
                          <a:spcPts val="0"/>
                        </a:spcAft>
                        <a:buClr>
                          <a:schemeClr val="dk1"/>
                        </a:buClr>
                        <a:buSzPts val="1100"/>
                        <a:buFont typeface="Arial"/>
                        <a:buNone/>
                      </a:pPr>
                      <a:r>
                        <a:rPr lang="en" sz="1000">
                          <a:solidFill>
                            <a:schemeClr val="lt1"/>
                          </a:solidFill>
                          <a:latin typeface="Arapey"/>
                          <a:ea typeface="Arapey"/>
                          <a:cs typeface="Arapey"/>
                          <a:sym typeface="Arapey"/>
                        </a:rPr>
                        <a:t>03</a:t>
                      </a:r>
                      <a:endParaRPr sz="1000">
                        <a:solidFill>
                          <a:schemeClr val="lt1"/>
                        </a:solidFill>
                        <a:latin typeface="Arapey"/>
                        <a:ea typeface="Arapey"/>
                        <a:cs typeface="Arapey"/>
                        <a:sym typeface="Arapey"/>
                      </a:endParaRPr>
                    </a:p>
                    <a:p>
                      <a:pPr indent="0" lvl="0" marL="0" rtl="0" algn="ctr">
                        <a:spcBef>
                          <a:spcPts val="0"/>
                        </a:spcBef>
                        <a:spcAft>
                          <a:spcPts val="0"/>
                        </a:spcAft>
                        <a:buClr>
                          <a:schemeClr val="dk1"/>
                        </a:buClr>
                        <a:buSzPts val="1100"/>
                        <a:buFont typeface="Arial"/>
                        <a:buNone/>
                      </a:pPr>
                      <a:r>
                        <a:rPr lang="en" sz="1500">
                          <a:solidFill>
                            <a:schemeClr val="lt1"/>
                          </a:solidFill>
                          <a:latin typeface="Arapey"/>
                          <a:ea typeface="Arapey"/>
                          <a:cs typeface="Arapey"/>
                          <a:sym typeface="Arapey"/>
                        </a:rPr>
                        <a:t>HealthDeficiencies</a:t>
                      </a:r>
                      <a:endParaRPr sz="2600">
                        <a:solidFill>
                          <a:schemeClr val="lt1"/>
                        </a:solidFill>
                        <a:latin typeface="Arapey"/>
                        <a:ea typeface="Arapey"/>
                        <a:cs typeface="Arapey"/>
                        <a:sym typeface="Arapey"/>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Didact Gothic"/>
                          <a:ea typeface="Didact Gothic"/>
                          <a:cs typeface="Didact Gothic"/>
                          <a:sym typeface="Didact Gothic"/>
                        </a:rPr>
                        <a:t>Provides information on inspection violations and deficiency tags, categorized by type, severity, and date. </a:t>
                      </a:r>
                      <a:endParaRPr>
                        <a:solidFill>
                          <a:schemeClr val="lt1"/>
                        </a:solidFill>
                        <a:latin typeface="Didact Gothic"/>
                        <a:ea typeface="Didact Gothic"/>
                        <a:cs typeface="Didact Gothic"/>
                        <a:sym typeface="Didact Gothic"/>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538125">
                <a:tc>
                  <a:txBody>
                    <a:bodyPr/>
                    <a:lstStyle/>
                    <a:p>
                      <a:pPr indent="0" lvl="0" marL="0" rtl="0" algn="ctr">
                        <a:spcBef>
                          <a:spcPts val="0"/>
                        </a:spcBef>
                        <a:spcAft>
                          <a:spcPts val="0"/>
                        </a:spcAft>
                        <a:buNone/>
                      </a:pPr>
                      <a:r>
                        <a:rPr lang="en" sz="1000">
                          <a:solidFill>
                            <a:schemeClr val="lt1"/>
                          </a:solidFill>
                          <a:latin typeface="Arapey"/>
                          <a:ea typeface="Arapey"/>
                          <a:cs typeface="Arapey"/>
                          <a:sym typeface="Arapey"/>
                        </a:rPr>
                        <a:t>04</a:t>
                      </a:r>
                      <a:endParaRPr sz="1000">
                        <a:solidFill>
                          <a:schemeClr val="lt1"/>
                        </a:solidFill>
                        <a:latin typeface="Arapey"/>
                        <a:ea typeface="Arapey"/>
                        <a:cs typeface="Arapey"/>
                        <a:sym typeface="Arapey"/>
                      </a:endParaRPr>
                    </a:p>
                    <a:p>
                      <a:pPr indent="0" lvl="0" marL="0" rtl="0" algn="ctr">
                        <a:spcBef>
                          <a:spcPts val="0"/>
                        </a:spcBef>
                        <a:spcAft>
                          <a:spcPts val="0"/>
                        </a:spcAft>
                        <a:buClr>
                          <a:schemeClr val="dk1"/>
                        </a:buClr>
                        <a:buSzPts val="1100"/>
                        <a:buFont typeface="Arial"/>
                        <a:buNone/>
                      </a:pPr>
                      <a:r>
                        <a:rPr lang="en" sz="1500">
                          <a:solidFill>
                            <a:schemeClr val="lt1"/>
                          </a:solidFill>
                          <a:latin typeface="Arapey"/>
                          <a:ea typeface="Arapey"/>
                          <a:cs typeface="Arapey"/>
                          <a:sym typeface="Arapey"/>
                        </a:rPr>
                        <a:t>QualityMsrMDS</a:t>
                      </a:r>
                      <a:endParaRPr sz="2600">
                        <a:solidFill>
                          <a:schemeClr val="lt1"/>
                        </a:solidFill>
                        <a:latin typeface="Arapey"/>
                        <a:ea typeface="Arapey"/>
                        <a:cs typeface="Arapey"/>
                        <a:sym typeface="Arapey"/>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Clr>
                          <a:schemeClr val="dk1"/>
                        </a:buClr>
                        <a:buSzPts val="1100"/>
                        <a:buFont typeface="Arial"/>
                        <a:buNone/>
                      </a:pPr>
                      <a:r>
                        <a:rPr lang="en">
                          <a:solidFill>
                            <a:schemeClr val="lt1"/>
                          </a:solidFill>
                          <a:latin typeface="Didact Gothic"/>
                          <a:ea typeface="Didact Gothic"/>
                          <a:cs typeface="Didact Gothic"/>
                          <a:sym typeface="Didact Gothic"/>
                        </a:rPr>
                        <a:t>Gives metrics for the quality of care obtained from MDS evaluations, including but not limited to mobility decline and infection rates.  </a:t>
                      </a:r>
                      <a:endParaRPr>
                        <a:solidFill>
                          <a:schemeClr val="lt1"/>
                        </a:solidFill>
                        <a:latin typeface="Didact Gothic"/>
                        <a:ea typeface="Didact Gothic"/>
                        <a:cs typeface="Didact Gothic"/>
                        <a:sym typeface="Didact Gothic"/>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r h="369550">
                <a:tc>
                  <a:txBody>
                    <a:bodyPr/>
                    <a:lstStyle/>
                    <a:p>
                      <a:pPr indent="0" lvl="0" marL="0" rtl="0" algn="ctr">
                        <a:spcBef>
                          <a:spcPts val="0"/>
                        </a:spcBef>
                        <a:spcAft>
                          <a:spcPts val="0"/>
                        </a:spcAft>
                        <a:buNone/>
                      </a:pPr>
                      <a:r>
                        <a:rPr lang="en" sz="1000">
                          <a:solidFill>
                            <a:schemeClr val="lt1"/>
                          </a:solidFill>
                          <a:latin typeface="Arapey"/>
                          <a:ea typeface="Arapey"/>
                          <a:cs typeface="Arapey"/>
                          <a:sym typeface="Arapey"/>
                        </a:rPr>
                        <a:t>05</a:t>
                      </a:r>
                      <a:endParaRPr sz="1000">
                        <a:solidFill>
                          <a:schemeClr val="lt1"/>
                        </a:solidFill>
                        <a:latin typeface="Arapey"/>
                        <a:ea typeface="Arapey"/>
                        <a:cs typeface="Arapey"/>
                        <a:sym typeface="Arapey"/>
                      </a:endParaRPr>
                    </a:p>
                    <a:p>
                      <a:pPr indent="0" lvl="0" marL="0" rtl="0" algn="ctr">
                        <a:spcBef>
                          <a:spcPts val="0"/>
                        </a:spcBef>
                        <a:spcAft>
                          <a:spcPts val="0"/>
                        </a:spcAft>
                        <a:buNone/>
                      </a:pPr>
                      <a:r>
                        <a:rPr lang="en" sz="1500">
                          <a:solidFill>
                            <a:schemeClr val="lt1"/>
                          </a:solidFill>
                          <a:latin typeface="Arapey"/>
                          <a:ea typeface="Arapey"/>
                          <a:cs typeface="Arapey"/>
                          <a:sym typeface="Arapey"/>
                        </a:rPr>
                        <a:t>Penalties</a:t>
                      </a:r>
                      <a:endParaRPr sz="2600">
                        <a:solidFill>
                          <a:schemeClr val="lt1"/>
                        </a:solidFill>
                        <a:latin typeface="Arapey"/>
                        <a:ea typeface="Arapey"/>
                        <a:cs typeface="Arapey"/>
                        <a:sym typeface="Arapey"/>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c>
                  <a:txBody>
                    <a:bodyPr/>
                    <a:lstStyle/>
                    <a:p>
                      <a:pPr indent="0" lvl="0" marL="0" rtl="0" algn="ctr">
                        <a:spcBef>
                          <a:spcPts val="0"/>
                        </a:spcBef>
                        <a:spcAft>
                          <a:spcPts val="0"/>
                        </a:spcAft>
                        <a:buNone/>
                      </a:pPr>
                      <a:r>
                        <a:rPr lang="en">
                          <a:solidFill>
                            <a:schemeClr val="lt1"/>
                          </a:solidFill>
                          <a:latin typeface="Didact Gothic"/>
                          <a:ea typeface="Didact Gothic"/>
                          <a:cs typeface="Didact Gothic"/>
                          <a:sym typeface="Didact Gothic"/>
                        </a:rPr>
                        <a:t>Include information about fines and other enforcement measures that noncompliant facilities face. </a:t>
                      </a:r>
                      <a:endParaRPr>
                        <a:solidFill>
                          <a:schemeClr val="lt1"/>
                        </a:solidFill>
                        <a:latin typeface="Didact Gothic"/>
                        <a:ea typeface="Didact Gothic"/>
                        <a:cs typeface="Didact Gothic"/>
                        <a:sym typeface="Didact Gothic"/>
                      </a:endParaRPr>
                    </a:p>
                  </a:txBody>
                  <a:tcPr marT="91425" marB="91425" marR="91425" marL="91425" anchor="ctr">
                    <a:lnL cap="flat" cmpd="sng" w="9525">
                      <a:solidFill>
                        <a:schemeClr val="lt1"/>
                      </a:solidFill>
                      <a:prstDash val="solid"/>
                      <a:round/>
                      <a:headEnd len="sm" w="sm" type="none"/>
                      <a:tailEnd len="sm" w="sm" type="none"/>
                    </a:lnL>
                    <a:lnR cap="flat" cmpd="sng" w="9525">
                      <a:solidFill>
                        <a:schemeClr val="lt1"/>
                      </a:solidFill>
                      <a:prstDash val="solid"/>
                      <a:round/>
                      <a:headEnd len="sm" w="sm" type="none"/>
                      <a:tailEnd len="sm" w="sm" type="none"/>
                    </a:lnR>
                    <a:lnT cap="flat" cmpd="sng" w="9525">
                      <a:solidFill>
                        <a:schemeClr val="lt1"/>
                      </a:solidFill>
                      <a:prstDash val="solid"/>
                      <a:round/>
                      <a:headEnd len="sm" w="sm" type="none"/>
                      <a:tailEnd len="sm" w="sm" type="none"/>
                    </a:lnT>
                    <a:lnB cap="flat" cmpd="sng" w="9525">
                      <a:solidFill>
                        <a:schemeClr val="lt1"/>
                      </a:solidFill>
                      <a:prstDash val="solid"/>
                      <a:round/>
                      <a:headEnd len="sm" w="sm" type="none"/>
                      <a:tailEnd len="sm" w="sm" type="none"/>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05" name="Shape 305"/>
        <p:cNvGrpSpPr/>
        <p:nvPr/>
      </p:nvGrpSpPr>
      <p:grpSpPr>
        <a:xfrm>
          <a:off x="0" y="0"/>
          <a:ext cx="0" cy="0"/>
          <a:chOff x="0" y="0"/>
          <a:chExt cx="0" cy="0"/>
        </a:xfrm>
      </p:grpSpPr>
      <p:sp>
        <p:nvSpPr>
          <p:cNvPr id="306" name="Google Shape;306;p38"/>
          <p:cNvSpPr txBox="1"/>
          <p:nvPr>
            <p:ph type="title"/>
          </p:nvPr>
        </p:nvSpPr>
        <p:spPr>
          <a:xfrm>
            <a:off x="827975" y="437325"/>
            <a:ext cx="7744200" cy="64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500"/>
              <a:t>Data </a:t>
            </a:r>
            <a:r>
              <a:rPr lang="en" sz="4500"/>
              <a:t>Preprocessing</a:t>
            </a:r>
            <a:endParaRPr sz="4500"/>
          </a:p>
        </p:txBody>
      </p:sp>
      <p:sp>
        <p:nvSpPr>
          <p:cNvPr id="307" name="Google Shape;307;p38"/>
          <p:cNvSpPr txBox="1"/>
          <p:nvPr>
            <p:ph idx="4294967295" type="subTitle"/>
          </p:nvPr>
        </p:nvSpPr>
        <p:spPr>
          <a:xfrm rot="-285">
            <a:off x="827975" y="1626582"/>
            <a:ext cx="7244100" cy="28740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t>We combined yearly cost report files (2015–2021) into one dataset using Python and added a Year column to add to the composite key (rec_rpt_num, provider_ccn, year).</a:t>
            </a:r>
            <a:br>
              <a:rPr lang="en" sz="1300"/>
            </a:br>
            <a:endParaRPr sz="1300"/>
          </a:p>
          <a:p>
            <a:pPr indent="-311150" lvl="0" marL="457200" rtl="0" algn="l">
              <a:spcBef>
                <a:spcPts val="0"/>
              </a:spcBef>
              <a:spcAft>
                <a:spcPts val="0"/>
              </a:spcAft>
              <a:buSzPts val="1300"/>
              <a:buChar char="●"/>
            </a:pPr>
            <a:r>
              <a:rPr lang="en" sz="1300"/>
              <a:t>Column names were inconsistent across years, so we renamed them to allow for merging.</a:t>
            </a:r>
            <a:br>
              <a:rPr lang="en" sz="1300"/>
            </a:br>
            <a:endParaRPr sz="1300"/>
          </a:p>
          <a:p>
            <a:pPr indent="-311150" lvl="0" marL="457200" rtl="0" algn="l">
              <a:spcBef>
                <a:spcPts val="0"/>
              </a:spcBef>
              <a:spcAft>
                <a:spcPts val="0"/>
              </a:spcAft>
              <a:buSzPts val="1300"/>
              <a:buChar char="●"/>
            </a:pPr>
            <a:r>
              <a:rPr lang="en" sz="1300"/>
              <a:t>We created new columns to total up different types of discharges, since there wasn’t a direct patient count. And this leads into our main variable below.</a:t>
            </a:r>
            <a:br>
              <a:rPr lang="en" sz="1300"/>
            </a:br>
            <a:endParaRPr sz="1300"/>
          </a:p>
          <a:p>
            <a:pPr indent="-311150" lvl="0" marL="457200" rtl="0" algn="l">
              <a:spcBef>
                <a:spcPts val="0"/>
              </a:spcBef>
              <a:spcAft>
                <a:spcPts val="0"/>
              </a:spcAft>
              <a:buSzPts val="1300"/>
              <a:buFont typeface="Arial"/>
              <a:buChar char="●"/>
            </a:pPr>
            <a:r>
              <a:rPr b="1" lang="en" sz="1300"/>
              <a:t>Net Income per Discharge</a:t>
            </a:r>
            <a:r>
              <a:rPr lang="en" sz="1300"/>
              <a:t> </a:t>
            </a:r>
            <a:r>
              <a:rPr lang="en" sz="1300"/>
              <a:t>—</a:t>
            </a:r>
            <a:r>
              <a:rPr lang="en" sz="1300"/>
              <a:t>we used it as a stand-in for financial performance per patient.</a:t>
            </a:r>
            <a:br>
              <a:rPr lang="en" sz="1300"/>
            </a:br>
            <a:endParaRPr sz="1300"/>
          </a:p>
          <a:p>
            <a:pPr indent="-311150" lvl="0" marL="457200" rtl="0" algn="l">
              <a:spcBef>
                <a:spcPts val="0"/>
              </a:spcBef>
              <a:spcAft>
                <a:spcPts val="0"/>
              </a:spcAft>
              <a:buSzPts val="1300"/>
              <a:buFont typeface="Arial"/>
              <a:buChar char="●"/>
            </a:pPr>
            <a:r>
              <a:rPr lang="en" sz="1300"/>
              <a:t>We dropped rows missing that target value or missing more than half their data. Then we filled in missing numbers with the </a:t>
            </a:r>
            <a:r>
              <a:rPr b="1" lang="en" sz="1300"/>
              <a:t>median</a:t>
            </a:r>
            <a:r>
              <a:rPr lang="en" sz="1300"/>
              <a:t>, and dropped the categorical variables. </a:t>
            </a:r>
            <a:endParaRPr sz="1300"/>
          </a:p>
          <a:p>
            <a:pPr indent="0" lvl="0" marL="0" rtl="0" algn="l">
              <a:spcBef>
                <a:spcPts val="1600"/>
              </a:spcBef>
              <a:spcAft>
                <a:spcPts val="1600"/>
              </a:spcAft>
              <a:buNone/>
            </a:pPr>
            <a:r>
              <a:t/>
            </a:r>
            <a:endParaRPr/>
          </a:p>
        </p:txBody>
      </p:sp>
      <p:sp>
        <p:nvSpPr>
          <p:cNvPr id="308" name="Google Shape;308;p38"/>
          <p:cNvSpPr txBox="1"/>
          <p:nvPr>
            <p:ph idx="4294967295" type="subTitle"/>
          </p:nvPr>
        </p:nvSpPr>
        <p:spPr>
          <a:xfrm>
            <a:off x="2355300" y="1181650"/>
            <a:ext cx="4433400" cy="3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Cost Reports: </a:t>
            </a:r>
            <a:r>
              <a:rPr i="1" lang="en"/>
              <a:t>Data Preparation &amp; Feature Engineering</a:t>
            </a:r>
            <a:endParaRPr i="1"/>
          </a:p>
          <a:p>
            <a:pPr indent="0" lvl="0" marL="0" rtl="0" algn="l">
              <a:spcBef>
                <a:spcPts val="1600"/>
              </a:spcBef>
              <a:spcAft>
                <a:spcPts val="1600"/>
              </a:spcAft>
              <a:buNone/>
            </a:pPr>
            <a:r>
              <a:t/>
            </a:r>
            <a:endParaRPr b="1" i="1"/>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2" name="Shape 312"/>
        <p:cNvGrpSpPr/>
        <p:nvPr/>
      </p:nvGrpSpPr>
      <p:grpSpPr>
        <a:xfrm>
          <a:off x="0" y="0"/>
          <a:ext cx="0" cy="0"/>
          <a:chOff x="0" y="0"/>
          <a:chExt cx="0" cy="0"/>
        </a:xfrm>
      </p:grpSpPr>
      <p:sp>
        <p:nvSpPr>
          <p:cNvPr id="313" name="Google Shape;313;p39"/>
          <p:cNvSpPr txBox="1"/>
          <p:nvPr>
            <p:ph type="title"/>
          </p:nvPr>
        </p:nvSpPr>
        <p:spPr>
          <a:xfrm>
            <a:off x="827975" y="437325"/>
            <a:ext cx="7744200" cy="64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500"/>
              <a:t>Data Preprocessing</a:t>
            </a:r>
            <a:endParaRPr sz="4500"/>
          </a:p>
        </p:txBody>
      </p:sp>
      <p:sp>
        <p:nvSpPr>
          <p:cNvPr id="314" name="Google Shape;314;p39"/>
          <p:cNvSpPr txBox="1"/>
          <p:nvPr>
            <p:ph idx="4294967295" type="subTitle"/>
          </p:nvPr>
        </p:nvSpPr>
        <p:spPr>
          <a:xfrm rot="-285">
            <a:off x="827975" y="1527507"/>
            <a:ext cx="7244100" cy="2874000"/>
          </a:xfrm>
          <a:prstGeom prst="rect">
            <a:avLst/>
          </a:prstGeom>
        </p:spPr>
        <p:txBody>
          <a:bodyPr anchorCtr="0" anchor="t" bIns="91425" lIns="91425" spcFirstLastPara="1" rIns="91425" wrap="square" tIns="91425">
            <a:noAutofit/>
          </a:bodyPr>
          <a:lstStyle/>
          <a:p>
            <a:pPr indent="-311150" lvl="0" marL="457200" rtl="0" algn="l">
              <a:spcBef>
                <a:spcPts val="0"/>
              </a:spcBef>
              <a:spcAft>
                <a:spcPts val="0"/>
              </a:spcAft>
              <a:buSzPts val="1300"/>
              <a:buChar char="●"/>
            </a:pPr>
            <a:r>
              <a:rPr lang="en" sz="1300"/>
              <a:t>All variables were converted to numeric types, and features were standardized to ensure fair weighting during modeling.</a:t>
            </a:r>
            <a:endParaRPr sz="1300"/>
          </a:p>
          <a:p>
            <a:pPr indent="-311150" lvl="0" marL="457200" rtl="0" algn="l">
              <a:lnSpc>
                <a:spcPct val="80000"/>
              </a:lnSpc>
              <a:spcBef>
                <a:spcPts val="1000"/>
              </a:spcBef>
              <a:spcAft>
                <a:spcPts val="0"/>
              </a:spcAft>
              <a:buSzPts val="1300"/>
              <a:buChar char="●"/>
            </a:pPr>
            <a:r>
              <a:rPr lang="en" sz="1300"/>
              <a:t>Two modeling approaches were used:</a:t>
            </a:r>
            <a:endParaRPr sz="1300"/>
          </a:p>
          <a:p>
            <a:pPr indent="-311150" lvl="1" marL="914400" rtl="0" algn="l">
              <a:lnSpc>
                <a:spcPct val="80000"/>
              </a:lnSpc>
              <a:spcBef>
                <a:spcPts val="1600"/>
              </a:spcBef>
              <a:spcAft>
                <a:spcPts val="0"/>
              </a:spcAft>
              <a:buSzPts val="1300"/>
              <a:buChar char="○"/>
            </a:pPr>
            <a:r>
              <a:rPr lang="en" sz="1300" u="sng"/>
              <a:t>Linear regression with backward elimination</a:t>
            </a:r>
            <a:r>
              <a:rPr lang="en" sz="1300"/>
              <a:t> to identify statistically significant predictors of financial performance.</a:t>
            </a:r>
            <a:endParaRPr sz="1300"/>
          </a:p>
          <a:p>
            <a:pPr indent="-311150" lvl="1" marL="914400" rtl="0" algn="l">
              <a:lnSpc>
                <a:spcPct val="80000"/>
              </a:lnSpc>
              <a:spcBef>
                <a:spcPts val="1000"/>
              </a:spcBef>
              <a:spcAft>
                <a:spcPts val="0"/>
              </a:spcAft>
              <a:buSzPts val="1300"/>
              <a:buFont typeface="Arial"/>
              <a:buChar char="○"/>
            </a:pPr>
            <a:r>
              <a:rPr lang="en" sz="1300" u="sng"/>
              <a:t>Random forest</a:t>
            </a:r>
            <a:r>
              <a:rPr b="1" lang="en" sz="1300"/>
              <a:t> </a:t>
            </a:r>
            <a:r>
              <a:rPr lang="en" sz="1300"/>
              <a:t>to capture non-linear relationships and determine the relative importance of each variable. </a:t>
            </a:r>
            <a:endParaRPr sz="1300"/>
          </a:p>
          <a:p>
            <a:pPr indent="-311150" lvl="0" marL="457200" rtl="0" algn="l">
              <a:lnSpc>
                <a:spcPct val="80000"/>
              </a:lnSpc>
              <a:spcBef>
                <a:spcPts val="1000"/>
              </a:spcBef>
              <a:spcAft>
                <a:spcPts val="0"/>
              </a:spcAft>
              <a:buSzPts val="1300"/>
              <a:buChar char="●"/>
            </a:pPr>
            <a:r>
              <a:rPr lang="en" sz="1300"/>
              <a:t>We linked Cost Reports and Provider Info datasets using a composite key of rpt_rec_num, provider_ccn, and year. </a:t>
            </a:r>
            <a:endParaRPr sz="1300"/>
          </a:p>
          <a:p>
            <a:pPr indent="-311150" lvl="1" marL="914400" rtl="0" algn="l">
              <a:lnSpc>
                <a:spcPct val="80000"/>
              </a:lnSpc>
              <a:spcBef>
                <a:spcPts val="1000"/>
              </a:spcBef>
              <a:spcAft>
                <a:spcPts val="0"/>
              </a:spcAft>
              <a:buSzPts val="1300"/>
              <a:buChar char="○"/>
            </a:pPr>
            <a:r>
              <a:rPr lang="en" sz="1300"/>
              <a:t>This helped to conduct a thorough examination of financial performance and quality measures.</a:t>
            </a:r>
            <a:endParaRPr sz="1300"/>
          </a:p>
          <a:p>
            <a:pPr indent="0" lvl="0" marL="0" rtl="0" algn="l">
              <a:spcBef>
                <a:spcPts val="1000"/>
              </a:spcBef>
              <a:spcAft>
                <a:spcPts val="0"/>
              </a:spcAft>
              <a:buNone/>
            </a:pPr>
            <a:r>
              <a:t/>
            </a:r>
            <a:endParaRPr sz="1300"/>
          </a:p>
          <a:p>
            <a:pPr indent="0" lvl="0" marL="0" rtl="0" algn="l">
              <a:spcBef>
                <a:spcPts val="1600"/>
              </a:spcBef>
              <a:spcAft>
                <a:spcPts val="1600"/>
              </a:spcAft>
              <a:buNone/>
            </a:pPr>
            <a:r>
              <a:t/>
            </a:r>
            <a:endParaRPr/>
          </a:p>
        </p:txBody>
      </p:sp>
      <p:sp>
        <p:nvSpPr>
          <p:cNvPr id="315" name="Google Shape;315;p39"/>
          <p:cNvSpPr txBox="1"/>
          <p:nvPr>
            <p:ph idx="4294967295" type="subTitle"/>
          </p:nvPr>
        </p:nvSpPr>
        <p:spPr>
          <a:xfrm>
            <a:off x="3297825" y="1086225"/>
            <a:ext cx="3605100" cy="349200"/>
          </a:xfrm>
          <a:prstGeom prst="rect">
            <a:avLst/>
          </a:prstGeom>
        </p:spPr>
        <p:txBody>
          <a:bodyPr anchorCtr="0" anchor="t" bIns="91425" lIns="91425" spcFirstLastPara="1" rIns="91425" wrap="square" tIns="91425">
            <a:noAutofit/>
          </a:bodyPr>
          <a:lstStyle/>
          <a:p>
            <a:pPr indent="0" lvl="0" marL="0" rtl="0" algn="l">
              <a:spcBef>
                <a:spcPts val="0"/>
              </a:spcBef>
              <a:spcAft>
                <a:spcPts val="1600"/>
              </a:spcAft>
              <a:buNone/>
            </a:pPr>
            <a:r>
              <a:rPr b="1" i="1" lang="en"/>
              <a:t>Cost Reports: </a:t>
            </a:r>
            <a:r>
              <a:rPr i="1" lang="en"/>
              <a:t>Modeling and Analysis</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19" name="Shape 319"/>
        <p:cNvGrpSpPr/>
        <p:nvPr/>
      </p:nvGrpSpPr>
      <p:grpSpPr>
        <a:xfrm>
          <a:off x="0" y="0"/>
          <a:ext cx="0" cy="0"/>
          <a:chOff x="0" y="0"/>
          <a:chExt cx="0" cy="0"/>
        </a:xfrm>
      </p:grpSpPr>
      <p:sp>
        <p:nvSpPr>
          <p:cNvPr id="320" name="Google Shape;320;p40"/>
          <p:cNvSpPr txBox="1"/>
          <p:nvPr>
            <p:ph idx="4294967295" type="subTitle"/>
          </p:nvPr>
        </p:nvSpPr>
        <p:spPr>
          <a:xfrm>
            <a:off x="1359225" y="1042500"/>
            <a:ext cx="6321600" cy="349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i="1" lang="en"/>
              <a:t>Provider Info, Health Deficiencies, Quality Measurements, Penalties</a:t>
            </a:r>
            <a:endParaRPr b="1" i="1"/>
          </a:p>
          <a:p>
            <a:pPr indent="0" lvl="0" marL="0" rtl="0" algn="ctr">
              <a:spcBef>
                <a:spcPts val="1600"/>
              </a:spcBef>
              <a:spcAft>
                <a:spcPts val="1600"/>
              </a:spcAft>
              <a:buNone/>
            </a:pPr>
            <a:r>
              <a:t/>
            </a:r>
            <a:endParaRPr b="1" i="1"/>
          </a:p>
        </p:txBody>
      </p:sp>
      <p:sp>
        <p:nvSpPr>
          <p:cNvPr id="321" name="Google Shape;321;p40"/>
          <p:cNvSpPr txBox="1"/>
          <p:nvPr>
            <p:ph type="title"/>
          </p:nvPr>
        </p:nvSpPr>
        <p:spPr>
          <a:xfrm>
            <a:off x="827975" y="437325"/>
            <a:ext cx="7744200" cy="64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500"/>
              <a:t>Data Preprocessing</a:t>
            </a:r>
            <a:endParaRPr sz="4500"/>
          </a:p>
        </p:txBody>
      </p:sp>
      <p:sp>
        <p:nvSpPr>
          <p:cNvPr id="322" name="Google Shape;322;p40"/>
          <p:cNvSpPr txBox="1"/>
          <p:nvPr>
            <p:ph idx="4294967295" type="subTitle"/>
          </p:nvPr>
        </p:nvSpPr>
        <p:spPr>
          <a:xfrm rot="-274">
            <a:off x="939125" y="1636574"/>
            <a:ext cx="7521900" cy="3102600"/>
          </a:xfrm>
          <a:prstGeom prst="rect">
            <a:avLst/>
          </a:prstGeom>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i="1" lang="en" sz="1200"/>
              <a:t>Pre-processing</a:t>
            </a:r>
            <a:endParaRPr b="1" i="1" sz="1200"/>
          </a:p>
          <a:p>
            <a:pPr indent="-304800" lvl="0" marL="457200" rtl="0" algn="l">
              <a:lnSpc>
                <a:spcPct val="150000"/>
              </a:lnSpc>
              <a:spcBef>
                <a:spcPts val="0"/>
              </a:spcBef>
              <a:spcAft>
                <a:spcPts val="0"/>
              </a:spcAft>
              <a:buSzPts val="1200"/>
              <a:buChar char="●"/>
            </a:pPr>
            <a:r>
              <a:rPr lang="en" sz="1200"/>
              <a:t>Adding </a:t>
            </a:r>
            <a:r>
              <a:rPr lang="en" sz="1200"/>
              <a:t>the</a:t>
            </a:r>
            <a:r>
              <a:rPr lang="en" sz="1200"/>
              <a:t> year column to CSVs</a:t>
            </a:r>
            <a:endParaRPr sz="1200"/>
          </a:p>
          <a:p>
            <a:pPr indent="0" lvl="0" marL="0" rtl="0" algn="l">
              <a:lnSpc>
                <a:spcPct val="150000"/>
              </a:lnSpc>
              <a:spcBef>
                <a:spcPts val="0"/>
              </a:spcBef>
              <a:spcAft>
                <a:spcPts val="0"/>
              </a:spcAft>
              <a:buNone/>
            </a:pPr>
            <a:r>
              <a:rPr b="1" i="1" lang="en" sz="1200"/>
              <a:t>Provider Info</a:t>
            </a:r>
            <a:endParaRPr b="1" i="1" sz="1200"/>
          </a:p>
          <a:p>
            <a:pPr indent="-304800" lvl="0" marL="457200" rtl="0" algn="l">
              <a:lnSpc>
                <a:spcPct val="150000"/>
              </a:lnSpc>
              <a:spcBef>
                <a:spcPts val="0"/>
              </a:spcBef>
              <a:spcAft>
                <a:spcPts val="0"/>
              </a:spcAft>
              <a:buSzPts val="1200"/>
              <a:buChar char="●"/>
            </a:pPr>
            <a:r>
              <a:rPr lang="en" sz="1200"/>
              <a:t>Serves as base file to merged onto (has primary composite key of </a:t>
            </a:r>
            <a:r>
              <a:rPr lang="en" sz="1200" u="sng"/>
              <a:t>Provider Federal Number</a:t>
            </a:r>
            <a:r>
              <a:rPr lang="en" sz="1200"/>
              <a:t> and </a:t>
            </a:r>
            <a:r>
              <a:rPr lang="en" sz="1200" u="sng"/>
              <a:t>Year</a:t>
            </a:r>
            <a:r>
              <a:rPr lang="en" sz="1200"/>
              <a:t>)</a:t>
            </a:r>
            <a:endParaRPr sz="1200"/>
          </a:p>
          <a:p>
            <a:pPr indent="-304800" lvl="0" marL="457200" rtl="0" algn="l">
              <a:lnSpc>
                <a:spcPct val="150000"/>
              </a:lnSpc>
              <a:spcBef>
                <a:spcPts val="0"/>
              </a:spcBef>
              <a:spcAft>
                <a:spcPts val="0"/>
              </a:spcAft>
              <a:buSzPts val="1200"/>
              <a:buChar char="●"/>
            </a:pPr>
            <a:r>
              <a:rPr lang="en" sz="1200"/>
              <a:t>Remove null values</a:t>
            </a:r>
            <a:endParaRPr sz="1200"/>
          </a:p>
          <a:p>
            <a:pPr indent="-304800" lvl="0" marL="457200" rtl="0" algn="l">
              <a:lnSpc>
                <a:spcPct val="150000"/>
              </a:lnSpc>
              <a:spcBef>
                <a:spcPts val="0"/>
              </a:spcBef>
              <a:spcAft>
                <a:spcPts val="0"/>
              </a:spcAft>
              <a:buSzPts val="1200"/>
              <a:buChar char="●"/>
            </a:pPr>
            <a:r>
              <a:rPr lang="en" sz="1200"/>
              <a:t>IQR Outlier-reduction</a:t>
            </a:r>
            <a:endParaRPr sz="1200"/>
          </a:p>
          <a:p>
            <a:pPr indent="0" lvl="0" marL="0" rtl="0" algn="l">
              <a:lnSpc>
                <a:spcPct val="150000"/>
              </a:lnSpc>
              <a:spcBef>
                <a:spcPts val="0"/>
              </a:spcBef>
              <a:spcAft>
                <a:spcPts val="0"/>
              </a:spcAft>
              <a:buNone/>
            </a:pPr>
            <a:r>
              <a:rPr b="1" i="1" lang="en" sz="1200"/>
              <a:t>Health Deficiencies</a:t>
            </a:r>
            <a:endParaRPr b="1" i="1" sz="1200"/>
          </a:p>
          <a:p>
            <a:pPr indent="-304800" lvl="0" marL="457200" rtl="0" algn="l">
              <a:lnSpc>
                <a:spcPct val="150000"/>
              </a:lnSpc>
              <a:spcBef>
                <a:spcPts val="0"/>
              </a:spcBef>
              <a:spcAft>
                <a:spcPts val="0"/>
              </a:spcAft>
              <a:buSzPts val="1200"/>
              <a:buChar char="●"/>
            </a:pPr>
            <a:r>
              <a:rPr lang="en" sz="1200"/>
              <a:t>Information can be summarized via estimating a Deficiency Count</a:t>
            </a:r>
            <a:endParaRPr sz="1200"/>
          </a:p>
          <a:p>
            <a:pPr indent="-304800" lvl="1" marL="914400" rtl="0" algn="l">
              <a:lnSpc>
                <a:spcPct val="150000"/>
              </a:lnSpc>
              <a:spcBef>
                <a:spcPts val="0"/>
              </a:spcBef>
              <a:spcAft>
                <a:spcPts val="0"/>
              </a:spcAft>
              <a:buSzPts val="1200"/>
              <a:buChar char="○"/>
            </a:pPr>
            <a:r>
              <a:rPr lang="en" sz="1200"/>
              <a:t>Calculated by counting the number of deficiency tags per provider</a:t>
            </a:r>
            <a:endParaRPr sz="1200"/>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26" name="Shape 326"/>
        <p:cNvGrpSpPr/>
        <p:nvPr/>
      </p:nvGrpSpPr>
      <p:grpSpPr>
        <a:xfrm>
          <a:off x="0" y="0"/>
          <a:ext cx="0" cy="0"/>
          <a:chOff x="0" y="0"/>
          <a:chExt cx="0" cy="0"/>
        </a:xfrm>
      </p:grpSpPr>
      <p:sp>
        <p:nvSpPr>
          <p:cNvPr id="327" name="Google Shape;327;p41"/>
          <p:cNvSpPr txBox="1"/>
          <p:nvPr>
            <p:ph idx="4294967295" type="subTitle"/>
          </p:nvPr>
        </p:nvSpPr>
        <p:spPr>
          <a:xfrm rot="-276">
            <a:off x="847575" y="1402222"/>
            <a:ext cx="7479600" cy="312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sz="1200"/>
              <a:t>Quality Measurements</a:t>
            </a:r>
            <a:endParaRPr b="1" i="1" sz="1200"/>
          </a:p>
          <a:p>
            <a:pPr indent="-304800" lvl="0" marL="457200" rtl="0" algn="l">
              <a:spcBef>
                <a:spcPts val="0"/>
              </a:spcBef>
              <a:spcAft>
                <a:spcPts val="0"/>
              </a:spcAft>
              <a:buSzPts val="1200"/>
              <a:buChar char="●"/>
            </a:pPr>
            <a:r>
              <a:rPr lang="en" sz="1200"/>
              <a:t>Most </a:t>
            </a:r>
            <a:r>
              <a:rPr lang="en" sz="1200"/>
              <a:t>important</a:t>
            </a:r>
            <a:r>
              <a:rPr lang="en" sz="1200"/>
              <a:t> elements: </a:t>
            </a:r>
            <a:r>
              <a:rPr lang="en" sz="1200"/>
              <a:t>quality</a:t>
            </a:r>
            <a:r>
              <a:rPr lang="en" sz="1200"/>
              <a:t> measure descriptions, stay type, </a:t>
            </a:r>
            <a:r>
              <a:rPr lang="en" sz="1200"/>
              <a:t>measure scores, and measure average</a:t>
            </a:r>
            <a:endParaRPr sz="1200"/>
          </a:p>
          <a:p>
            <a:pPr indent="-304800" lvl="0" marL="457200" rtl="0" algn="l">
              <a:spcBef>
                <a:spcPts val="0"/>
              </a:spcBef>
              <a:spcAft>
                <a:spcPts val="0"/>
              </a:spcAft>
              <a:buSzPts val="1200"/>
              <a:buChar char="●"/>
            </a:pPr>
            <a:r>
              <a:rPr lang="en" sz="1200"/>
              <a:t>Determine the quality of the measure by grouping measures</a:t>
            </a:r>
            <a:endParaRPr sz="1200"/>
          </a:p>
          <a:p>
            <a:pPr indent="0" lvl="0" marL="0" rtl="0" algn="l">
              <a:spcBef>
                <a:spcPts val="0"/>
              </a:spcBef>
              <a:spcAft>
                <a:spcPts val="0"/>
              </a:spcAft>
              <a:buNone/>
            </a:pPr>
            <a:r>
              <a:t/>
            </a:r>
            <a:endParaRPr b="1" i="1" sz="1200"/>
          </a:p>
          <a:p>
            <a:pPr indent="0" lvl="0" marL="0" rtl="0" algn="l">
              <a:spcBef>
                <a:spcPts val="0"/>
              </a:spcBef>
              <a:spcAft>
                <a:spcPts val="0"/>
              </a:spcAft>
              <a:buNone/>
            </a:pPr>
            <a:r>
              <a:rPr b="1" i="1" lang="en" sz="1200"/>
              <a:t>Penalties</a:t>
            </a:r>
            <a:endParaRPr b="1" i="1" sz="1200"/>
          </a:p>
          <a:p>
            <a:pPr indent="-304800" lvl="0" marL="457200" rtl="0" algn="l">
              <a:spcBef>
                <a:spcPts val="0"/>
              </a:spcBef>
              <a:spcAft>
                <a:spcPts val="0"/>
              </a:spcAft>
              <a:buSzPts val="1200"/>
              <a:buChar char="●"/>
            </a:pPr>
            <a:r>
              <a:rPr lang="en" sz="1200"/>
              <a:t>Take the count of penalties per provider for each year</a:t>
            </a:r>
            <a:endParaRPr sz="1200"/>
          </a:p>
          <a:p>
            <a:pPr indent="-304800" lvl="0" marL="457200" rtl="0" algn="l">
              <a:spcBef>
                <a:spcPts val="0"/>
              </a:spcBef>
              <a:spcAft>
                <a:spcPts val="0"/>
              </a:spcAft>
              <a:buSzPts val="1200"/>
              <a:buChar char="●"/>
            </a:pPr>
            <a:r>
              <a:rPr lang="en" sz="1200"/>
              <a:t>Sum all fine amounts (nulls = 0)</a:t>
            </a:r>
            <a:endParaRPr sz="1200"/>
          </a:p>
          <a:p>
            <a:pPr indent="0" lvl="0" marL="0" rtl="0" algn="l">
              <a:spcBef>
                <a:spcPts val="0"/>
              </a:spcBef>
              <a:spcAft>
                <a:spcPts val="0"/>
              </a:spcAft>
              <a:buNone/>
            </a:pPr>
            <a:r>
              <a:t/>
            </a:r>
            <a:endParaRPr b="1" i="1" sz="1200"/>
          </a:p>
          <a:p>
            <a:pPr indent="0" lvl="0" marL="0" rtl="0" algn="l">
              <a:spcBef>
                <a:spcPts val="0"/>
              </a:spcBef>
              <a:spcAft>
                <a:spcPts val="0"/>
              </a:spcAft>
              <a:buNone/>
            </a:pPr>
            <a:r>
              <a:rPr b="1" i="1" lang="en" sz="1200"/>
              <a:t>One-hot Encoding</a:t>
            </a:r>
            <a:endParaRPr b="1" i="1" sz="1200"/>
          </a:p>
          <a:p>
            <a:pPr indent="-304800" lvl="0" marL="457200" rtl="0" algn="l">
              <a:spcBef>
                <a:spcPts val="0"/>
              </a:spcBef>
              <a:spcAft>
                <a:spcPts val="0"/>
              </a:spcAft>
              <a:buSzPts val="1200"/>
              <a:buChar char="●"/>
            </a:pPr>
            <a:r>
              <a:rPr lang="en" sz="1200"/>
              <a:t>Score_High </a:t>
            </a:r>
            <a:r>
              <a:rPr b="1" lang="en" sz="1200"/>
              <a:t>← Categorization Model Target Variable</a:t>
            </a:r>
            <a:endParaRPr b="1" sz="1200"/>
          </a:p>
          <a:p>
            <a:pPr indent="-304800" lvl="0" marL="457200" rtl="0" algn="l">
              <a:spcBef>
                <a:spcPts val="0"/>
              </a:spcBef>
              <a:spcAft>
                <a:spcPts val="0"/>
              </a:spcAft>
              <a:buSzPts val="1200"/>
              <a:buChar char="●"/>
            </a:pPr>
            <a:r>
              <a:rPr lang="en" sz="1200"/>
              <a:t>ZIPREGION, CERTIFICATION, &amp; OWNERSHIP_TYPE </a:t>
            </a:r>
            <a:endParaRPr sz="1200"/>
          </a:p>
          <a:p>
            <a:pPr indent="0" lvl="0" marL="0" rtl="0" algn="l">
              <a:spcBef>
                <a:spcPts val="0"/>
              </a:spcBef>
              <a:spcAft>
                <a:spcPts val="0"/>
              </a:spcAft>
              <a:buNone/>
            </a:pPr>
            <a:r>
              <a:t/>
            </a:r>
            <a:endParaRPr b="1" i="1" sz="1200"/>
          </a:p>
          <a:p>
            <a:pPr indent="0" lvl="0" marL="0" rtl="0" algn="l">
              <a:spcBef>
                <a:spcPts val="0"/>
              </a:spcBef>
              <a:spcAft>
                <a:spcPts val="0"/>
              </a:spcAft>
              <a:buNone/>
            </a:pPr>
            <a:r>
              <a:rPr b="1" i="1" lang="en" sz="1200"/>
              <a:t>Missing Years</a:t>
            </a:r>
            <a:endParaRPr b="1" i="1" sz="1200"/>
          </a:p>
          <a:p>
            <a:pPr indent="-304800" lvl="0" marL="457200" rtl="0" algn="l">
              <a:spcBef>
                <a:spcPts val="0"/>
              </a:spcBef>
              <a:spcAft>
                <a:spcPts val="0"/>
              </a:spcAft>
              <a:buSzPts val="1200"/>
              <a:buChar char="●"/>
            </a:pPr>
            <a:r>
              <a:rPr lang="en" sz="1200"/>
              <a:t>Providers were missing year instances in their ranges</a:t>
            </a:r>
            <a:endParaRPr sz="1200"/>
          </a:p>
          <a:p>
            <a:pPr indent="-304800" lvl="0" marL="457200" rtl="0" algn="l">
              <a:spcBef>
                <a:spcPts val="0"/>
              </a:spcBef>
              <a:spcAft>
                <a:spcPts val="0"/>
              </a:spcAft>
              <a:buSzPts val="1200"/>
              <a:buChar char="●"/>
            </a:pPr>
            <a:r>
              <a:rPr lang="en" sz="1200"/>
              <a:t>Filled in missing years with median values</a:t>
            </a:r>
            <a:endParaRPr sz="1200"/>
          </a:p>
        </p:txBody>
      </p:sp>
      <p:sp>
        <p:nvSpPr>
          <p:cNvPr id="328" name="Google Shape;328;p41"/>
          <p:cNvSpPr txBox="1"/>
          <p:nvPr>
            <p:ph idx="4294967295" type="subTitle"/>
          </p:nvPr>
        </p:nvSpPr>
        <p:spPr>
          <a:xfrm>
            <a:off x="1926975" y="1052725"/>
            <a:ext cx="5320800" cy="349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Provider Info, Health Deficiencies, Quality Measurements, Penalties</a:t>
            </a:r>
            <a:endParaRPr b="1" i="1"/>
          </a:p>
          <a:p>
            <a:pPr indent="0" lvl="0" marL="0" rtl="0" algn="l">
              <a:spcBef>
                <a:spcPts val="1600"/>
              </a:spcBef>
              <a:spcAft>
                <a:spcPts val="1600"/>
              </a:spcAft>
              <a:buNone/>
            </a:pPr>
            <a:r>
              <a:t/>
            </a:r>
            <a:endParaRPr b="1" i="1"/>
          </a:p>
        </p:txBody>
      </p:sp>
      <p:sp>
        <p:nvSpPr>
          <p:cNvPr id="329" name="Google Shape;329;p41"/>
          <p:cNvSpPr txBox="1"/>
          <p:nvPr>
            <p:ph type="title"/>
          </p:nvPr>
        </p:nvSpPr>
        <p:spPr>
          <a:xfrm>
            <a:off x="827975" y="437325"/>
            <a:ext cx="7744200" cy="6489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4500"/>
              <a:t>Data Preprocessing</a:t>
            </a:r>
            <a:endParaRPr sz="45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33" name="Shape 333"/>
        <p:cNvGrpSpPr/>
        <p:nvPr/>
      </p:nvGrpSpPr>
      <p:grpSpPr>
        <a:xfrm>
          <a:off x="0" y="0"/>
          <a:ext cx="0" cy="0"/>
          <a:chOff x="0" y="0"/>
          <a:chExt cx="0" cy="0"/>
        </a:xfrm>
      </p:grpSpPr>
      <p:sp>
        <p:nvSpPr>
          <p:cNvPr id="334" name="Google Shape;334;p42"/>
          <p:cNvSpPr txBox="1"/>
          <p:nvPr>
            <p:ph type="title"/>
          </p:nvPr>
        </p:nvSpPr>
        <p:spPr>
          <a:xfrm>
            <a:off x="720000" y="654425"/>
            <a:ext cx="7704000" cy="56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Diagnostics</a:t>
            </a:r>
            <a:endParaRPr/>
          </a:p>
        </p:txBody>
      </p:sp>
      <p:pic>
        <p:nvPicPr>
          <p:cNvPr id="335" name="Google Shape;335;p42" title="Combined.png"/>
          <p:cNvPicPr preferRelativeResize="0"/>
          <p:nvPr/>
        </p:nvPicPr>
        <p:blipFill>
          <a:blip r:embed="rId4">
            <a:alphaModFix/>
          </a:blip>
          <a:stretch>
            <a:fillRect/>
          </a:stretch>
        </p:blipFill>
        <p:spPr>
          <a:xfrm>
            <a:off x="4793938" y="1563125"/>
            <a:ext cx="3906575" cy="2343951"/>
          </a:xfrm>
          <a:prstGeom prst="rect">
            <a:avLst/>
          </a:prstGeom>
          <a:noFill/>
          <a:ln>
            <a:noFill/>
          </a:ln>
        </p:spPr>
      </p:pic>
      <p:sp>
        <p:nvSpPr>
          <p:cNvPr id="336" name="Google Shape;336;p42"/>
          <p:cNvSpPr txBox="1"/>
          <p:nvPr>
            <p:ph idx="4294967295" type="subTitle"/>
          </p:nvPr>
        </p:nvSpPr>
        <p:spPr>
          <a:xfrm>
            <a:off x="443488" y="1420025"/>
            <a:ext cx="4103100" cy="32253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a:t>Standardized Net Income increased gradually until 2018, after which point it began to fall dramatically in 2019.</a:t>
            </a:r>
            <a:endParaRPr/>
          </a:p>
          <a:p>
            <a:pPr indent="-317500" lvl="0" marL="457200" rtl="0" algn="l">
              <a:lnSpc>
                <a:spcPct val="115000"/>
              </a:lnSpc>
              <a:spcBef>
                <a:spcPts val="0"/>
              </a:spcBef>
              <a:spcAft>
                <a:spcPts val="0"/>
              </a:spcAft>
              <a:buSzPts val="1400"/>
              <a:buChar char="●"/>
            </a:pPr>
            <a:r>
              <a:rPr lang="en"/>
              <a:t>Additionally, operating expenses per discharge decreased, most likely as a result of fewer treatments and patients during COVID.</a:t>
            </a:r>
            <a:endParaRPr/>
          </a:p>
          <a:p>
            <a:pPr indent="-317500" lvl="0" marL="457200" rtl="0" algn="l">
              <a:lnSpc>
                <a:spcPct val="115000"/>
              </a:lnSpc>
              <a:spcBef>
                <a:spcPts val="0"/>
              </a:spcBef>
              <a:spcAft>
                <a:spcPts val="0"/>
              </a:spcAft>
              <a:buSzPts val="1400"/>
              <a:buChar char="●"/>
            </a:pPr>
            <a:r>
              <a:rPr lang="en"/>
              <a:t>Trends in income and expenses are strongly correlated, according to patterns.</a:t>
            </a:r>
            <a:endParaRPr/>
          </a:p>
          <a:p>
            <a:pPr indent="-317500" lvl="0" marL="457200" rtl="0" algn="l">
              <a:lnSpc>
                <a:spcPct val="115000"/>
              </a:lnSpc>
              <a:spcBef>
                <a:spcPts val="0"/>
              </a:spcBef>
              <a:spcAft>
                <a:spcPts val="0"/>
              </a:spcAft>
              <a:buSzPts val="1400"/>
              <a:buChar char="●"/>
            </a:pPr>
            <a:r>
              <a:rPr lang="en"/>
              <a:t>Business became less financially sustainable and more unpredictable after 2019.</a:t>
            </a:r>
            <a:endParaRPr/>
          </a:p>
          <a:p>
            <a:pPr indent="0" lvl="0" marL="457200" rtl="0" algn="l">
              <a:spcBef>
                <a:spcPts val="1600"/>
              </a:spcBef>
              <a:spcAft>
                <a:spcPts val="16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0" name="Shape 340"/>
        <p:cNvGrpSpPr/>
        <p:nvPr/>
      </p:nvGrpSpPr>
      <p:grpSpPr>
        <a:xfrm>
          <a:off x="0" y="0"/>
          <a:ext cx="0" cy="0"/>
          <a:chOff x="0" y="0"/>
          <a:chExt cx="0" cy="0"/>
        </a:xfrm>
      </p:grpSpPr>
      <p:sp>
        <p:nvSpPr>
          <p:cNvPr id="341" name="Google Shape;341;p43"/>
          <p:cNvSpPr/>
          <p:nvPr/>
        </p:nvSpPr>
        <p:spPr>
          <a:xfrm>
            <a:off x="2067075" y="1848850"/>
            <a:ext cx="5010000" cy="1818300"/>
          </a:xfrm>
          <a:prstGeom prst="roundRect">
            <a:avLst>
              <a:gd fmla="val 11368"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2" name="Google Shape;342;p43"/>
          <p:cNvSpPr txBox="1"/>
          <p:nvPr>
            <p:ph type="title"/>
          </p:nvPr>
        </p:nvSpPr>
        <p:spPr>
          <a:xfrm>
            <a:off x="2067075" y="1988325"/>
            <a:ext cx="5010000" cy="142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000"/>
              <a:t>Analysis and Findings</a:t>
            </a:r>
            <a:endParaRPr sz="5000"/>
          </a:p>
        </p:txBody>
      </p:sp>
      <p:sp>
        <p:nvSpPr>
          <p:cNvPr id="343" name="Google Shape;343;p43"/>
          <p:cNvSpPr txBox="1"/>
          <p:nvPr>
            <p:ph idx="2" type="title"/>
          </p:nvPr>
        </p:nvSpPr>
        <p:spPr>
          <a:xfrm>
            <a:off x="3796851" y="940885"/>
            <a:ext cx="1550100" cy="122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03</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47" name="Shape 347"/>
        <p:cNvGrpSpPr/>
        <p:nvPr/>
      </p:nvGrpSpPr>
      <p:grpSpPr>
        <a:xfrm>
          <a:off x="0" y="0"/>
          <a:ext cx="0" cy="0"/>
          <a:chOff x="0" y="0"/>
          <a:chExt cx="0" cy="0"/>
        </a:xfrm>
      </p:grpSpPr>
      <p:sp>
        <p:nvSpPr>
          <p:cNvPr id="348" name="Google Shape;348;p44"/>
          <p:cNvSpPr txBox="1"/>
          <p:nvPr>
            <p:ph type="title"/>
          </p:nvPr>
        </p:nvSpPr>
        <p:spPr>
          <a:xfrm>
            <a:off x="720000" y="413963"/>
            <a:ext cx="3019800" cy="76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OLS Regression</a:t>
            </a:r>
            <a:endParaRPr/>
          </a:p>
        </p:txBody>
      </p:sp>
      <p:sp>
        <p:nvSpPr>
          <p:cNvPr id="349" name="Google Shape;349;p44"/>
          <p:cNvSpPr txBox="1"/>
          <p:nvPr>
            <p:ph idx="1" type="subTitle"/>
          </p:nvPr>
        </p:nvSpPr>
        <p:spPr>
          <a:xfrm rot="-388">
            <a:off x="815600" y="1297922"/>
            <a:ext cx="5319000" cy="303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a:t>
            </a:r>
            <a:r>
              <a:rPr b="1" lang="en"/>
              <a:t>ultiple linear regression analysis</a:t>
            </a:r>
            <a:r>
              <a:rPr lang="en"/>
              <a:t>:</a:t>
            </a:r>
            <a:endParaRPr/>
          </a:p>
          <a:p>
            <a:pPr indent="-317500" lvl="0" marL="457200" rtl="0" algn="l">
              <a:spcBef>
                <a:spcPts val="0"/>
              </a:spcBef>
              <a:spcAft>
                <a:spcPts val="0"/>
              </a:spcAft>
              <a:buSzPts val="1400"/>
              <a:buChar char="-"/>
            </a:pPr>
            <a:r>
              <a:rPr i="1" lang="en"/>
              <a:t>Net Income per Discharge</a:t>
            </a:r>
            <a:r>
              <a:rPr lang="en"/>
              <a:t> as the dependent variable to identify the primary financial factors that influence nursing home performance.</a:t>
            </a:r>
            <a:endParaRPr/>
          </a:p>
          <a:p>
            <a:pPr indent="-317500" lvl="0" marL="457200" rtl="0" algn="l">
              <a:spcBef>
                <a:spcPts val="0"/>
              </a:spcBef>
              <a:spcAft>
                <a:spcPts val="0"/>
              </a:spcAft>
              <a:buSzPts val="1400"/>
              <a:buChar char="-"/>
            </a:pPr>
            <a:r>
              <a:rPr lang="en"/>
              <a:t>24 independent variables</a:t>
            </a:r>
            <a:endParaRPr/>
          </a:p>
          <a:p>
            <a:pPr indent="0" lvl="0" marL="457200" rtl="0" algn="l">
              <a:spcBef>
                <a:spcPts val="0"/>
              </a:spcBef>
              <a:spcAft>
                <a:spcPts val="0"/>
              </a:spcAft>
              <a:buNone/>
            </a:pPr>
            <a:r>
              <a:t/>
            </a:r>
            <a:endParaRPr/>
          </a:p>
          <a:p>
            <a:pPr indent="0" lvl="0" marL="0" rtl="0" algn="l">
              <a:spcBef>
                <a:spcPts val="0"/>
              </a:spcBef>
              <a:spcAft>
                <a:spcPts val="0"/>
              </a:spcAft>
              <a:buNone/>
            </a:pPr>
            <a:r>
              <a:rPr b="1" lang="en"/>
              <a:t>Feature Selection Method: </a:t>
            </a:r>
            <a:endParaRPr b="1"/>
          </a:p>
          <a:p>
            <a:pPr indent="-317500" lvl="0" marL="457200" rtl="0" algn="l">
              <a:spcBef>
                <a:spcPts val="0"/>
              </a:spcBef>
              <a:spcAft>
                <a:spcPts val="0"/>
              </a:spcAft>
              <a:buSzPts val="1400"/>
              <a:buChar char="-"/>
            </a:pPr>
            <a:r>
              <a:rPr b="1" lang="en"/>
              <a:t>Backward Elimination:</a:t>
            </a:r>
            <a:r>
              <a:rPr lang="en"/>
              <a:t> using p-values to eliminate least significant predictors, </a:t>
            </a:r>
            <a:endParaRPr/>
          </a:p>
          <a:p>
            <a:pPr indent="-317500" lvl="0" marL="457200" rtl="0" algn="l">
              <a:spcBef>
                <a:spcPts val="0"/>
              </a:spcBef>
              <a:spcAft>
                <a:spcPts val="0"/>
              </a:spcAft>
              <a:buSzPts val="1400"/>
              <a:buChar char="-"/>
            </a:pPr>
            <a:r>
              <a:rPr lang="en"/>
              <a:t>Significance threshold: p &lt; 0.05</a:t>
            </a:r>
            <a:endParaRPr/>
          </a:p>
          <a:p>
            <a:pPr indent="-317500" lvl="0" marL="457200" rtl="0" algn="l">
              <a:spcBef>
                <a:spcPts val="0"/>
              </a:spcBef>
              <a:spcAft>
                <a:spcPts val="0"/>
              </a:spcAft>
              <a:buSzPts val="1400"/>
              <a:buChar char="-"/>
            </a:pPr>
            <a:r>
              <a:rPr lang="en"/>
              <a:t>3 features removed as a result → final model: 2</a:t>
            </a:r>
            <a:r>
              <a:rPr lang="en"/>
              <a:t>1</a:t>
            </a:r>
            <a:r>
              <a:rPr lang="en"/>
              <a:t> variables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350" name="Google Shape;350;p44"/>
          <p:cNvPicPr preferRelativeResize="0"/>
          <p:nvPr>
            <p:ph idx="2" type="pic"/>
          </p:nvPr>
        </p:nvPicPr>
        <p:blipFill rotWithShape="1">
          <a:blip r:embed="rId4">
            <a:alphaModFix/>
          </a:blip>
          <a:srcRect b="0" l="21438" r="36657" t="0"/>
          <a:stretch/>
        </p:blipFill>
        <p:spPr>
          <a:xfrm>
            <a:off x="6310524" y="966857"/>
            <a:ext cx="1873500" cy="2982000"/>
          </a:xfrm>
          <a:prstGeom prst="roundRect">
            <a:avLst>
              <a:gd fmla="val 16667" name="adj"/>
            </a:avLst>
          </a:prstGeom>
          <a:ln cap="flat" cmpd="sng" w="9525">
            <a:solidFill>
              <a:schemeClr val="dk1"/>
            </a:solidFill>
            <a:prstDash val="solid"/>
            <a:round/>
            <a:headEnd len="sm" w="sm" type="none"/>
            <a:tailEnd len="sm" w="sm" type="none"/>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54" name="Shape 354"/>
        <p:cNvGrpSpPr/>
        <p:nvPr/>
      </p:nvGrpSpPr>
      <p:grpSpPr>
        <a:xfrm>
          <a:off x="0" y="0"/>
          <a:ext cx="0" cy="0"/>
          <a:chOff x="0" y="0"/>
          <a:chExt cx="0" cy="0"/>
        </a:xfrm>
      </p:grpSpPr>
      <p:sp>
        <p:nvSpPr>
          <p:cNvPr id="355" name="Google Shape;355;p45"/>
          <p:cNvSpPr txBox="1"/>
          <p:nvPr>
            <p:ph type="title"/>
          </p:nvPr>
        </p:nvSpPr>
        <p:spPr>
          <a:xfrm>
            <a:off x="720000" y="413963"/>
            <a:ext cx="3019800" cy="76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OLS Regression</a:t>
            </a:r>
            <a:endParaRPr/>
          </a:p>
        </p:txBody>
      </p:sp>
      <p:sp>
        <p:nvSpPr>
          <p:cNvPr id="356" name="Google Shape;356;p45"/>
          <p:cNvSpPr txBox="1"/>
          <p:nvPr>
            <p:ph idx="1" type="subTitle"/>
          </p:nvPr>
        </p:nvSpPr>
        <p:spPr>
          <a:xfrm rot="-622">
            <a:off x="772150" y="1180015"/>
            <a:ext cx="1656900" cy="43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Model Performance</a:t>
            </a:r>
            <a:endParaRPr b="1" i="1"/>
          </a:p>
        </p:txBody>
      </p:sp>
      <p:sp>
        <p:nvSpPr>
          <p:cNvPr id="357" name="Google Shape;357;p45"/>
          <p:cNvSpPr txBox="1"/>
          <p:nvPr>
            <p:ph idx="1" type="subTitle"/>
          </p:nvPr>
        </p:nvSpPr>
        <p:spPr>
          <a:xfrm rot="-388">
            <a:off x="815600" y="1619372"/>
            <a:ext cx="5319000" cy="303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R-squared: 0.545</a:t>
            </a:r>
            <a:endParaRPr b="1"/>
          </a:p>
          <a:p>
            <a:pPr indent="-317500" lvl="0" marL="457200" rtl="0" algn="l">
              <a:spcBef>
                <a:spcPts val="0"/>
              </a:spcBef>
              <a:spcAft>
                <a:spcPts val="0"/>
              </a:spcAft>
              <a:buSzPts val="1400"/>
              <a:buChar char="-"/>
            </a:pPr>
            <a:r>
              <a:rPr lang="en"/>
              <a:t>Model explains approximately 54.5% of the variance in net income per discharge</a:t>
            </a:r>
            <a:endParaRPr/>
          </a:p>
          <a:p>
            <a:pPr indent="-317500" lvl="0" marL="457200" rtl="0" algn="l">
              <a:spcBef>
                <a:spcPts val="0"/>
              </a:spcBef>
              <a:spcAft>
                <a:spcPts val="0"/>
              </a:spcAft>
              <a:buSzPts val="1400"/>
              <a:buChar char="-"/>
            </a:pPr>
            <a:r>
              <a:rPr lang="en"/>
              <a:t>Indicates a moderate but meaningful level of explanatory power, especially given the financial complexity of nursing homes</a:t>
            </a:r>
            <a:endParaRPr/>
          </a:p>
          <a:p>
            <a:pPr indent="0" lvl="0" marL="457200" rtl="0" algn="l">
              <a:spcBef>
                <a:spcPts val="0"/>
              </a:spcBef>
              <a:spcAft>
                <a:spcPts val="0"/>
              </a:spcAft>
              <a:buNone/>
            </a:pPr>
            <a:r>
              <a:t/>
            </a:r>
            <a:endParaRPr/>
          </a:p>
          <a:p>
            <a:pPr indent="0" lvl="0" marL="0" rtl="0" algn="l">
              <a:spcBef>
                <a:spcPts val="0"/>
              </a:spcBef>
              <a:spcAft>
                <a:spcPts val="0"/>
              </a:spcAft>
              <a:buNone/>
            </a:pPr>
            <a:r>
              <a:rPr b="1" lang="en"/>
              <a:t>F-statistic: 5927, p-value ≈ 0</a:t>
            </a:r>
            <a:endParaRPr b="1"/>
          </a:p>
          <a:p>
            <a:pPr indent="-317500" lvl="0" marL="457200" rtl="0" algn="l">
              <a:spcBef>
                <a:spcPts val="0"/>
              </a:spcBef>
              <a:spcAft>
                <a:spcPts val="0"/>
              </a:spcAft>
              <a:buSzPts val="1400"/>
              <a:buChar char="-"/>
            </a:pPr>
            <a:r>
              <a:rPr lang="en"/>
              <a:t>Confirms that the model provides a significantly better fit than a model using only the mean</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358" name="Google Shape;358;p45"/>
          <p:cNvPicPr preferRelativeResize="0"/>
          <p:nvPr>
            <p:ph idx="2" type="pic"/>
          </p:nvPr>
        </p:nvPicPr>
        <p:blipFill rotWithShape="1">
          <a:blip r:embed="rId4">
            <a:alphaModFix/>
          </a:blip>
          <a:srcRect b="0" l="21438" r="36657" t="0"/>
          <a:stretch/>
        </p:blipFill>
        <p:spPr>
          <a:xfrm>
            <a:off x="6310524" y="966857"/>
            <a:ext cx="1873500" cy="2982000"/>
          </a:xfrm>
          <a:prstGeom prst="roundRect">
            <a:avLst>
              <a:gd fmla="val 16667" name="adj"/>
            </a:avLst>
          </a:prstGeom>
          <a:ln cap="flat" cmpd="sng" w="9525">
            <a:solidFill>
              <a:schemeClr val="dk1"/>
            </a:solidFill>
            <a:prstDash val="solid"/>
            <a:round/>
            <a:headEnd len="sm" w="sm" type="none"/>
            <a:tailEnd len="sm" w="sm" type="none"/>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62" name="Shape 362"/>
        <p:cNvGrpSpPr/>
        <p:nvPr/>
      </p:nvGrpSpPr>
      <p:grpSpPr>
        <a:xfrm>
          <a:off x="0" y="0"/>
          <a:ext cx="0" cy="0"/>
          <a:chOff x="0" y="0"/>
          <a:chExt cx="0" cy="0"/>
        </a:xfrm>
      </p:grpSpPr>
      <p:sp>
        <p:nvSpPr>
          <p:cNvPr id="363" name="Google Shape;363;p46"/>
          <p:cNvSpPr txBox="1"/>
          <p:nvPr>
            <p:ph type="title"/>
          </p:nvPr>
        </p:nvSpPr>
        <p:spPr>
          <a:xfrm>
            <a:off x="720000" y="413963"/>
            <a:ext cx="3019800" cy="765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OLS Regression</a:t>
            </a:r>
            <a:endParaRPr/>
          </a:p>
        </p:txBody>
      </p:sp>
      <p:sp>
        <p:nvSpPr>
          <p:cNvPr id="364" name="Google Shape;364;p46"/>
          <p:cNvSpPr txBox="1"/>
          <p:nvPr>
            <p:ph idx="1" type="subTitle"/>
          </p:nvPr>
        </p:nvSpPr>
        <p:spPr>
          <a:xfrm rot="-622">
            <a:off x="772150" y="1180015"/>
            <a:ext cx="1656900" cy="438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Key Findings</a:t>
            </a:r>
            <a:endParaRPr b="1" i="1"/>
          </a:p>
        </p:txBody>
      </p:sp>
      <p:sp>
        <p:nvSpPr>
          <p:cNvPr id="365" name="Google Shape;365;p46"/>
          <p:cNvSpPr txBox="1"/>
          <p:nvPr>
            <p:ph idx="1" type="subTitle"/>
          </p:nvPr>
        </p:nvSpPr>
        <p:spPr>
          <a:xfrm rot="-388">
            <a:off x="815600" y="1619372"/>
            <a:ext cx="5319000" cy="3031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Positive Impact Factors</a:t>
            </a:r>
            <a:endParaRPr b="1"/>
          </a:p>
          <a:p>
            <a:pPr indent="-317500" lvl="0" marL="457200" rtl="0" algn="l">
              <a:spcBef>
                <a:spcPts val="0"/>
              </a:spcBef>
              <a:spcAft>
                <a:spcPts val="0"/>
              </a:spcAft>
              <a:buSzPts val="1400"/>
              <a:buChar char="-"/>
            </a:pPr>
            <a:r>
              <a:rPr i="1" lang="en"/>
              <a:t>Revenue per Discharge:</a:t>
            </a:r>
            <a:r>
              <a:rPr lang="en"/>
              <a:t> most influential positive variable → more patient revenue = more profit</a:t>
            </a:r>
            <a:endParaRPr/>
          </a:p>
          <a:p>
            <a:pPr indent="-317500" lvl="0" marL="457200" rtl="0" algn="l">
              <a:spcBef>
                <a:spcPts val="0"/>
              </a:spcBef>
              <a:spcAft>
                <a:spcPts val="0"/>
              </a:spcAft>
              <a:buSzPts val="1400"/>
              <a:buChar char="-"/>
            </a:pPr>
            <a:r>
              <a:rPr i="1" lang="en"/>
              <a:t>Gross Revenue:</a:t>
            </a:r>
            <a:r>
              <a:rPr lang="en"/>
              <a:t> positively associated with profitability</a:t>
            </a:r>
            <a:endParaRPr/>
          </a:p>
          <a:p>
            <a:pPr indent="-317500" lvl="0" marL="457200" rtl="0" algn="l">
              <a:spcBef>
                <a:spcPts val="0"/>
              </a:spcBef>
              <a:spcAft>
                <a:spcPts val="0"/>
              </a:spcAft>
              <a:buSzPts val="1400"/>
              <a:buChar char="-"/>
            </a:pPr>
            <a:r>
              <a:rPr i="1" lang="en"/>
              <a:t>Discharge Volume:</a:t>
            </a:r>
            <a:r>
              <a:rPr lang="en"/>
              <a:t> higher throughput correlates with better financial performance</a:t>
            </a:r>
            <a:endParaRPr/>
          </a:p>
          <a:p>
            <a:pPr indent="0" lvl="0" marL="457200" rtl="0" algn="l">
              <a:spcBef>
                <a:spcPts val="0"/>
              </a:spcBef>
              <a:spcAft>
                <a:spcPts val="0"/>
              </a:spcAft>
              <a:buNone/>
            </a:pPr>
            <a:r>
              <a:t/>
            </a:r>
            <a:endParaRPr/>
          </a:p>
          <a:p>
            <a:pPr indent="0" lvl="0" marL="0" rtl="0" algn="l">
              <a:spcBef>
                <a:spcPts val="0"/>
              </a:spcBef>
              <a:spcAft>
                <a:spcPts val="0"/>
              </a:spcAft>
              <a:buNone/>
            </a:pPr>
            <a:r>
              <a:rPr b="1" lang="en"/>
              <a:t>Negative Impact Factors</a:t>
            </a:r>
            <a:endParaRPr b="1"/>
          </a:p>
          <a:p>
            <a:pPr indent="-317500" lvl="0" marL="457200" rtl="0" algn="l">
              <a:spcBef>
                <a:spcPts val="0"/>
              </a:spcBef>
              <a:spcAft>
                <a:spcPts val="0"/>
              </a:spcAft>
              <a:buSzPts val="1400"/>
              <a:buChar char="-"/>
            </a:pPr>
            <a:r>
              <a:rPr i="1" lang="en"/>
              <a:t>Operating Expense per Discharge:</a:t>
            </a:r>
            <a:r>
              <a:rPr lang="en"/>
              <a:t> strongest negative predictor</a:t>
            </a:r>
            <a:endParaRPr/>
          </a:p>
          <a:p>
            <a:pPr indent="-317500" lvl="0" marL="457200" rtl="0" algn="l">
              <a:spcBef>
                <a:spcPts val="0"/>
              </a:spcBef>
              <a:spcAft>
                <a:spcPts val="0"/>
              </a:spcAft>
              <a:buSzPts val="1400"/>
              <a:buChar char="-"/>
            </a:pPr>
            <a:r>
              <a:rPr i="1" lang="en"/>
              <a:t>Total Costs and Staff Wages:</a:t>
            </a:r>
            <a:r>
              <a:rPr lang="en"/>
              <a:t> also negatively impact net income</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pic>
        <p:nvPicPr>
          <p:cNvPr id="366" name="Google Shape;366;p46"/>
          <p:cNvPicPr preferRelativeResize="0"/>
          <p:nvPr>
            <p:ph idx="2" type="pic"/>
          </p:nvPr>
        </p:nvPicPr>
        <p:blipFill rotWithShape="1">
          <a:blip r:embed="rId4">
            <a:alphaModFix/>
          </a:blip>
          <a:srcRect b="0" l="21438" r="36657" t="0"/>
          <a:stretch/>
        </p:blipFill>
        <p:spPr>
          <a:xfrm>
            <a:off x="6310524" y="966857"/>
            <a:ext cx="1873500" cy="2982000"/>
          </a:xfrm>
          <a:prstGeom prst="roundRect">
            <a:avLst>
              <a:gd fmla="val 16667" name="adj"/>
            </a:avLst>
          </a:prstGeom>
          <a:ln cap="flat" cmpd="sng" w="9525">
            <a:solidFill>
              <a:schemeClr val="dk1"/>
            </a:solidFill>
            <a:prstDash val="solid"/>
            <a:round/>
            <a:headEnd len="sm" w="sm" type="none"/>
            <a:tailEnd len="sm" w="sm" type="none"/>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0" name="Shape 370"/>
        <p:cNvGrpSpPr/>
        <p:nvPr/>
      </p:nvGrpSpPr>
      <p:grpSpPr>
        <a:xfrm>
          <a:off x="0" y="0"/>
          <a:ext cx="0" cy="0"/>
          <a:chOff x="0" y="0"/>
          <a:chExt cx="0" cy="0"/>
        </a:xfrm>
      </p:grpSpPr>
      <p:sp>
        <p:nvSpPr>
          <p:cNvPr id="371" name="Google Shape;371;p47"/>
          <p:cNvSpPr txBox="1"/>
          <p:nvPr>
            <p:ph idx="4294967295" type="subTitle"/>
          </p:nvPr>
        </p:nvSpPr>
        <p:spPr>
          <a:xfrm rot="-520">
            <a:off x="530700" y="1034813"/>
            <a:ext cx="3965100" cy="3348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b="1" lang="en"/>
              <a:t>Categorical</a:t>
            </a:r>
            <a:r>
              <a:rPr b="1" lang="en"/>
              <a:t> Analysis</a:t>
            </a:r>
            <a:r>
              <a:rPr lang="en"/>
              <a:t>:</a:t>
            </a:r>
            <a:endParaRPr/>
          </a:p>
          <a:p>
            <a:pPr indent="-304800" lvl="0" marL="457200" rtl="0" algn="l">
              <a:lnSpc>
                <a:spcPct val="115000"/>
              </a:lnSpc>
              <a:spcBef>
                <a:spcPts val="0"/>
              </a:spcBef>
              <a:spcAft>
                <a:spcPts val="0"/>
              </a:spcAft>
              <a:buSzPts val="1200"/>
              <a:buChar char="●"/>
            </a:pPr>
            <a:r>
              <a:rPr b="1" lang="en" sz="1200"/>
              <a:t>Categorization Model Target Variable: </a:t>
            </a:r>
            <a:r>
              <a:rPr lang="en" sz="1200"/>
              <a:t>Score_High to determine which variables will help predict a high overall rating for the provider</a:t>
            </a:r>
            <a:endParaRPr/>
          </a:p>
          <a:p>
            <a:pPr indent="0" lvl="0" marL="0" rtl="0" algn="l">
              <a:spcBef>
                <a:spcPts val="0"/>
              </a:spcBef>
              <a:spcAft>
                <a:spcPts val="0"/>
              </a:spcAft>
              <a:buClr>
                <a:schemeClr val="dk1"/>
              </a:buClr>
              <a:buSzPts val="1100"/>
              <a:buFont typeface="Arial"/>
              <a:buNone/>
            </a:pPr>
            <a:r>
              <a:rPr b="1" lang="en"/>
              <a:t>Manual Selection Method: </a:t>
            </a:r>
            <a:endParaRPr b="1"/>
          </a:p>
          <a:p>
            <a:pPr indent="-304800" lvl="0" marL="457200" rtl="0" algn="l">
              <a:spcBef>
                <a:spcPts val="0"/>
              </a:spcBef>
              <a:spcAft>
                <a:spcPts val="0"/>
              </a:spcAft>
              <a:buSzPts val="1200"/>
              <a:buChar char="●"/>
            </a:pPr>
            <a:r>
              <a:rPr lang="en" sz="1200"/>
              <a:t>Opting to use data definitions, industry knowledge, and correlation coefficients to select the variables</a:t>
            </a:r>
            <a:endParaRPr sz="1200"/>
          </a:p>
          <a:p>
            <a:pPr indent="-304800" lvl="0" marL="457200" rtl="0" algn="l">
              <a:spcBef>
                <a:spcPts val="0"/>
              </a:spcBef>
              <a:spcAft>
                <a:spcPts val="0"/>
              </a:spcAft>
              <a:buSzPts val="1200"/>
              <a:buChar char="●"/>
            </a:pPr>
            <a:r>
              <a:rPr lang="en" sz="1200"/>
              <a:t>The important variables selected for PreCOVID:</a:t>
            </a:r>
            <a:endParaRPr sz="1200"/>
          </a:p>
          <a:p>
            <a:pPr indent="-304800" lvl="1" marL="914400" rtl="0" algn="l">
              <a:spcBef>
                <a:spcPts val="0"/>
              </a:spcBef>
              <a:spcAft>
                <a:spcPts val="0"/>
              </a:spcAft>
              <a:buSzPts val="1200"/>
              <a:buChar char="○"/>
            </a:pPr>
            <a:r>
              <a:rPr lang="en" sz="1200"/>
              <a:t>Deficiency Count</a:t>
            </a:r>
            <a:endParaRPr sz="1200"/>
          </a:p>
          <a:p>
            <a:pPr indent="-304800" lvl="1" marL="914400" rtl="0" algn="l">
              <a:spcBef>
                <a:spcPts val="0"/>
              </a:spcBef>
              <a:spcAft>
                <a:spcPts val="0"/>
              </a:spcAft>
              <a:buSzPts val="1200"/>
              <a:buChar char="○"/>
            </a:pPr>
            <a:r>
              <a:rPr lang="en" sz="1200"/>
              <a:t>Staffing Rating</a:t>
            </a:r>
            <a:endParaRPr sz="1200"/>
          </a:p>
          <a:p>
            <a:pPr indent="-304800" lvl="1" marL="914400" rtl="0" algn="l">
              <a:spcBef>
                <a:spcPts val="0"/>
              </a:spcBef>
              <a:spcAft>
                <a:spcPts val="0"/>
              </a:spcAft>
              <a:buSzPts val="1200"/>
              <a:buChar char="○"/>
            </a:pPr>
            <a:r>
              <a:rPr lang="en" sz="1200"/>
              <a:t>Quality Rating</a:t>
            </a:r>
            <a:endParaRPr sz="1200"/>
          </a:p>
          <a:p>
            <a:pPr indent="-304800" lvl="1" marL="914400" rtl="0" algn="l">
              <a:spcBef>
                <a:spcPts val="0"/>
              </a:spcBef>
              <a:spcAft>
                <a:spcPts val="0"/>
              </a:spcAft>
              <a:buSzPts val="1200"/>
              <a:buChar char="○"/>
            </a:pPr>
            <a:r>
              <a:rPr lang="en" sz="1200"/>
              <a:t>Adj_total</a:t>
            </a:r>
            <a:endParaRPr sz="1200"/>
          </a:p>
          <a:p>
            <a:pPr indent="0" lvl="0" marL="0" rtl="0" algn="l">
              <a:spcBef>
                <a:spcPts val="0"/>
              </a:spcBef>
              <a:spcAft>
                <a:spcPts val="0"/>
              </a:spcAft>
              <a:buNone/>
            </a:pPr>
            <a:r>
              <a:rPr b="1" lang="en" sz="1200"/>
              <a:t>COVID-19 Variables:</a:t>
            </a:r>
            <a:endParaRPr b="1" sz="1200"/>
          </a:p>
          <a:p>
            <a:pPr indent="-304800" lvl="0" marL="457200" rtl="0" algn="l">
              <a:spcBef>
                <a:spcPts val="0"/>
              </a:spcBef>
              <a:spcAft>
                <a:spcPts val="0"/>
              </a:spcAft>
              <a:buSzPts val="1200"/>
              <a:buChar char="●"/>
            </a:pPr>
            <a:r>
              <a:rPr lang="en" sz="1200"/>
              <a:t>The most correlated variables are the ZIPREGIONs</a:t>
            </a:r>
            <a:endParaRPr sz="1200"/>
          </a:p>
          <a:p>
            <a:pPr indent="-304800" lvl="0" marL="457200" rtl="0" algn="l">
              <a:spcBef>
                <a:spcPts val="0"/>
              </a:spcBef>
              <a:spcAft>
                <a:spcPts val="0"/>
              </a:spcAft>
              <a:buSzPts val="1200"/>
              <a:buChar char="●"/>
            </a:pPr>
            <a:r>
              <a:rPr lang="en" sz="1200"/>
              <a:t>Prefer to use PreCOVID variables</a:t>
            </a:r>
            <a:endParaRPr sz="1200"/>
          </a:p>
          <a:p>
            <a:pPr indent="-304800" lvl="1" marL="914400" rtl="0" algn="l">
              <a:spcBef>
                <a:spcPts val="0"/>
              </a:spcBef>
              <a:spcAft>
                <a:spcPts val="0"/>
              </a:spcAft>
              <a:buSzPts val="1200"/>
              <a:buChar char="○"/>
            </a:pPr>
            <a:r>
              <a:rPr lang="en" sz="1200"/>
              <a:t>Running the model w/regions as independents produces an inaccurate model (accuracy scores = 1.00)</a:t>
            </a:r>
            <a:endParaRPr sz="1200"/>
          </a:p>
        </p:txBody>
      </p:sp>
      <p:sp>
        <p:nvSpPr>
          <p:cNvPr id="372" name="Google Shape;372;p47"/>
          <p:cNvSpPr txBox="1"/>
          <p:nvPr>
            <p:ph type="title"/>
          </p:nvPr>
        </p:nvSpPr>
        <p:spPr>
          <a:xfrm>
            <a:off x="2017200" y="243700"/>
            <a:ext cx="5109600" cy="7659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Categorization Models</a:t>
            </a:r>
            <a:endParaRPr/>
          </a:p>
        </p:txBody>
      </p:sp>
      <p:pic>
        <p:nvPicPr>
          <p:cNvPr id="373" name="Google Shape;373;p47"/>
          <p:cNvPicPr preferRelativeResize="0"/>
          <p:nvPr/>
        </p:nvPicPr>
        <p:blipFill>
          <a:blip r:embed="rId4">
            <a:alphaModFix/>
          </a:blip>
          <a:stretch>
            <a:fillRect/>
          </a:stretch>
        </p:blipFill>
        <p:spPr>
          <a:xfrm>
            <a:off x="4377050" y="1381251"/>
            <a:ext cx="2328175" cy="2655124"/>
          </a:xfrm>
          <a:prstGeom prst="rect">
            <a:avLst/>
          </a:prstGeom>
          <a:noFill/>
          <a:ln>
            <a:noFill/>
          </a:ln>
        </p:spPr>
      </p:pic>
      <p:pic>
        <p:nvPicPr>
          <p:cNvPr id="374" name="Google Shape;374;p47"/>
          <p:cNvPicPr preferRelativeResize="0"/>
          <p:nvPr/>
        </p:nvPicPr>
        <p:blipFill>
          <a:blip r:embed="rId5">
            <a:alphaModFix/>
          </a:blip>
          <a:stretch>
            <a:fillRect/>
          </a:stretch>
        </p:blipFill>
        <p:spPr>
          <a:xfrm>
            <a:off x="6761925" y="1381250"/>
            <a:ext cx="2328175" cy="265512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78" name="Shape 378"/>
        <p:cNvGrpSpPr/>
        <p:nvPr/>
      </p:nvGrpSpPr>
      <p:grpSpPr>
        <a:xfrm>
          <a:off x="0" y="0"/>
          <a:ext cx="0" cy="0"/>
          <a:chOff x="0" y="0"/>
          <a:chExt cx="0" cy="0"/>
        </a:xfrm>
      </p:grpSpPr>
      <p:sp>
        <p:nvSpPr>
          <p:cNvPr id="379" name="Google Shape;379;p48"/>
          <p:cNvSpPr/>
          <p:nvPr/>
        </p:nvSpPr>
        <p:spPr>
          <a:xfrm>
            <a:off x="663900" y="3047125"/>
            <a:ext cx="7816200" cy="16224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Didact Gothic"/>
              <a:ea typeface="Didact Gothic"/>
              <a:cs typeface="Didact Gothic"/>
              <a:sym typeface="Didact Gothic"/>
            </a:endParaRPr>
          </a:p>
        </p:txBody>
      </p:sp>
      <p:sp>
        <p:nvSpPr>
          <p:cNvPr id="380" name="Google Shape;380;p48"/>
          <p:cNvSpPr txBox="1"/>
          <p:nvPr>
            <p:ph idx="4294967295" type="subTitle"/>
          </p:nvPr>
        </p:nvSpPr>
        <p:spPr>
          <a:xfrm rot="-656">
            <a:off x="1300150" y="1073917"/>
            <a:ext cx="3145500" cy="184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u="sng"/>
              <a:t>PreCOVID-19 Results</a:t>
            </a:r>
            <a:endParaRPr b="1" u="sng"/>
          </a:p>
          <a:p>
            <a:pPr indent="-317500" lvl="0" marL="457200" rtl="0" algn="l">
              <a:spcBef>
                <a:spcPts val="0"/>
              </a:spcBef>
              <a:spcAft>
                <a:spcPts val="0"/>
              </a:spcAft>
              <a:buSzPts val="1400"/>
              <a:buChar char="●"/>
            </a:pPr>
            <a:r>
              <a:rPr lang="en"/>
              <a:t>Accuracy: </a:t>
            </a:r>
            <a:endParaRPr/>
          </a:p>
          <a:p>
            <a:pPr indent="-317500" lvl="1" marL="914400" rtl="0" algn="l">
              <a:spcBef>
                <a:spcPts val="0"/>
              </a:spcBef>
              <a:spcAft>
                <a:spcPts val="0"/>
              </a:spcAft>
              <a:buSzPts val="1400"/>
              <a:buChar char="○"/>
            </a:pPr>
            <a:r>
              <a:rPr lang="en"/>
              <a:t>Logistic Regression </a:t>
            </a:r>
            <a:r>
              <a:rPr lang="en"/>
              <a:t>= .80</a:t>
            </a:r>
            <a:endParaRPr/>
          </a:p>
          <a:p>
            <a:pPr indent="-317500" lvl="1" marL="914400" rtl="0" algn="l">
              <a:spcBef>
                <a:spcPts val="0"/>
              </a:spcBef>
              <a:spcAft>
                <a:spcPts val="0"/>
              </a:spcAft>
              <a:buSzPts val="1400"/>
              <a:buChar char="○"/>
            </a:pPr>
            <a:r>
              <a:rPr lang="en"/>
              <a:t>Decision Tree </a:t>
            </a:r>
            <a:r>
              <a:rPr lang="en"/>
              <a:t>= .84</a:t>
            </a:r>
            <a:endParaRPr/>
          </a:p>
          <a:p>
            <a:pPr indent="-317500" lvl="1" marL="914400" rtl="0" algn="l">
              <a:spcBef>
                <a:spcPts val="0"/>
              </a:spcBef>
              <a:spcAft>
                <a:spcPts val="0"/>
              </a:spcAft>
              <a:buSzPts val="1400"/>
              <a:buChar char="○"/>
            </a:pPr>
            <a:r>
              <a:rPr lang="en"/>
              <a:t>Random Forest </a:t>
            </a:r>
            <a:r>
              <a:rPr lang="en"/>
              <a:t>= .88</a:t>
            </a:r>
            <a:endParaRPr/>
          </a:p>
          <a:p>
            <a:pPr indent="-317500" lvl="0" marL="457200" rtl="0" algn="l">
              <a:spcBef>
                <a:spcPts val="0"/>
              </a:spcBef>
              <a:spcAft>
                <a:spcPts val="0"/>
              </a:spcAft>
              <a:buSzPts val="1400"/>
              <a:buChar char="●"/>
            </a:pPr>
            <a:r>
              <a:rPr lang="en"/>
              <a:t>Precision: .80-.89</a:t>
            </a:r>
            <a:endParaRPr/>
          </a:p>
          <a:p>
            <a:pPr indent="-317500" lvl="0" marL="457200" rtl="0" algn="l">
              <a:spcBef>
                <a:spcPts val="0"/>
              </a:spcBef>
              <a:spcAft>
                <a:spcPts val="0"/>
              </a:spcAft>
              <a:buSzPts val="1400"/>
              <a:buChar char="●"/>
            </a:pPr>
            <a:r>
              <a:rPr lang="en"/>
              <a:t>Recall: .84-.91</a:t>
            </a:r>
            <a:endParaRPr/>
          </a:p>
          <a:p>
            <a:pPr indent="-317500" lvl="0" marL="457200" rtl="0" algn="l">
              <a:spcBef>
                <a:spcPts val="0"/>
              </a:spcBef>
              <a:spcAft>
                <a:spcPts val="0"/>
              </a:spcAft>
              <a:buSzPts val="1400"/>
              <a:buChar char="●"/>
            </a:pPr>
            <a:r>
              <a:rPr lang="en"/>
              <a:t>F-score: .82-.90</a:t>
            </a:r>
            <a:endParaRPr/>
          </a:p>
        </p:txBody>
      </p:sp>
      <p:sp>
        <p:nvSpPr>
          <p:cNvPr id="381" name="Google Shape;381;p48"/>
          <p:cNvSpPr txBox="1"/>
          <p:nvPr>
            <p:ph type="title"/>
          </p:nvPr>
        </p:nvSpPr>
        <p:spPr>
          <a:xfrm>
            <a:off x="2017200" y="388425"/>
            <a:ext cx="5109600" cy="6852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Categorization Models</a:t>
            </a:r>
            <a:endParaRPr/>
          </a:p>
        </p:txBody>
      </p:sp>
      <p:sp>
        <p:nvSpPr>
          <p:cNvPr id="382" name="Google Shape;382;p48"/>
          <p:cNvSpPr txBox="1"/>
          <p:nvPr>
            <p:ph idx="4294967295" type="subTitle"/>
          </p:nvPr>
        </p:nvSpPr>
        <p:spPr>
          <a:xfrm rot="-663">
            <a:off x="4733450" y="1073936"/>
            <a:ext cx="3110400" cy="1841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u="sng"/>
              <a:t>COVID-19 Results</a:t>
            </a:r>
            <a:endParaRPr b="1" u="sng"/>
          </a:p>
          <a:p>
            <a:pPr indent="-317500" lvl="0" marL="457200" rtl="0" algn="l">
              <a:spcBef>
                <a:spcPts val="0"/>
              </a:spcBef>
              <a:spcAft>
                <a:spcPts val="0"/>
              </a:spcAft>
              <a:buSzPts val="1400"/>
              <a:buChar char="●"/>
            </a:pPr>
            <a:r>
              <a:rPr lang="en"/>
              <a:t>Accuracy: </a:t>
            </a:r>
            <a:endParaRPr/>
          </a:p>
          <a:p>
            <a:pPr indent="-317500" lvl="1" marL="914400" rtl="0" algn="l">
              <a:spcBef>
                <a:spcPts val="0"/>
              </a:spcBef>
              <a:spcAft>
                <a:spcPts val="0"/>
              </a:spcAft>
              <a:buSzPts val="1400"/>
              <a:buChar char="○"/>
            </a:pPr>
            <a:r>
              <a:rPr lang="en"/>
              <a:t>Logistic</a:t>
            </a:r>
            <a:r>
              <a:rPr lang="en"/>
              <a:t> Regression = </a:t>
            </a:r>
            <a:r>
              <a:rPr lang="en"/>
              <a:t>.71</a:t>
            </a:r>
            <a:endParaRPr/>
          </a:p>
          <a:p>
            <a:pPr indent="-317500" lvl="1" marL="914400" rtl="0" algn="l">
              <a:spcBef>
                <a:spcPts val="0"/>
              </a:spcBef>
              <a:spcAft>
                <a:spcPts val="0"/>
              </a:spcAft>
              <a:buSzPts val="1400"/>
              <a:buChar char="○"/>
            </a:pPr>
            <a:r>
              <a:rPr lang="en"/>
              <a:t>Decision Tree = </a:t>
            </a:r>
            <a:r>
              <a:rPr lang="en"/>
              <a:t>.79</a:t>
            </a:r>
            <a:endParaRPr/>
          </a:p>
          <a:p>
            <a:pPr indent="-317500" lvl="1" marL="914400" rtl="0" algn="l">
              <a:spcBef>
                <a:spcPts val="0"/>
              </a:spcBef>
              <a:spcAft>
                <a:spcPts val="0"/>
              </a:spcAft>
              <a:buSzPts val="1400"/>
              <a:buChar char="○"/>
            </a:pPr>
            <a:r>
              <a:rPr lang="en"/>
              <a:t>Random Forest = </a:t>
            </a:r>
            <a:r>
              <a:rPr lang="en"/>
              <a:t>.85</a:t>
            </a:r>
            <a:endParaRPr/>
          </a:p>
          <a:p>
            <a:pPr indent="-317500" lvl="0" marL="457200" rtl="0" algn="l">
              <a:spcBef>
                <a:spcPts val="0"/>
              </a:spcBef>
              <a:spcAft>
                <a:spcPts val="0"/>
              </a:spcAft>
              <a:buSzPts val="1400"/>
              <a:buChar char="●"/>
            </a:pPr>
            <a:r>
              <a:rPr lang="en"/>
              <a:t>Precision: </a:t>
            </a:r>
            <a:r>
              <a:rPr lang="en"/>
              <a:t>.74-.88</a:t>
            </a:r>
            <a:endParaRPr/>
          </a:p>
          <a:p>
            <a:pPr indent="-317500" lvl="0" marL="457200" rtl="0" algn="l">
              <a:spcBef>
                <a:spcPts val="0"/>
              </a:spcBef>
              <a:spcAft>
                <a:spcPts val="0"/>
              </a:spcAft>
              <a:buSzPts val="1400"/>
              <a:buChar char="●"/>
            </a:pPr>
            <a:r>
              <a:rPr lang="en"/>
              <a:t>Recall: .</a:t>
            </a:r>
            <a:r>
              <a:rPr lang="en"/>
              <a:t>79-.87</a:t>
            </a:r>
            <a:endParaRPr/>
          </a:p>
          <a:p>
            <a:pPr indent="-317500" lvl="0" marL="457200" rtl="0" algn="l">
              <a:spcBef>
                <a:spcPts val="0"/>
              </a:spcBef>
              <a:spcAft>
                <a:spcPts val="0"/>
              </a:spcAft>
              <a:buSzPts val="1400"/>
              <a:buChar char="●"/>
            </a:pPr>
            <a:r>
              <a:rPr lang="en"/>
              <a:t>F-score: </a:t>
            </a:r>
            <a:r>
              <a:rPr lang="en"/>
              <a:t>.76-.87</a:t>
            </a:r>
            <a:endParaRPr/>
          </a:p>
        </p:txBody>
      </p:sp>
      <p:sp>
        <p:nvSpPr>
          <p:cNvPr id="383" name="Google Shape;383;p48"/>
          <p:cNvSpPr txBox="1"/>
          <p:nvPr/>
        </p:nvSpPr>
        <p:spPr>
          <a:xfrm>
            <a:off x="867775" y="3127825"/>
            <a:ext cx="7495800" cy="13398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b="1" lang="en" u="sng">
                <a:solidFill>
                  <a:schemeClr val="lt1"/>
                </a:solidFill>
                <a:latin typeface="Didact Gothic"/>
                <a:ea typeface="Didact Gothic"/>
                <a:cs typeface="Didact Gothic"/>
                <a:sym typeface="Didact Gothic"/>
              </a:rPr>
              <a:t>INSIGHTS</a:t>
            </a:r>
            <a:endParaRPr b="1" u="sng">
              <a:solidFill>
                <a:schemeClr val="lt1"/>
              </a:solidFill>
              <a:latin typeface="Didact Gothic"/>
              <a:ea typeface="Didact Gothic"/>
              <a:cs typeface="Didact Gothic"/>
              <a:sym typeface="Didact Gothic"/>
            </a:endParaRPr>
          </a:p>
          <a:p>
            <a:pPr indent="-317500" lvl="0" marL="457200" rtl="0" algn="l">
              <a:lnSpc>
                <a:spcPct val="115000"/>
              </a:lnSpc>
              <a:spcBef>
                <a:spcPts val="0"/>
              </a:spcBef>
              <a:spcAft>
                <a:spcPts val="0"/>
              </a:spcAft>
              <a:buClr>
                <a:schemeClr val="lt1"/>
              </a:buClr>
              <a:buSzPts val="1400"/>
              <a:buFont typeface="Didact Gothic"/>
              <a:buAutoNum type="arabicPeriod"/>
            </a:pPr>
            <a:r>
              <a:rPr lang="en">
                <a:solidFill>
                  <a:schemeClr val="lt1"/>
                </a:solidFill>
                <a:latin typeface="Didact Gothic"/>
                <a:ea typeface="Didact Gothic"/>
                <a:cs typeface="Didact Gothic"/>
                <a:sym typeface="Didact Gothic"/>
              </a:rPr>
              <a:t>Both the PreCOVID-19 and COVID-19 results suggests that the four variables (+ additional variables) meaningfully predict a provider receiving a high score.</a:t>
            </a:r>
            <a:endParaRPr>
              <a:solidFill>
                <a:schemeClr val="lt1"/>
              </a:solidFill>
              <a:latin typeface="Didact Gothic"/>
              <a:ea typeface="Didact Gothic"/>
              <a:cs typeface="Didact Gothic"/>
              <a:sym typeface="Didact Gothic"/>
            </a:endParaRPr>
          </a:p>
          <a:p>
            <a:pPr indent="-317500" lvl="0" marL="457200" rtl="0" algn="l">
              <a:spcBef>
                <a:spcPts val="0"/>
              </a:spcBef>
              <a:spcAft>
                <a:spcPts val="0"/>
              </a:spcAft>
              <a:buClr>
                <a:schemeClr val="lt1"/>
              </a:buClr>
              <a:buSzPts val="1400"/>
              <a:buFont typeface="Didact Gothic"/>
              <a:buAutoNum type="arabicPeriod"/>
            </a:pPr>
            <a:r>
              <a:rPr lang="en">
                <a:solidFill>
                  <a:schemeClr val="lt1"/>
                </a:solidFill>
                <a:latin typeface="Didact Gothic"/>
                <a:ea typeface="Didact Gothic"/>
                <a:cs typeface="Didact Gothic"/>
                <a:sym typeface="Didact Gothic"/>
              </a:rPr>
              <a:t>COVID-19 did not change the general importance of the prior measures dictating an overall rating (meaning data is operating as expected and can be used for further analysis) .</a:t>
            </a:r>
            <a:endParaRPr>
              <a:solidFill>
                <a:schemeClr val="lt1"/>
              </a:solidFill>
              <a:latin typeface="Didact Gothic"/>
              <a:ea typeface="Didact Gothic"/>
              <a:cs typeface="Didact Gothic"/>
              <a:sym typeface="Didact Gothic"/>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87" name="Shape 387"/>
        <p:cNvGrpSpPr/>
        <p:nvPr/>
      </p:nvGrpSpPr>
      <p:grpSpPr>
        <a:xfrm>
          <a:off x="0" y="0"/>
          <a:ext cx="0" cy="0"/>
          <a:chOff x="0" y="0"/>
          <a:chExt cx="0" cy="0"/>
        </a:xfrm>
      </p:grpSpPr>
      <p:sp>
        <p:nvSpPr>
          <p:cNvPr id="388" name="Google Shape;388;p49"/>
          <p:cNvSpPr/>
          <p:nvPr/>
        </p:nvSpPr>
        <p:spPr>
          <a:xfrm>
            <a:off x="720000" y="1630150"/>
            <a:ext cx="5226300" cy="2533200"/>
          </a:xfrm>
          <a:prstGeom prst="roundRect">
            <a:avLst>
              <a:gd fmla="val 18273"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49"/>
          <p:cNvSpPr txBox="1"/>
          <p:nvPr>
            <p:ph type="title"/>
          </p:nvPr>
        </p:nvSpPr>
        <p:spPr>
          <a:xfrm>
            <a:off x="720000" y="540000"/>
            <a:ext cx="7704000" cy="56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Random Forest Analysis</a:t>
            </a:r>
            <a:endParaRPr/>
          </a:p>
        </p:txBody>
      </p:sp>
      <p:sp>
        <p:nvSpPr>
          <p:cNvPr id="390" name="Google Shape;390;p49"/>
          <p:cNvSpPr txBox="1"/>
          <p:nvPr>
            <p:ph idx="1" type="subTitle"/>
          </p:nvPr>
        </p:nvSpPr>
        <p:spPr>
          <a:xfrm>
            <a:off x="878700" y="1715675"/>
            <a:ext cx="5226300" cy="21981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a:t>An alternative to</a:t>
            </a:r>
            <a:r>
              <a:rPr lang="en"/>
              <a:t> the OLS regression to explore complex, nonlinear relationships</a:t>
            </a:r>
            <a:endParaRPr/>
          </a:p>
          <a:p>
            <a:pPr indent="-317500" lvl="0" marL="457200" rtl="0" algn="l">
              <a:lnSpc>
                <a:spcPct val="115000"/>
              </a:lnSpc>
              <a:spcBef>
                <a:spcPts val="0"/>
              </a:spcBef>
              <a:spcAft>
                <a:spcPts val="0"/>
              </a:spcAft>
              <a:buSzPts val="1400"/>
              <a:buChar char="●"/>
            </a:pPr>
            <a:r>
              <a:rPr lang="en"/>
              <a:t>Builds multiple decision trees on random subsets of data</a:t>
            </a:r>
            <a:endParaRPr/>
          </a:p>
          <a:p>
            <a:pPr indent="-317500" lvl="0" marL="457200" rtl="0" algn="l">
              <a:lnSpc>
                <a:spcPct val="115000"/>
              </a:lnSpc>
              <a:spcBef>
                <a:spcPts val="0"/>
              </a:spcBef>
              <a:spcAft>
                <a:spcPts val="0"/>
              </a:spcAft>
              <a:buSzPts val="1400"/>
              <a:buChar char="●"/>
            </a:pPr>
            <a:r>
              <a:rPr lang="en"/>
              <a:t>Averages outputs to improve prediction accuracy and prevent overfitting</a:t>
            </a:r>
            <a:endParaRPr/>
          </a:p>
          <a:p>
            <a:pPr indent="-317500" lvl="0" marL="457200" rtl="0" algn="l">
              <a:lnSpc>
                <a:spcPct val="115000"/>
              </a:lnSpc>
              <a:spcBef>
                <a:spcPts val="0"/>
              </a:spcBef>
              <a:spcAft>
                <a:spcPts val="0"/>
              </a:spcAft>
              <a:buSzPts val="1400"/>
              <a:buChar char="●"/>
            </a:pPr>
            <a:r>
              <a:rPr lang="en"/>
              <a:t>Captures nonlinear patterns between costs, discharges, staffing, and net income</a:t>
            </a:r>
            <a:endParaRPr/>
          </a:p>
          <a:p>
            <a:pPr indent="-317500" lvl="0" marL="457200" rtl="0" algn="l">
              <a:lnSpc>
                <a:spcPct val="115000"/>
              </a:lnSpc>
              <a:spcBef>
                <a:spcPts val="0"/>
              </a:spcBef>
              <a:spcAft>
                <a:spcPts val="0"/>
              </a:spcAft>
              <a:buSzPts val="1400"/>
              <a:buChar char="●"/>
            </a:pPr>
            <a:r>
              <a:rPr lang="en"/>
              <a:t>Handles high-dimensional financial data better than linear methods</a:t>
            </a:r>
            <a:endParaRPr/>
          </a:p>
          <a:p>
            <a:pPr indent="0" lvl="0" marL="457200" rtl="0" algn="l">
              <a:spcBef>
                <a:spcPts val="0"/>
              </a:spcBef>
              <a:spcAft>
                <a:spcPts val="0"/>
              </a:spcAft>
              <a:buNone/>
            </a:pPr>
            <a:r>
              <a:t/>
            </a:r>
            <a:endParaRPr/>
          </a:p>
          <a:p>
            <a:pPr indent="0" lvl="0" marL="457200" rtl="0" algn="l">
              <a:spcBef>
                <a:spcPts val="0"/>
              </a:spcBef>
              <a:spcAft>
                <a:spcPts val="0"/>
              </a:spcAft>
              <a:buNone/>
            </a:pPr>
            <a:r>
              <a:t/>
            </a:r>
            <a:endParaRPr/>
          </a:p>
        </p:txBody>
      </p:sp>
      <p:sp>
        <p:nvSpPr>
          <p:cNvPr id="391" name="Google Shape;391;p49"/>
          <p:cNvSpPr txBox="1"/>
          <p:nvPr>
            <p:ph idx="1" type="subTitle"/>
          </p:nvPr>
        </p:nvSpPr>
        <p:spPr>
          <a:xfrm>
            <a:off x="2972700" y="1038950"/>
            <a:ext cx="3198600" cy="402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i="1" lang="en"/>
              <a:t>What it does and why it is useful</a:t>
            </a:r>
            <a:endParaRPr b="1" i="1"/>
          </a:p>
        </p:txBody>
      </p:sp>
      <p:pic>
        <p:nvPicPr>
          <p:cNvPr id="392" name="Google Shape;392;p49"/>
          <p:cNvPicPr preferRelativeResize="0"/>
          <p:nvPr>
            <p:ph idx="2" type="pic"/>
          </p:nvPr>
        </p:nvPicPr>
        <p:blipFill rotWithShape="1">
          <a:blip r:embed="rId4">
            <a:alphaModFix/>
          </a:blip>
          <a:srcRect b="12633" l="17030" r="17036" t="0"/>
          <a:stretch/>
        </p:blipFill>
        <p:spPr>
          <a:xfrm>
            <a:off x="6789781" y="1630149"/>
            <a:ext cx="1541400" cy="2703900"/>
          </a:xfrm>
          <a:prstGeom prst="roundRect">
            <a:avLst>
              <a:gd fmla="val 16667" name="adj"/>
            </a:avLst>
          </a:prstGeom>
          <a:noFill/>
          <a:ln cap="flat" cmpd="sng" w="9525">
            <a:solidFill>
              <a:schemeClr val="dk1"/>
            </a:solidFill>
            <a:prstDash val="solid"/>
            <a:round/>
            <a:headEnd len="sm" w="sm" type="none"/>
            <a:tailEnd len="sm" w="sm" type="none"/>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396" name="Shape 396"/>
        <p:cNvGrpSpPr/>
        <p:nvPr/>
      </p:nvGrpSpPr>
      <p:grpSpPr>
        <a:xfrm>
          <a:off x="0" y="0"/>
          <a:ext cx="0" cy="0"/>
          <a:chOff x="0" y="0"/>
          <a:chExt cx="0" cy="0"/>
        </a:xfrm>
      </p:grpSpPr>
      <p:sp>
        <p:nvSpPr>
          <p:cNvPr id="397" name="Google Shape;397;p50"/>
          <p:cNvSpPr/>
          <p:nvPr/>
        </p:nvSpPr>
        <p:spPr>
          <a:xfrm>
            <a:off x="720000" y="1495450"/>
            <a:ext cx="5226300" cy="2973300"/>
          </a:xfrm>
          <a:prstGeom prst="roundRect">
            <a:avLst>
              <a:gd fmla="val 18273"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50"/>
          <p:cNvSpPr txBox="1"/>
          <p:nvPr>
            <p:ph type="title"/>
          </p:nvPr>
        </p:nvSpPr>
        <p:spPr>
          <a:xfrm>
            <a:off x="673325" y="540000"/>
            <a:ext cx="4506900" cy="56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Random Forest Analysis</a:t>
            </a:r>
            <a:endParaRPr/>
          </a:p>
        </p:txBody>
      </p:sp>
      <p:sp>
        <p:nvSpPr>
          <p:cNvPr id="399" name="Google Shape;399;p50"/>
          <p:cNvSpPr txBox="1"/>
          <p:nvPr>
            <p:ph idx="1" type="subTitle"/>
          </p:nvPr>
        </p:nvSpPr>
        <p:spPr>
          <a:xfrm>
            <a:off x="673325" y="1590250"/>
            <a:ext cx="5226300" cy="28785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b="1" lang="en"/>
              <a:t>R-squared:</a:t>
            </a:r>
            <a:r>
              <a:rPr lang="en"/>
              <a:t> 0.9508 =&gt; the model accounted for nearly 95% of the variation in net income per discharge</a:t>
            </a:r>
            <a:endParaRPr/>
          </a:p>
          <a:p>
            <a:pPr indent="-317500" lvl="0" marL="457200" rtl="0" algn="l">
              <a:lnSpc>
                <a:spcPct val="115000"/>
              </a:lnSpc>
              <a:spcBef>
                <a:spcPts val="0"/>
              </a:spcBef>
              <a:spcAft>
                <a:spcPts val="0"/>
              </a:spcAft>
              <a:buSzPts val="1400"/>
              <a:buChar char="●"/>
            </a:pPr>
            <a:r>
              <a:rPr b="1" lang="en"/>
              <a:t>Scatter Plot:</a:t>
            </a:r>
            <a:endParaRPr b="1"/>
          </a:p>
          <a:p>
            <a:pPr indent="-317500" lvl="1" marL="914400" rtl="0" algn="l">
              <a:lnSpc>
                <a:spcPct val="115000"/>
              </a:lnSpc>
              <a:spcBef>
                <a:spcPts val="0"/>
              </a:spcBef>
              <a:spcAft>
                <a:spcPts val="0"/>
              </a:spcAft>
              <a:buSzPts val="1400"/>
              <a:buChar char="○"/>
            </a:pPr>
            <a:r>
              <a:rPr lang="en"/>
              <a:t>Some extreme outliers, possibly tied to unmeasured factors (e.g., management quality) -&gt; masked</a:t>
            </a:r>
            <a:endParaRPr/>
          </a:p>
          <a:p>
            <a:pPr indent="-317500" lvl="1" marL="914400" rtl="0" algn="l">
              <a:lnSpc>
                <a:spcPct val="115000"/>
              </a:lnSpc>
              <a:spcBef>
                <a:spcPts val="0"/>
              </a:spcBef>
              <a:spcAft>
                <a:spcPts val="0"/>
              </a:spcAft>
              <a:buSzPts val="1400"/>
              <a:buChar char="○"/>
            </a:pPr>
            <a:r>
              <a:rPr lang="en"/>
              <a:t>Displayed a strong diagonal pattern between actual and predicted values</a:t>
            </a:r>
            <a:endParaRPr/>
          </a:p>
          <a:p>
            <a:pPr indent="-317500" lvl="0" marL="457200" rtl="0" algn="l">
              <a:lnSpc>
                <a:spcPct val="115000"/>
              </a:lnSpc>
              <a:spcBef>
                <a:spcPts val="0"/>
              </a:spcBef>
              <a:spcAft>
                <a:spcPts val="0"/>
              </a:spcAft>
              <a:buSzPts val="1400"/>
              <a:buChar char="●"/>
            </a:pPr>
            <a:r>
              <a:rPr b="1" lang="en"/>
              <a:t>Mean Squared Error (MSE):</a:t>
            </a:r>
            <a:r>
              <a:rPr lang="en"/>
              <a:t> ~2.07 million, average of squared differences between predictions and actuals</a:t>
            </a:r>
            <a:endParaRPr/>
          </a:p>
          <a:p>
            <a:pPr indent="-317500" lvl="0" marL="457200" rtl="0" algn="l">
              <a:lnSpc>
                <a:spcPct val="115000"/>
              </a:lnSpc>
              <a:spcBef>
                <a:spcPts val="0"/>
              </a:spcBef>
              <a:spcAft>
                <a:spcPts val="0"/>
              </a:spcAft>
              <a:buSzPts val="1400"/>
              <a:buChar char="●"/>
            </a:pPr>
            <a:r>
              <a:rPr b="1" lang="en"/>
              <a:t>Root Mean Squared Error (RMSE):</a:t>
            </a:r>
            <a:r>
              <a:rPr lang="en"/>
              <a:t> ~$1,439, predictions are, on average, off by $1,439 per discharge</a:t>
            </a:r>
            <a:endParaRPr/>
          </a:p>
          <a:p>
            <a:pPr indent="0" lvl="0" marL="457200" rtl="0" algn="l">
              <a:spcBef>
                <a:spcPts val="0"/>
              </a:spcBef>
              <a:spcAft>
                <a:spcPts val="0"/>
              </a:spcAft>
              <a:buNone/>
            </a:pPr>
            <a:r>
              <a:t/>
            </a:r>
            <a:endParaRPr/>
          </a:p>
        </p:txBody>
      </p:sp>
      <p:sp>
        <p:nvSpPr>
          <p:cNvPr id="400" name="Google Shape;400;p50"/>
          <p:cNvSpPr txBox="1"/>
          <p:nvPr>
            <p:ph idx="1" type="subTitle"/>
          </p:nvPr>
        </p:nvSpPr>
        <p:spPr>
          <a:xfrm>
            <a:off x="720000" y="1049375"/>
            <a:ext cx="3198600" cy="40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Results: Version 1</a:t>
            </a:r>
            <a:endParaRPr b="1" i="1"/>
          </a:p>
          <a:p>
            <a:pPr indent="0" lvl="0" marL="0" rtl="0" algn="l">
              <a:spcBef>
                <a:spcPts val="0"/>
              </a:spcBef>
              <a:spcAft>
                <a:spcPts val="0"/>
              </a:spcAft>
              <a:buNone/>
            </a:pPr>
            <a:r>
              <a:t/>
            </a:r>
            <a:endParaRPr b="1" i="1"/>
          </a:p>
        </p:txBody>
      </p:sp>
      <p:pic>
        <p:nvPicPr>
          <p:cNvPr id="401" name="Google Shape;401;p50" title="Screenshot 2025-05-03 at 12.26.58.png"/>
          <p:cNvPicPr preferRelativeResize="0"/>
          <p:nvPr/>
        </p:nvPicPr>
        <p:blipFill rotWithShape="1">
          <a:blip r:embed="rId4">
            <a:alphaModFix/>
          </a:blip>
          <a:srcRect b="0" l="1379" r="17021" t="2874"/>
          <a:stretch/>
        </p:blipFill>
        <p:spPr>
          <a:xfrm>
            <a:off x="6021625" y="628700"/>
            <a:ext cx="3042575" cy="2008175"/>
          </a:xfrm>
          <a:prstGeom prst="rect">
            <a:avLst/>
          </a:prstGeom>
          <a:noFill/>
          <a:ln>
            <a:noFill/>
          </a:ln>
        </p:spPr>
      </p:pic>
      <p:pic>
        <p:nvPicPr>
          <p:cNvPr id="402" name="Google Shape;402;p50" title="FINALLLL RANDOM FOREST.png"/>
          <p:cNvPicPr preferRelativeResize="0"/>
          <p:nvPr/>
        </p:nvPicPr>
        <p:blipFill>
          <a:blip r:embed="rId5">
            <a:alphaModFix/>
          </a:blip>
          <a:stretch>
            <a:fillRect/>
          </a:stretch>
        </p:blipFill>
        <p:spPr>
          <a:xfrm>
            <a:off x="6021625" y="2789275"/>
            <a:ext cx="3042576" cy="216967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06" name="Shape 406"/>
        <p:cNvGrpSpPr/>
        <p:nvPr/>
      </p:nvGrpSpPr>
      <p:grpSpPr>
        <a:xfrm>
          <a:off x="0" y="0"/>
          <a:ext cx="0" cy="0"/>
          <a:chOff x="0" y="0"/>
          <a:chExt cx="0" cy="0"/>
        </a:xfrm>
      </p:grpSpPr>
      <p:sp>
        <p:nvSpPr>
          <p:cNvPr id="407" name="Google Shape;407;p51"/>
          <p:cNvSpPr/>
          <p:nvPr/>
        </p:nvSpPr>
        <p:spPr>
          <a:xfrm>
            <a:off x="720000" y="1495450"/>
            <a:ext cx="5226300" cy="2973300"/>
          </a:xfrm>
          <a:prstGeom prst="roundRect">
            <a:avLst>
              <a:gd fmla="val 18273"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51"/>
          <p:cNvSpPr txBox="1"/>
          <p:nvPr>
            <p:ph type="title"/>
          </p:nvPr>
        </p:nvSpPr>
        <p:spPr>
          <a:xfrm>
            <a:off x="673325" y="540000"/>
            <a:ext cx="4506900" cy="56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Random Forest Analysis</a:t>
            </a:r>
            <a:endParaRPr/>
          </a:p>
        </p:txBody>
      </p:sp>
      <p:sp>
        <p:nvSpPr>
          <p:cNvPr id="409" name="Google Shape;409;p51"/>
          <p:cNvSpPr txBox="1"/>
          <p:nvPr>
            <p:ph idx="1" type="subTitle"/>
          </p:nvPr>
        </p:nvSpPr>
        <p:spPr>
          <a:xfrm>
            <a:off x="673325" y="1590250"/>
            <a:ext cx="5226300" cy="2878500"/>
          </a:xfrm>
          <a:prstGeom prst="rect">
            <a:avLst/>
          </a:prstGeom>
        </p:spPr>
        <p:txBody>
          <a:bodyPr anchorCtr="0" anchor="t" bIns="91425" lIns="91425" spcFirstLastPara="1" rIns="91425" wrap="square" tIns="91425">
            <a:noAutofit/>
          </a:bodyPr>
          <a:lstStyle/>
          <a:p>
            <a:pPr indent="-317500" lvl="0" marL="457200" rtl="0" algn="l">
              <a:lnSpc>
                <a:spcPct val="115000"/>
              </a:lnSpc>
              <a:spcBef>
                <a:spcPts val="0"/>
              </a:spcBef>
              <a:spcAft>
                <a:spcPts val="0"/>
              </a:spcAft>
              <a:buSzPts val="1400"/>
              <a:buChar char="●"/>
            </a:pPr>
            <a:r>
              <a:rPr lang="en"/>
              <a:t>Removed variables that directly define the target (TI, TD)</a:t>
            </a:r>
            <a:endParaRPr/>
          </a:p>
          <a:p>
            <a:pPr indent="-317500" lvl="0" marL="457200" rtl="0" algn="l">
              <a:lnSpc>
                <a:spcPct val="115000"/>
              </a:lnSpc>
              <a:spcBef>
                <a:spcPts val="0"/>
              </a:spcBef>
              <a:spcAft>
                <a:spcPts val="0"/>
              </a:spcAft>
              <a:buSzPts val="1400"/>
              <a:buChar char="●"/>
            </a:pPr>
            <a:r>
              <a:rPr b="1" lang="en"/>
              <a:t>R-squared:</a:t>
            </a:r>
            <a:r>
              <a:rPr lang="en"/>
              <a:t> </a:t>
            </a:r>
            <a:r>
              <a:rPr lang="en"/>
              <a:t>0.5299</a:t>
            </a:r>
            <a:r>
              <a:rPr lang="en"/>
              <a:t> =&gt; the model accounted for nearly 53% of the variation in net income per discharge</a:t>
            </a:r>
            <a:endParaRPr/>
          </a:p>
          <a:p>
            <a:pPr indent="-317500" lvl="1" marL="914400" rtl="0" algn="l">
              <a:lnSpc>
                <a:spcPct val="115000"/>
              </a:lnSpc>
              <a:spcBef>
                <a:spcPts val="0"/>
              </a:spcBef>
              <a:spcAft>
                <a:spcPts val="0"/>
              </a:spcAft>
              <a:buSzPts val="1400"/>
              <a:buChar char="○"/>
            </a:pPr>
            <a:r>
              <a:rPr lang="en"/>
              <a:t>Forecasting power decreased, but feature importance became more balanced</a:t>
            </a:r>
            <a:endParaRPr/>
          </a:p>
          <a:p>
            <a:pPr indent="-317500" lvl="0" marL="457200" rtl="0" algn="l">
              <a:lnSpc>
                <a:spcPct val="115000"/>
              </a:lnSpc>
              <a:spcBef>
                <a:spcPts val="0"/>
              </a:spcBef>
              <a:spcAft>
                <a:spcPts val="0"/>
              </a:spcAft>
              <a:buSzPts val="1400"/>
              <a:buChar char="●"/>
            </a:pPr>
            <a:r>
              <a:rPr b="1" lang="en"/>
              <a:t>Scatter Plot:</a:t>
            </a:r>
            <a:endParaRPr b="1"/>
          </a:p>
          <a:p>
            <a:pPr indent="-317500" lvl="1" marL="914400" rtl="0" algn="l">
              <a:lnSpc>
                <a:spcPct val="115000"/>
              </a:lnSpc>
              <a:spcBef>
                <a:spcPts val="0"/>
              </a:spcBef>
              <a:spcAft>
                <a:spcPts val="0"/>
              </a:spcAft>
              <a:buSzPts val="1400"/>
              <a:buChar char="○"/>
            </a:pPr>
            <a:r>
              <a:rPr lang="en"/>
              <a:t>Showed a more natural spread, but still maintained a positive correlation between actual and predicted values</a:t>
            </a:r>
            <a:endParaRPr/>
          </a:p>
          <a:p>
            <a:pPr indent="-317500" lvl="1" marL="914400" rtl="0" algn="l">
              <a:lnSpc>
                <a:spcPct val="115000"/>
              </a:lnSpc>
              <a:spcBef>
                <a:spcPts val="0"/>
              </a:spcBef>
              <a:spcAft>
                <a:spcPts val="0"/>
              </a:spcAft>
              <a:buSzPts val="1400"/>
              <a:buChar char="○"/>
            </a:pPr>
            <a:r>
              <a:rPr lang="en"/>
              <a:t>Offers more reliable insights by avoiding artificial inflation of performance</a:t>
            </a:r>
            <a:endParaRPr/>
          </a:p>
        </p:txBody>
      </p:sp>
      <p:sp>
        <p:nvSpPr>
          <p:cNvPr id="410" name="Google Shape;410;p51"/>
          <p:cNvSpPr txBox="1"/>
          <p:nvPr>
            <p:ph idx="1" type="subTitle"/>
          </p:nvPr>
        </p:nvSpPr>
        <p:spPr>
          <a:xfrm>
            <a:off x="720000" y="1049375"/>
            <a:ext cx="3198600" cy="402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i="1" lang="en"/>
              <a:t>Results: Version 2</a:t>
            </a:r>
            <a:endParaRPr b="1" i="1"/>
          </a:p>
          <a:p>
            <a:pPr indent="0" lvl="0" marL="0" rtl="0" algn="l">
              <a:spcBef>
                <a:spcPts val="0"/>
              </a:spcBef>
              <a:spcAft>
                <a:spcPts val="0"/>
              </a:spcAft>
              <a:buNone/>
            </a:pPr>
            <a:r>
              <a:t/>
            </a:r>
            <a:endParaRPr b="1" i="1"/>
          </a:p>
        </p:txBody>
      </p:sp>
      <p:pic>
        <p:nvPicPr>
          <p:cNvPr id="411" name="Google Shape;411;p51" title="Screenshot 2025-05-03 at 22.43.42.png"/>
          <p:cNvPicPr preferRelativeResize="0"/>
          <p:nvPr/>
        </p:nvPicPr>
        <p:blipFill rotWithShape="1">
          <a:blip r:embed="rId4">
            <a:alphaModFix/>
          </a:blip>
          <a:srcRect b="0" l="0" r="9901" t="0"/>
          <a:stretch/>
        </p:blipFill>
        <p:spPr>
          <a:xfrm>
            <a:off x="6021625" y="609209"/>
            <a:ext cx="3042576" cy="2053967"/>
          </a:xfrm>
          <a:prstGeom prst="rect">
            <a:avLst/>
          </a:prstGeom>
          <a:noFill/>
          <a:ln>
            <a:noFill/>
          </a:ln>
        </p:spPr>
      </p:pic>
      <p:pic>
        <p:nvPicPr>
          <p:cNvPr id="412" name="Google Shape;412;p51" title="Final Rsnd forest 2.png"/>
          <p:cNvPicPr preferRelativeResize="0"/>
          <p:nvPr/>
        </p:nvPicPr>
        <p:blipFill>
          <a:blip r:embed="rId5">
            <a:alphaModFix/>
          </a:blip>
          <a:stretch>
            <a:fillRect/>
          </a:stretch>
        </p:blipFill>
        <p:spPr>
          <a:xfrm>
            <a:off x="6021625" y="2752975"/>
            <a:ext cx="3042576" cy="228193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2"/>
          <p:cNvSpPr txBox="1"/>
          <p:nvPr>
            <p:ph type="title"/>
          </p:nvPr>
        </p:nvSpPr>
        <p:spPr>
          <a:xfrm>
            <a:off x="720000" y="435450"/>
            <a:ext cx="7704000" cy="56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Lasso/Ridge/Elastic Regression</a:t>
            </a:r>
            <a:endParaRPr/>
          </a:p>
        </p:txBody>
      </p:sp>
      <p:sp>
        <p:nvSpPr>
          <p:cNvPr id="418" name="Google Shape;418;p52"/>
          <p:cNvSpPr txBox="1"/>
          <p:nvPr/>
        </p:nvSpPr>
        <p:spPr>
          <a:xfrm>
            <a:off x="774150" y="1104300"/>
            <a:ext cx="7595700" cy="3343800"/>
          </a:xfrm>
          <a:prstGeom prst="rect">
            <a:avLst/>
          </a:prstGeom>
          <a:noFill/>
          <a:ln>
            <a:noFill/>
          </a:ln>
        </p:spPr>
        <p:txBody>
          <a:bodyPr anchorCtr="0" anchor="t" bIns="91425" lIns="91425" spcFirstLastPara="1" rIns="91425" wrap="square" tIns="91425">
            <a:noAutofit/>
          </a:bodyPr>
          <a:lstStyle/>
          <a:p>
            <a:pPr indent="-317500" lvl="0" marL="457200" rtl="0" algn="l">
              <a:spcBef>
                <a:spcPts val="0"/>
              </a:spcBef>
              <a:spcAft>
                <a:spcPts val="0"/>
              </a:spcAft>
              <a:buClr>
                <a:schemeClr val="lt1"/>
              </a:buClr>
              <a:buSzPts val="1400"/>
              <a:buFont typeface="Didact Gothic"/>
              <a:buChar char="●"/>
            </a:pPr>
            <a:r>
              <a:rPr lang="en">
                <a:solidFill>
                  <a:schemeClr val="lt1"/>
                </a:solidFill>
                <a:latin typeface="Didact Gothic"/>
                <a:ea typeface="Didact Gothic"/>
                <a:cs typeface="Didact Gothic"/>
                <a:sym typeface="Didact Gothic"/>
              </a:rPr>
              <a:t>Key drivers of higher income per discharge include Medicare certification, high staffing and facility ratings, and good quality short-term care.</a:t>
            </a:r>
            <a:br>
              <a:rPr lang="en">
                <a:solidFill>
                  <a:schemeClr val="lt1"/>
                </a:solidFill>
                <a:latin typeface="Didact Gothic"/>
                <a:ea typeface="Didact Gothic"/>
                <a:cs typeface="Didact Gothic"/>
                <a:sym typeface="Didact Gothic"/>
              </a:rPr>
            </a:br>
            <a:endParaRPr>
              <a:solidFill>
                <a:schemeClr val="lt1"/>
              </a:solidFill>
              <a:latin typeface="Didact Gothic"/>
              <a:ea typeface="Didact Gothic"/>
              <a:cs typeface="Didact Gothic"/>
              <a:sym typeface="Didact Gothic"/>
            </a:endParaRPr>
          </a:p>
          <a:p>
            <a:pPr indent="-317500" lvl="0" marL="457200" rtl="0" algn="l">
              <a:spcBef>
                <a:spcPts val="0"/>
              </a:spcBef>
              <a:spcAft>
                <a:spcPts val="0"/>
              </a:spcAft>
              <a:buClr>
                <a:schemeClr val="lt1"/>
              </a:buClr>
              <a:buSzPts val="1400"/>
              <a:buFont typeface="Didact Gothic"/>
              <a:buChar char="●"/>
            </a:pPr>
            <a:r>
              <a:rPr lang="en">
                <a:solidFill>
                  <a:schemeClr val="lt1"/>
                </a:solidFill>
                <a:latin typeface="Didact Gothic"/>
                <a:ea typeface="Didact Gothic"/>
                <a:cs typeface="Didact Gothic"/>
                <a:sym typeface="Didact Gothic"/>
              </a:rPr>
              <a:t>Regions 2 and 9 outperformed others, likely due to stronger local economies which could mean the facilities have more funding.</a:t>
            </a:r>
            <a:br>
              <a:rPr lang="en">
                <a:solidFill>
                  <a:schemeClr val="lt1"/>
                </a:solidFill>
                <a:latin typeface="Didact Gothic"/>
                <a:ea typeface="Didact Gothic"/>
                <a:cs typeface="Didact Gothic"/>
                <a:sym typeface="Didact Gothic"/>
              </a:rPr>
            </a:br>
            <a:endParaRPr>
              <a:solidFill>
                <a:schemeClr val="lt1"/>
              </a:solidFill>
              <a:latin typeface="Didact Gothic"/>
              <a:ea typeface="Didact Gothic"/>
              <a:cs typeface="Didact Gothic"/>
              <a:sym typeface="Didact Gothic"/>
            </a:endParaRPr>
          </a:p>
          <a:p>
            <a:pPr indent="-317500" lvl="0" marL="457200" rtl="0" algn="l">
              <a:spcBef>
                <a:spcPts val="0"/>
              </a:spcBef>
              <a:spcAft>
                <a:spcPts val="0"/>
              </a:spcAft>
              <a:buClr>
                <a:schemeClr val="lt1"/>
              </a:buClr>
              <a:buSzPts val="1400"/>
              <a:buFont typeface="Didact Gothic"/>
              <a:buChar char="●"/>
            </a:pPr>
            <a:r>
              <a:rPr lang="en">
                <a:solidFill>
                  <a:schemeClr val="lt1"/>
                </a:solidFill>
                <a:latin typeface="Didact Gothic"/>
                <a:ea typeface="Didact Gothic"/>
                <a:cs typeface="Didact Gothic"/>
                <a:sym typeface="Didact Gothic"/>
              </a:rPr>
              <a:t>Negative financial impacts were linked to high bed counts, excess staffing hours, and poor performance indicators (deficiencies, complaints, low scores). This could mean that these locations receive fewer subsidies in addition to the effects of bad word of mouth. </a:t>
            </a:r>
            <a:br>
              <a:rPr lang="en">
                <a:solidFill>
                  <a:schemeClr val="lt1"/>
                </a:solidFill>
                <a:latin typeface="Didact Gothic"/>
                <a:ea typeface="Didact Gothic"/>
                <a:cs typeface="Didact Gothic"/>
                <a:sym typeface="Didact Gothic"/>
              </a:rPr>
            </a:br>
            <a:endParaRPr>
              <a:solidFill>
                <a:schemeClr val="lt1"/>
              </a:solidFill>
              <a:latin typeface="Didact Gothic"/>
              <a:ea typeface="Didact Gothic"/>
              <a:cs typeface="Didact Gothic"/>
              <a:sym typeface="Didact Gothic"/>
            </a:endParaRPr>
          </a:p>
          <a:p>
            <a:pPr indent="-317500" lvl="0" marL="457200" rtl="0" algn="l">
              <a:spcBef>
                <a:spcPts val="0"/>
              </a:spcBef>
              <a:spcAft>
                <a:spcPts val="0"/>
              </a:spcAft>
              <a:buClr>
                <a:schemeClr val="lt1"/>
              </a:buClr>
              <a:buSzPts val="1400"/>
              <a:buFont typeface="Didact Gothic"/>
              <a:buChar char="●"/>
            </a:pPr>
            <a:r>
              <a:rPr lang="en">
                <a:solidFill>
                  <a:schemeClr val="lt1"/>
                </a:solidFill>
                <a:latin typeface="Didact Gothic"/>
                <a:ea typeface="Didact Gothic"/>
                <a:cs typeface="Didact Gothic"/>
                <a:sym typeface="Didact Gothic"/>
              </a:rPr>
              <a:t>Government run facilities earned less per discharge compared to private ones. Not directly related to subsidies. </a:t>
            </a:r>
            <a:br>
              <a:rPr lang="en">
                <a:solidFill>
                  <a:schemeClr val="lt1"/>
                </a:solidFill>
                <a:latin typeface="Didact Gothic"/>
                <a:ea typeface="Didact Gothic"/>
                <a:cs typeface="Didact Gothic"/>
                <a:sym typeface="Didact Gothic"/>
              </a:rPr>
            </a:br>
            <a:endParaRPr>
              <a:solidFill>
                <a:schemeClr val="lt1"/>
              </a:solidFill>
              <a:latin typeface="Didact Gothic"/>
              <a:ea typeface="Didact Gothic"/>
              <a:cs typeface="Didact Gothic"/>
              <a:sym typeface="Didact Gothic"/>
            </a:endParaRPr>
          </a:p>
          <a:p>
            <a:pPr indent="-317500" lvl="0" marL="457200" rtl="0" algn="l">
              <a:spcBef>
                <a:spcPts val="0"/>
              </a:spcBef>
              <a:spcAft>
                <a:spcPts val="0"/>
              </a:spcAft>
              <a:buClr>
                <a:schemeClr val="lt1"/>
              </a:buClr>
              <a:buSzPts val="1400"/>
              <a:buFont typeface="Didact Gothic"/>
              <a:buChar char="●"/>
            </a:pPr>
            <a:r>
              <a:rPr lang="en">
                <a:solidFill>
                  <a:schemeClr val="lt1"/>
                </a:solidFill>
                <a:latin typeface="Didact Gothic"/>
                <a:ea typeface="Didact Gothic"/>
                <a:cs typeface="Didact Gothic"/>
                <a:sym typeface="Didact Gothic"/>
              </a:rPr>
              <a:t>Overall profitability declined over time, with COVID-19 likely contributing to losses in the last two measured years. </a:t>
            </a:r>
            <a:endParaRPr>
              <a:solidFill>
                <a:schemeClr val="lt1"/>
              </a:solidFill>
              <a:latin typeface="Didact Gothic"/>
              <a:ea typeface="Didact Gothic"/>
              <a:cs typeface="Didact Gothic"/>
              <a:sym typeface="Didact Gothic"/>
            </a:endParaRPr>
          </a:p>
          <a:p>
            <a:pPr indent="0" lvl="0" marL="0" rtl="0" algn="l">
              <a:spcBef>
                <a:spcPts val="0"/>
              </a:spcBef>
              <a:spcAft>
                <a:spcPts val="0"/>
              </a:spcAft>
              <a:buNone/>
            </a:pPr>
            <a:r>
              <a:t/>
            </a:r>
            <a:endParaRPr sz="1300">
              <a:solidFill>
                <a:schemeClr val="lt1"/>
              </a:solidFill>
              <a:latin typeface="Didact Gothic"/>
              <a:ea typeface="Didact Gothic"/>
              <a:cs typeface="Didact Gothic"/>
              <a:sym typeface="Didact Gothic"/>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2" name="Shape 422"/>
        <p:cNvGrpSpPr/>
        <p:nvPr/>
      </p:nvGrpSpPr>
      <p:grpSpPr>
        <a:xfrm>
          <a:off x="0" y="0"/>
          <a:ext cx="0" cy="0"/>
          <a:chOff x="0" y="0"/>
          <a:chExt cx="0" cy="0"/>
        </a:xfrm>
      </p:grpSpPr>
      <p:sp>
        <p:nvSpPr>
          <p:cNvPr id="423" name="Google Shape;423;p53"/>
          <p:cNvSpPr/>
          <p:nvPr/>
        </p:nvSpPr>
        <p:spPr>
          <a:xfrm>
            <a:off x="2067075" y="1848850"/>
            <a:ext cx="5010000" cy="1818300"/>
          </a:xfrm>
          <a:prstGeom prst="roundRect">
            <a:avLst>
              <a:gd fmla="val 11368"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53"/>
          <p:cNvSpPr txBox="1"/>
          <p:nvPr>
            <p:ph type="title"/>
          </p:nvPr>
        </p:nvSpPr>
        <p:spPr>
          <a:xfrm>
            <a:off x="2067075" y="1988325"/>
            <a:ext cx="5010000" cy="14280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sz="5000"/>
              <a:t>Recommendations And</a:t>
            </a:r>
            <a:r>
              <a:rPr lang="en" sz="5000"/>
              <a:t> Conclusion</a:t>
            </a:r>
            <a:endParaRPr sz="5000"/>
          </a:p>
        </p:txBody>
      </p:sp>
      <p:sp>
        <p:nvSpPr>
          <p:cNvPr id="425" name="Google Shape;425;p53"/>
          <p:cNvSpPr txBox="1"/>
          <p:nvPr>
            <p:ph idx="2" type="title"/>
          </p:nvPr>
        </p:nvSpPr>
        <p:spPr>
          <a:xfrm>
            <a:off x="3796851" y="940885"/>
            <a:ext cx="1550100" cy="1223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04</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29" name="Shape 429"/>
        <p:cNvGrpSpPr/>
        <p:nvPr/>
      </p:nvGrpSpPr>
      <p:grpSpPr>
        <a:xfrm>
          <a:off x="0" y="0"/>
          <a:ext cx="0" cy="0"/>
          <a:chOff x="0" y="0"/>
          <a:chExt cx="0" cy="0"/>
        </a:xfrm>
      </p:grpSpPr>
      <p:sp>
        <p:nvSpPr>
          <p:cNvPr id="430" name="Google Shape;430;p54"/>
          <p:cNvSpPr txBox="1"/>
          <p:nvPr>
            <p:ph type="title"/>
          </p:nvPr>
        </p:nvSpPr>
        <p:spPr>
          <a:xfrm>
            <a:off x="720000" y="748500"/>
            <a:ext cx="7704000" cy="56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Recommendations</a:t>
            </a:r>
            <a:endParaRPr/>
          </a:p>
        </p:txBody>
      </p:sp>
      <p:sp>
        <p:nvSpPr>
          <p:cNvPr id="431" name="Google Shape;431;p54"/>
          <p:cNvSpPr/>
          <p:nvPr/>
        </p:nvSpPr>
        <p:spPr>
          <a:xfrm>
            <a:off x="1073350" y="1448250"/>
            <a:ext cx="7185600" cy="2733600"/>
          </a:xfrm>
          <a:prstGeom prst="roundRect">
            <a:avLst>
              <a:gd fmla="val 15185" name="adj"/>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54"/>
          <p:cNvSpPr txBox="1"/>
          <p:nvPr>
            <p:ph idx="4294967295" type="subTitle"/>
          </p:nvPr>
        </p:nvSpPr>
        <p:spPr>
          <a:xfrm>
            <a:off x="1073350" y="1448250"/>
            <a:ext cx="7185600" cy="2733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500"/>
              <a:t>We would not suggest our client to</a:t>
            </a:r>
            <a:r>
              <a:rPr b="1" lang="en" sz="1500"/>
              <a:t> invest in the nursing home sector at this time.</a:t>
            </a:r>
            <a:endParaRPr b="1" sz="1500"/>
          </a:p>
          <a:p>
            <a:pPr indent="0" lvl="0" marL="0" rtl="0" algn="ctr">
              <a:spcBef>
                <a:spcPts val="0"/>
              </a:spcBef>
              <a:spcAft>
                <a:spcPts val="0"/>
              </a:spcAft>
              <a:buNone/>
            </a:pPr>
            <a:r>
              <a:t/>
            </a:r>
            <a:endParaRPr b="1" sz="1500"/>
          </a:p>
          <a:p>
            <a:pPr indent="0" lvl="0" marL="0" rtl="0" algn="ctr">
              <a:spcBef>
                <a:spcPts val="0"/>
              </a:spcBef>
              <a:spcAft>
                <a:spcPts val="0"/>
              </a:spcAft>
              <a:buNone/>
            </a:pPr>
            <a:r>
              <a:rPr i="1" lang="en" sz="1500"/>
              <a:t>Because:</a:t>
            </a:r>
            <a:endParaRPr i="1" sz="1500"/>
          </a:p>
          <a:p>
            <a:pPr indent="0" lvl="0" marL="0" rtl="0" algn="ctr">
              <a:spcBef>
                <a:spcPts val="0"/>
              </a:spcBef>
              <a:spcAft>
                <a:spcPts val="0"/>
              </a:spcAft>
              <a:buNone/>
            </a:pPr>
            <a:r>
              <a:t/>
            </a:r>
            <a:endParaRPr/>
          </a:p>
          <a:p>
            <a:pPr indent="-317500" lvl="0" marL="457200" rtl="0" algn="ctr">
              <a:spcBef>
                <a:spcPts val="0"/>
              </a:spcBef>
              <a:spcAft>
                <a:spcPts val="0"/>
              </a:spcAft>
              <a:buSzPts val="1400"/>
              <a:buChar char="-"/>
            </a:pPr>
            <a:r>
              <a:rPr lang="en"/>
              <a:t>Profitability has sharply declined and remains unstable</a:t>
            </a:r>
            <a:endParaRPr/>
          </a:p>
          <a:p>
            <a:pPr indent="0" lvl="0" marL="0" rtl="0" algn="ctr">
              <a:spcBef>
                <a:spcPts val="0"/>
              </a:spcBef>
              <a:spcAft>
                <a:spcPts val="0"/>
              </a:spcAft>
              <a:buNone/>
            </a:pPr>
            <a:r>
              <a:t/>
            </a:r>
            <a:endParaRPr/>
          </a:p>
          <a:p>
            <a:pPr indent="-317500" lvl="0" marL="457200" rtl="0" algn="ctr">
              <a:spcBef>
                <a:spcPts val="0"/>
              </a:spcBef>
              <a:spcAft>
                <a:spcPts val="0"/>
              </a:spcAft>
              <a:buSzPts val="1400"/>
              <a:buChar char="-"/>
            </a:pPr>
            <a:r>
              <a:rPr lang="en"/>
              <a:t>Net income per discharge is insufficient when considering overall patient volume</a:t>
            </a:r>
            <a:endParaRPr/>
          </a:p>
          <a:p>
            <a:pPr indent="0" lvl="0" marL="0" rtl="0" algn="ctr">
              <a:spcBef>
                <a:spcPts val="0"/>
              </a:spcBef>
              <a:spcAft>
                <a:spcPts val="0"/>
              </a:spcAft>
              <a:buNone/>
            </a:pPr>
            <a:r>
              <a:t/>
            </a:r>
            <a:endParaRPr/>
          </a:p>
          <a:p>
            <a:pPr indent="-317500" lvl="0" marL="457200" rtl="0" algn="ctr">
              <a:spcBef>
                <a:spcPts val="0"/>
              </a:spcBef>
              <a:spcAft>
                <a:spcPts val="0"/>
              </a:spcAft>
              <a:buSzPts val="1400"/>
              <a:buChar char="-"/>
            </a:pPr>
            <a:r>
              <a:rPr lang="en"/>
              <a:t>Performance varies by region, with most showing negative trends</a:t>
            </a:r>
            <a:endParaRPr/>
          </a:p>
          <a:p>
            <a:pPr indent="0" lvl="0" marL="0" rtl="0" algn="ctr">
              <a:spcBef>
                <a:spcPts val="0"/>
              </a:spcBef>
              <a:spcAft>
                <a:spcPts val="0"/>
              </a:spcAft>
              <a:buNone/>
            </a:pPr>
            <a:r>
              <a:t/>
            </a:r>
            <a:endParaRPr/>
          </a:p>
          <a:p>
            <a:pPr indent="-317500" lvl="0" marL="457200" rtl="0" algn="ctr">
              <a:spcBef>
                <a:spcPts val="0"/>
              </a:spcBef>
              <a:spcAft>
                <a:spcPts val="0"/>
              </a:spcAft>
              <a:buSzPts val="1400"/>
              <a:buChar char="-"/>
            </a:pPr>
            <a:r>
              <a:rPr lang="en"/>
              <a:t>The industry is too volatile, with margins too small to justify investment risk</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36" name="Shape 436"/>
        <p:cNvGrpSpPr/>
        <p:nvPr/>
      </p:nvGrpSpPr>
      <p:grpSpPr>
        <a:xfrm>
          <a:off x="0" y="0"/>
          <a:ext cx="0" cy="0"/>
          <a:chOff x="0" y="0"/>
          <a:chExt cx="0" cy="0"/>
        </a:xfrm>
      </p:grpSpPr>
      <p:sp>
        <p:nvSpPr>
          <p:cNvPr id="437" name="Google Shape;437;p55"/>
          <p:cNvSpPr txBox="1"/>
          <p:nvPr>
            <p:ph type="title"/>
          </p:nvPr>
        </p:nvSpPr>
        <p:spPr>
          <a:xfrm rot="332">
            <a:off x="5316125" y="332173"/>
            <a:ext cx="3108000" cy="6504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500"/>
              <a:t>Conclusion</a:t>
            </a:r>
            <a:endParaRPr sz="3500"/>
          </a:p>
        </p:txBody>
      </p:sp>
      <p:sp>
        <p:nvSpPr>
          <p:cNvPr id="438" name="Google Shape;438;p55"/>
          <p:cNvSpPr txBox="1"/>
          <p:nvPr>
            <p:ph idx="1" type="subTitle"/>
          </p:nvPr>
        </p:nvSpPr>
        <p:spPr>
          <a:xfrm>
            <a:off x="5548625" y="909525"/>
            <a:ext cx="2643000" cy="3941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The nursing home industry lacks financial stability and sustainable profit margins.</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Business model is heavily burdened by rising expenses per resident.</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Quality of care has declined across regions over time.</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COVID-19 further exposed and intensified systemic weaknesses.</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Overall, the sector presents a high-risk, low-return investment profile.</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442" name="Shape 442"/>
        <p:cNvGrpSpPr/>
        <p:nvPr/>
      </p:nvGrpSpPr>
      <p:grpSpPr>
        <a:xfrm>
          <a:off x="0" y="0"/>
          <a:ext cx="0" cy="0"/>
          <a:chOff x="0" y="0"/>
          <a:chExt cx="0" cy="0"/>
        </a:xfrm>
      </p:grpSpPr>
      <p:cxnSp>
        <p:nvCxnSpPr>
          <p:cNvPr id="443" name="Google Shape;443;p56"/>
          <p:cNvCxnSpPr/>
          <p:nvPr/>
        </p:nvCxnSpPr>
        <p:spPr>
          <a:xfrm>
            <a:off x="3725400" y="540000"/>
            <a:ext cx="4358400" cy="0"/>
          </a:xfrm>
          <a:prstGeom prst="straightConnector1">
            <a:avLst/>
          </a:prstGeom>
          <a:noFill/>
          <a:ln cap="flat" cmpd="sng" w="9525">
            <a:solidFill>
              <a:srgbClr val="364F52"/>
            </a:solidFill>
            <a:prstDash val="solid"/>
            <a:round/>
            <a:headEnd len="med" w="med" type="none"/>
            <a:tailEnd len="med" w="med" type="none"/>
          </a:ln>
        </p:spPr>
      </p:cxnSp>
      <p:sp>
        <p:nvSpPr>
          <p:cNvPr id="444" name="Google Shape;444;p56"/>
          <p:cNvSpPr txBox="1"/>
          <p:nvPr>
            <p:ph type="title"/>
          </p:nvPr>
        </p:nvSpPr>
        <p:spPr>
          <a:xfrm>
            <a:off x="732575" y="2191175"/>
            <a:ext cx="7704000" cy="564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5000"/>
              <a:t>Thanks for your attention!</a:t>
            </a:r>
            <a:endParaRPr sz="5000"/>
          </a:p>
        </p:txBody>
      </p:sp>
    </p:spTree>
  </p:cSld>
  <p:clrMapOvr>
    <a:masterClrMapping/>
  </p:clrMapOvr>
</p:sld>
</file>

<file path=ppt/theme/theme1.xml><?xml version="1.0" encoding="utf-8"?>
<a:theme xmlns:a="http://schemas.openxmlformats.org/drawingml/2006/main" xmlns:r="http://schemas.openxmlformats.org/officeDocument/2006/relationships" name="Elegant Nursing Home Healthcare Center by Slidesgo">
  <a:themeElements>
    <a:clrScheme name="Simple Light">
      <a:dk1>
        <a:srgbClr val="000000"/>
      </a:dk1>
      <a:lt1>
        <a:srgbClr val="FFFFFF"/>
      </a:lt1>
      <a:dk2>
        <a:srgbClr val="364F52"/>
      </a:dk2>
      <a:lt2>
        <a:srgbClr val="364452"/>
      </a:lt2>
      <a:accent1>
        <a:srgbClr val="8EA3A8"/>
      </a:accent1>
      <a:accent2>
        <a:srgbClr val="FFFFFF"/>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